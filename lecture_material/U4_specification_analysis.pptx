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61" d="100"/>
          <a:sy n="161" d="100"/>
        </p:scale>
        <p:origin x="260"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5F2E00-80DF-4FB2-B410-F052562F365B}" type="datetimeFigureOut">
              <a:rPr lang="en-IN" smtClean="0"/>
              <a:t>07-09-2026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00AE2C8-1362-4225-8B92-1C5631BB741A}" type="slidenum">
              <a:rPr lang="en-IN" smtClean="0"/>
              <a:t>‹#›</a:t>
            </a:fld>
            <a:endParaRPr lang="en-IN"/>
          </a:p>
        </p:txBody>
      </p:sp>
    </p:spTree>
    <p:extLst>
      <p:ext uri="{BB962C8B-B14F-4D97-AF65-F5344CB8AC3E}">
        <p14:creationId xmlns:p14="http://schemas.microsoft.com/office/powerpoint/2010/main" val="9133442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deck is a tour, not a deep dive - we covered why verification matters last week. Today is mechanics, applied consistently to one running example: an 8-bit-wide, 8-deep synchronous FIFO. Point at the chevron strip - the same six dots track our position in the top-right corner from slide 3 onward.</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through READ-MAP-LIST-MARK-ASK using the photo as a prop: this is what a marked-up spec physically looks like - highlighter for claims, red pen for questions, flags for sections to revisit. Emphasise that step 5, asking the designer, is the one junior engineers skip and it is the one that prevents wasted verification cycles later.</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our running example for the entire session. Walk the block diagram left to right: five control/data inputs, three status/data outputs. Then walk the slot row: three entries already written (petrol), five free (white), write pointer at slot 3, read pointer at slot 0. Ask: what happens when write pointer reaches slot 7 and wr_en is still 1? That seeds CC-05 later. The spec is incomplete on purpose - it does not say what happens on simultaneous read/write, exploited on slide 6.</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Show the mechanical transformation: prose is compressed into ONE testable statement per requirement. FR-02 (read) is left as a class exercise. A requirement which cannot be phrased as a pass/fail check is not finished yet - it is still prose.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Corner cases are not random extra tests - they are systematically derived from two sources: values at boundaries (full, empty, wrap) and events that collide in the same clock cycle. The Venn diagram makes CC-01 concrete: it lives exactly where wr_en=1 intersects full=1. Ask students which circles would produce CC-02.</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braking-system analogy is the whole slide. The verification plan says WHAT and HOW at a feature level and rarely changes. The test plan is the tactical binder of individual test cases and changes daily as bugs are found. Both are written before a line of testbench code exists.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connects everything: verification-plan features roll up from requirements, and each feature is covered by one or more concrete tests in the test plan. Point at the traceability diagram: FR-03 to F3 to T03 is a directed path; CC-04 to F9 to T09 is a constrained-random path. If a test cannot be traced back to a feature and a requirement, it should not exist.</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a signpost slide - deliberately sparse. Directed and random are the two ways to make stimulus. Random splits again into unconstrained (mostly useless noise) and constrained (random inside rules). The greyed-out unconstrained box and the crossed-out mark make the recommended path visually obvious. The next four slides expand each branch.</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scalability wall: directed testing enumerates cases one at a time. For an 8-byte FIFO payload space of 2^64 sequences, even at one test per nanosecond it takes 585 years. The log-scale chart is itself a teaching point - linear axes cannot show this range meaningfully. This motivates constrained-random on the next slide.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city-driving analogy is the anchor. Constrained-random trades predictability for coverage: you cannot hand-write expected results for stimulus you did not choose, so a scoreboard becomes mandatory - this is the bridge into next week's testbench-architecture session.</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Six dimensions of comparison, tinted petrol for directed and orange for constrained-random. The golden rule is the single takeaway: sequence matters - directed first for confidence, then constrained-random for breadth. Most mature projects run roughly an 80/20 split toward random.</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the class through the constraint class line by line: two rand fields plus a control bit, an activity constraint that forbids doing nothing, and a data constraint that biases the generator toward the boundary byte ranges where bugs cluster. Stress the randomize() return-value check - this is the single most common rookie mistake in constrained-random code.</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exam-answer slide. rand with a uniform distribution can repeat values and skip others - the left number line shows 3 and 7 appearing multiple times while 2, 4 and 6 never appear across 8 draws. randc guarantees a full permutation before any repeat - the right number line shows every value hit exactly once. Use randc only on small fields: IEEE 1800 only mandates support up to 8 bits.</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Close by compressing the whole session into one flow: spec analysis through rand/randc, all applied to the same FIFO. Point at the tutorial box - AI may help you understand a concept but the write-up must be the student's own reasoning. The single call to action: open edaplayground.com and attempt a constrained-random FIFO testbench before next week, even if it does not compile.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48640" y="3822191"/>
            <a:ext cx="1463040" cy="54864"/>
          </a:xfrm>
          <a:prstGeom prst="rect">
            <a:avLst/>
          </a:prstGeom>
          <a:solidFill>
            <a:srgbClr val="00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3950208"/>
            <a:ext cx="11064240" cy="2560320"/>
          </a:xfrm>
          <a:prstGeom prst="rect">
            <a:avLst/>
          </a:prstGeom>
          <a:noFill/>
        </p:spPr>
        <p:txBody>
          <a:bodyPr wrap="square" anchor="t">
            <a:spAutoFit/>
          </a:bodyPr>
          <a:lstStyle/>
          <a:p>
            <a:endParaRPr/>
          </a:p>
          <a:p>
            <a:pPr algn="l">
              <a:spcBef>
                <a:spcPts val="0"/>
              </a:spcBef>
              <a:spcAft>
                <a:spcPts val="600"/>
              </a:spcAft>
            </a:pPr>
            <a:r>
              <a:rPr sz="3600" b="1" i="0">
                <a:solidFill>
                  <a:srgbClr val="009999"/>
                </a:solidFill>
                <a:latin typeface="Arial"/>
              </a:rPr>
              <a:t>From Specification to Stimulus</a:t>
            </a:r>
          </a:p>
          <a:p>
            <a:pPr algn="l">
              <a:spcBef>
                <a:spcPts val="0"/>
              </a:spcBef>
              <a:spcAft>
                <a:spcPts val="1600"/>
              </a:spcAft>
            </a:pPr>
            <a:r>
              <a:rPr sz="1800" b="0" i="0">
                <a:solidFill>
                  <a:srgbClr val="262626"/>
                </a:solidFill>
                <a:latin typeface="Arial"/>
              </a:rPr>
              <a:t>How a verification engineer turns a document into a test</a:t>
            </a:r>
          </a:p>
          <a:p>
            <a:pPr algn="l">
              <a:spcBef>
                <a:spcPts val="0"/>
              </a:spcBef>
              <a:spcAft>
                <a:spcPts val="400"/>
              </a:spcAft>
            </a:pPr>
            <a:r>
              <a:rPr sz="1400" b="0" i="0">
                <a:solidFill>
                  <a:srgbClr val="7F7F7F"/>
                </a:solidFill>
                <a:latin typeface="Arial"/>
              </a:rPr>
              <a:t>Siemens-DTU Verification Training Program  |  Week 5</a:t>
            </a:r>
          </a:p>
          <a:p>
            <a:pPr algn="l">
              <a:spcBef>
                <a:spcPts val="0"/>
              </a:spcBef>
              <a:spcAft>
                <a:spcPts val="400"/>
              </a:spcAft>
            </a:pPr>
            <a:r>
              <a:rPr sz="1400" b="0" i="0">
                <a:solidFill>
                  <a:srgbClr val="7F7F7F"/>
                </a:solidFill>
                <a:latin typeface="Arial"/>
              </a:rPr>
              <a:t>Prajwal Matukumalli - Verification Engineer, Siemens DISW EDA</a:t>
            </a:r>
          </a:p>
          <a:p>
            <a:pPr algn="l">
              <a:spcBef>
                <a:spcPts val="0"/>
              </a:spcBef>
              <a:spcAft>
                <a:spcPts val="0"/>
              </a:spcAft>
            </a:pPr>
            <a:r>
              <a:rPr sz="1200" b="0" i="0">
                <a:solidFill>
                  <a:srgbClr val="7F7F7F"/>
                </a:solidFill>
                <a:latin typeface="Arial"/>
              </a:rPr>
              <a:t>9 September 2026</a:t>
            </a:r>
          </a:p>
        </p:txBody>
      </p:sp>
      <p:sp>
        <p:nvSpPr>
          <p:cNvPr id="5" name="TextBox 4"/>
          <p:cNvSpPr txBox="1"/>
          <p:nvPr/>
        </p:nvSpPr>
        <p:spPr>
          <a:xfrm>
            <a:off x="365760" y="6446520"/>
            <a:ext cx="11521440" cy="292608"/>
          </a:xfrm>
          <a:prstGeom prst="rect">
            <a:avLst/>
          </a:prstGeom>
          <a:noFill/>
        </p:spPr>
        <p:txBody>
          <a:bodyPr wrap="none">
            <a:spAutoFit/>
          </a:bodyPr>
          <a:lstStyle/>
          <a:p>
            <a:r>
              <a:rPr sz="900" dirty="0">
                <a:solidFill>
                  <a:srgbClr val="7F7F7F"/>
                </a:solidFill>
                <a:latin typeface="Arial"/>
              </a:rPr>
              <a:t>Restricted | (c) Siemens 2026 | Prajwal Matukumalli | DISW EDA | 2026-09-09</a:t>
            </a:r>
          </a:p>
        </p:txBody>
      </p:sp>
      <p:pic>
        <p:nvPicPr>
          <p:cNvPr id="1026" name="Picture 2" descr="A Gentle Introduction to Formal Verification - systemverilog.io">
            <a:extLst>
              <a:ext uri="{FF2B5EF4-FFF2-40B4-BE49-F238E27FC236}">
                <a16:creationId xmlns:a16="http://schemas.microsoft.com/office/drawing/2014/main" id="{5DFD7421-2AF5-9A33-D4C7-F6C876C0DB7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626" y="60399"/>
            <a:ext cx="12156374" cy="348834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84048"/>
            <a:ext cx="10607040" cy="685800"/>
          </a:xfrm>
          <a:prstGeom prst="rect">
            <a:avLst/>
          </a:prstGeom>
          <a:noFill/>
        </p:spPr>
        <p:txBody>
          <a:bodyPr wrap="square">
            <a:spAutoFit/>
          </a:bodyPr>
          <a:lstStyle/>
          <a:p>
            <a:r>
              <a:rPr sz="2800" b="1" dirty="0">
                <a:solidFill>
                  <a:srgbClr val="009999"/>
                </a:solidFill>
                <a:latin typeface="Arial"/>
              </a:rPr>
              <a:t>Today: Eight Ideas, One FIFO</a:t>
            </a:r>
          </a:p>
        </p:txBody>
      </p:sp>
      <p:sp>
        <p:nvSpPr>
          <p:cNvPr id="3" name="TextBox 2"/>
          <p:cNvSpPr txBox="1"/>
          <p:nvPr/>
        </p:nvSpPr>
        <p:spPr>
          <a:xfrm>
            <a:off x="365760" y="6446520"/>
            <a:ext cx="11521440" cy="292608"/>
          </a:xfrm>
          <a:prstGeom prst="rect">
            <a:avLst/>
          </a:prstGeom>
          <a:noFill/>
        </p:spPr>
        <p:txBody>
          <a:bodyPr wrap="none">
            <a:spAutoFit/>
          </a:bodyPr>
          <a:lstStyle/>
          <a:p>
            <a:r>
              <a:rPr sz="900">
                <a:solidFill>
                  <a:srgbClr val="7F7F7F"/>
                </a:solidFill>
                <a:latin typeface="Arial"/>
              </a:rPr>
              <a:t>Restricted | (c) Siemens 2026 | Prajwal Matukumalli | DISW EDA | 2026-09-09</a:t>
            </a:r>
          </a:p>
        </p:txBody>
      </p:sp>
      <p:sp>
        <p:nvSpPr>
          <p:cNvPr id="4" name="TextBox 3"/>
          <p:cNvSpPr txBox="1"/>
          <p:nvPr/>
        </p:nvSpPr>
        <p:spPr>
          <a:xfrm>
            <a:off x="457200" y="1417320"/>
            <a:ext cx="2880360" cy="3931920"/>
          </a:xfrm>
          <a:prstGeom prst="rect">
            <a:avLst/>
          </a:prstGeom>
          <a:noFill/>
        </p:spPr>
        <p:txBody>
          <a:bodyPr wrap="square" anchor="t">
            <a:spAutoFit/>
          </a:bodyPr>
          <a:lstStyle/>
          <a:p>
            <a:endParaRPr dirty="0"/>
          </a:p>
          <a:p>
            <a:pPr algn="l">
              <a:spcBef>
                <a:spcPts val="0"/>
              </a:spcBef>
              <a:spcAft>
                <a:spcPts val="2000"/>
              </a:spcAft>
            </a:pPr>
            <a:r>
              <a:rPr sz="1500" b="1" i="0" dirty="0">
                <a:solidFill>
                  <a:srgbClr val="009999"/>
                </a:solidFill>
                <a:latin typeface="Arial"/>
              </a:rPr>
              <a:t>1.  </a:t>
            </a:r>
            <a:r>
              <a:rPr sz="1500" b="0" i="0" dirty="0">
                <a:solidFill>
                  <a:srgbClr val="262626"/>
                </a:solidFill>
                <a:latin typeface="Arial"/>
              </a:rPr>
              <a:t>Specification analysis</a:t>
            </a:r>
          </a:p>
          <a:p>
            <a:pPr algn="l">
              <a:spcBef>
                <a:spcPts val="0"/>
              </a:spcBef>
              <a:spcAft>
                <a:spcPts val="2000"/>
              </a:spcAft>
            </a:pPr>
            <a:r>
              <a:rPr sz="1500" b="1" i="0" dirty="0">
                <a:solidFill>
                  <a:srgbClr val="009999"/>
                </a:solidFill>
                <a:latin typeface="Arial"/>
              </a:rPr>
              <a:t>2.  </a:t>
            </a:r>
            <a:r>
              <a:rPr sz="1500" b="0" i="0" dirty="0">
                <a:solidFill>
                  <a:srgbClr val="262626"/>
                </a:solidFill>
                <a:latin typeface="Arial"/>
              </a:rPr>
              <a:t>Functional requirements vs corner cases</a:t>
            </a:r>
          </a:p>
          <a:p>
            <a:pPr algn="l">
              <a:spcBef>
                <a:spcPts val="0"/>
              </a:spcBef>
              <a:spcAft>
                <a:spcPts val="2000"/>
              </a:spcAft>
            </a:pPr>
            <a:r>
              <a:rPr sz="1500" b="1" i="0" dirty="0">
                <a:solidFill>
                  <a:srgbClr val="009999"/>
                </a:solidFill>
                <a:latin typeface="Arial"/>
              </a:rPr>
              <a:t>3.  </a:t>
            </a:r>
            <a:r>
              <a:rPr sz="1500" b="0" i="0" dirty="0">
                <a:solidFill>
                  <a:srgbClr val="262626"/>
                </a:solidFill>
                <a:latin typeface="Arial"/>
              </a:rPr>
              <a:t>Verification plan and test plan</a:t>
            </a:r>
          </a:p>
          <a:p>
            <a:pPr algn="l">
              <a:spcBef>
                <a:spcPts val="0"/>
              </a:spcBef>
              <a:spcAft>
                <a:spcPts val="2000"/>
              </a:spcAft>
            </a:pPr>
            <a:r>
              <a:rPr sz="1500" b="1" i="0" dirty="0">
                <a:solidFill>
                  <a:srgbClr val="009999"/>
                </a:solidFill>
                <a:latin typeface="Arial"/>
              </a:rPr>
              <a:t>4.  </a:t>
            </a:r>
            <a:r>
              <a:rPr sz="1500" b="0" i="0" dirty="0">
                <a:solidFill>
                  <a:srgbClr val="262626"/>
                </a:solidFill>
                <a:latin typeface="Arial"/>
              </a:rPr>
              <a:t>Types of testing</a:t>
            </a:r>
          </a:p>
        </p:txBody>
      </p:sp>
      <p:sp>
        <p:nvSpPr>
          <p:cNvPr id="5" name="TextBox 4"/>
          <p:cNvSpPr txBox="1"/>
          <p:nvPr/>
        </p:nvSpPr>
        <p:spPr>
          <a:xfrm>
            <a:off x="3520440" y="1417320"/>
            <a:ext cx="2880360" cy="3931920"/>
          </a:xfrm>
          <a:prstGeom prst="rect">
            <a:avLst/>
          </a:prstGeom>
          <a:noFill/>
        </p:spPr>
        <p:txBody>
          <a:bodyPr wrap="square" anchor="t">
            <a:spAutoFit/>
          </a:bodyPr>
          <a:lstStyle/>
          <a:p>
            <a:endParaRPr/>
          </a:p>
          <a:p>
            <a:pPr algn="l">
              <a:spcBef>
                <a:spcPts val="0"/>
              </a:spcBef>
              <a:spcAft>
                <a:spcPts val="2000"/>
              </a:spcAft>
            </a:pPr>
            <a:r>
              <a:rPr sz="1500" b="1" i="0">
                <a:solidFill>
                  <a:srgbClr val="009999"/>
                </a:solidFill>
                <a:latin typeface="Arial"/>
              </a:rPr>
              <a:t>5.  </a:t>
            </a:r>
            <a:r>
              <a:rPr sz="1500" b="0" i="0">
                <a:solidFill>
                  <a:srgbClr val="262626"/>
                </a:solidFill>
                <a:latin typeface="Arial"/>
              </a:rPr>
              <a:t>Directed testing</a:t>
            </a:r>
          </a:p>
          <a:p>
            <a:pPr algn="l">
              <a:spcBef>
                <a:spcPts val="0"/>
              </a:spcBef>
              <a:spcAft>
                <a:spcPts val="2000"/>
              </a:spcAft>
            </a:pPr>
            <a:r>
              <a:rPr sz="1500" b="1" i="0">
                <a:solidFill>
                  <a:srgbClr val="009999"/>
                </a:solidFill>
                <a:latin typeface="Arial"/>
              </a:rPr>
              <a:t>6.  </a:t>
            </a:r>
            <a:r>
              <a:rPr sz="1500" b="0" i="0">
                <a:solidFill>
                  <a:srgbClr val="262626"/>
                </a:solidFill>
                <a:latin typeface="Arial"/>
              </a:rPr>
              <a:t>Constrained-random testing</a:t>
            </a:r>
          </a:p>
          <a:p>
            <a:pPr algn="l">
              <a:spcBef>
                <a:spcPts val="0"/>
              </a:spcBef>
              <a:spcAft>
                <a:spcPts val="2000"/>
              </a:spcAft>
            </a:pPr>
            <a:r>
              <a:rPr sz="1500" b="1" i="0">
                <a:solidFill>
                  <a:srgbClr val="009999"/>
                </a:solidFill>
                <a:latin typeface="Arial"/>
              </a:rPr>
              <a:t>7.  </a:t>
            </a:r>
            <a:r>
              <a:rPr sz="1500" b="0" i="0">
                <a:solidFill>
                  <a:srgbClr val="262626"/>
                </a:solidFill>
                <a:latin typeface="Arial"/>
              </a:rPr>
              <a:t>Stimulus generation</a:t>
            </a:r>
          </a:p>
          <a:p>
            <a:pPr algn="l">
              <a:spcBef>
                <a:spcPts val="0"/>
              </a:spcBef>
              <a:spcAft>
                <a:spcPts val="2000"/>
              </a:spcAft>
            </a:pPr>
            <a:r>
              <a:rPr sz="1500" b="1" i="0">
                <a:solidFill>
                  <a:srgbClr val="009999"/>
                </a:solidFill>
                <a:latin typeface="Arial"/>
              </a:rPr>
              <a:t>8.  </a:t>
            </a:r>
            <a:r>
              <a:rPr sz="1500" b="0" i="0">
                <a:solidFill>
                  <a:srgbClr val="262626"/>
                </a:solidFill>
                <a:latin typeface="Arial"/>
              </a:rPr>
              <a:t>rand and randc</a:t>
            </a:r>
          </a:p>
        </p:txBody>
      </p:sp>
      <p:sp>
        <p:nvSpPr>
          <p:cNvPr id="6" name="TextBox 5"/>
          <p:cNvSpPr txBox="1"/>
          <p:nvPr/>
        </p:nvSpPr>
        <p:spPr>
          <a:xfrm>
            <a:off x="6766560" y="1417320"/>
            <a:ext cx="4937760" cy="1463040"/>
          </a:xfrm>
          <a:prstGeom prst="rect">
            <a:avLst/>
          </a:prstGeom>
          <a:noFill/>
        </p:spPr>
        <p:txBody>
          <a:bodyPr wrap="square" anchor="t">
            <a:spAutoFit/>
          </a:bodyPr>
          <a:lstStyle/>
          <a:p>
            <a:endParaRPr dirty="0"/>
          </a:p>
          <a:p>
            <a:pPr algn="l">
              <a:spcBef>
                <a:spcPts val="0"/>
              </a:spcBef>
              <a:spcAft>
                <a:spcPts val="400"/>
              </a:spcAft>
            </a:pPr>
            <a:r>
              <a:rPr sz="1500" b="0" i="1" dirty="0">
                <a:solidFill>
                  <a:srgbClr val="7F7F7F"/>
                </a:solidFill>
                <a:latin typeface="Arial"/>
              </a:rPr>
              <a:t>The same journey, every project:</a:t>
            </a:r>
          </a:p>
          <a:p>
            <a:pPr algn="l">
              <a:spcBef>
                <a:spcPts val="0"/>
              </a:spcBef>
              <a:spcAft>
                <a:spcPts val="400"/>
              </a:spcAft>
            </a:pPr>
            <a:r>
              <a:rPr sz="1500" b="0" i="1" dirty="0">
                <a:solidFill>
                  <a:srgbClr val="7F7F7F"/>
                </a:solidFill>
                <a:latin typeface="Arial"/>
              </a:rPr>
              <a:t>spec in, working test out.</a:t>
            </a:r>
          </a:p>
        </p:txBody>
      </p:sp>
      <p:grpSp>
        <p:nvGrpSpPr>
          <p:cNvPr id="14" name="Group 13">
            <a:extLst>
              <a:ext uri="{FF2B5EF4-FFF2-40B4-BE49-F238E27FC236}">
                <a16:creationId xmlns:a16="http://schemas.microsoft.com/office/drawing/2014/main" id="{25B3424E-5AAB-99E8-FE08-5ED37A441062}"/>
              </a:ext>
            </a:extLst>
          </p:cNvPr>
          <p:cNvGrpSpPr/>
          <p:nvPr/>
        </p:nvGrpSpPr>
        <p:grpSpPr>
          <a:xfrm>
            <a:off x="1101485" y="4507992"/>
            <a:ext cx="9356308" cy="566928"/>
            <a:chOff x="6766560" y="3246120"/>
            <a:chExt cx="4279392" cy="566928"/>
          </a:xfrm>
        </p:grpSpPr>
        <p:sp>
          <p:nvSpPr>
            <p:cNvPr id="7" name="Chevron 6"/>
            <p:cNvSpPr/>
            <p:nvPr/>
          </p:nvSpPr>
          <p:spPr>
            <a:xfrm>
              <a:off x="6766560" y="3246120"/>
              <a:ext cx="896112" cy="566928"/>
            </a:xfrm>
            <a:prstGeom prst="chevron">
              <a:avLst/>
            </a:prstGeom>
            <a:solidFill>
              <a:srgbClr val="006E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FFFFFF"/>
                  </a:solidFill>
                  <a:latin typeface="Arial"/>
                </a:rPr>
                <a:t>Spec</a:t>
              </a:r>
            </a:p>
          </p:txBody>
        </p:sp>
        <p:sp>
          <p:nvSpPr>
            <p:cNvPr id="8" name="Chevron 7"/>
            <p:cNvSpPr/>
            <p:nvPr/>
          </p:nvSpPr>
          <p:spPr>
            <a:xfrm>
              <a:off x="7443216" y="3246120"/>
              <a:ext cx="896112" cy="566928"/>
            </a:xfrm>
            <a:prstGeom prst="chevron">
              <a:avLst/>
            </a:prstGeom>
            <a:solidFill>
              <a:srgbClr val="00999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FFFFFF"/>
                  </a:solidFill>
                  <a:latin typeface="Arial"/>
                </a:rPr>
                <a:t>Requirements</a:t>
              </a:r>
            </a:p>
          </p:txBody>
        </p:sp>
        <p:sp>
          <p:nvSpPr>
            <p:cNvPr id="9" name="Chevron 8"/>
            <p:cNvSpPr/>
            <p:nvPr/>
          </p:nvSpPr>
          <p:spPr>
            <a:xfrm>
              <a:off x="8119872" y="3246120"/>
              <a:ext cx="896112" cy="566928"/>
            </a:xfrm>
            <a:prstGeom prst="chevron">
              <a:avLst/>
            </a:prstGeom>
            <a:solidFill>
              <a:srgbClr val="00999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FFFFFF"/>
                  </a:solidFill>
                  <a:latin typeface="Arial"/>
                </a:rPr>
                <a:t>Plans</a:t>
              </a:r>
            </a:p>
          </p:txBody>
        </p:sp>
        <p:sp>
          <p:nvSpPr>
            <p:cNvPr id="10" name="Chevron 9"/>
            <p:cNvSpPr/>
            <p:nvPr/>
          </p:nvSpPr>
          <p:spPr>
            <a:xfrm>
              <a:off x="8796528" y="3246120"/>
              <a:ext cx="896112" cy="566928"/>
            </a:xfrm>
            <a:prstGeom prst="chevron">
              <a:avLst/>
            </a:prstGeom>
            <a:solidFill>
              <a:srgbClr val="00999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FFFFFF"/>
                  </a:solidFill>
                  <a:latin typeface="Arial"/>
                </a:rPr>
                <a:t>Test Types</a:t>
              </a:r>
            </a:p>
          </p:txBody>
        </p:sp>
        <p:sp>
          <p:nvSpPr>
            <p:cNvPr id="11" name="Chevron 10"/>
            <p:cNvSpPr/>
            <p:nvPr/>
          </p:nvSpPr>
          <p:spPr>
            <a:xfrm>
              <a:off x="9473184" y="3246120"/>
              <a:ext cx="896112" cy="566928"/>
            </a:xfrm>
            <a:prstGeom prst="chevron">
              <a:avLst/>
            </a:prstGeom>
            <a:solidFill>
              <a:srgbClr val="00999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FFFFFF"/>
                  </a:solidFill>
                  <a:latin typeface="Arial"/>
                </a:rPr>
                <a:t>Stimulus</a:t>
              </a:r>
            </a:p>
          </p:txBody>
        </p:sp>
        <p:sp>
          <p:nvSpPr>
            <p:cNvPr id="12" name="Chevron 11"/>
            <p:cNvSpPr/>
            <p:nvPr/>
          </p:nvSpPr>
          <p:spPr>
            <a:xfrm>
              <a:off x="10149840" y="3246120"/>
              <a:ext cx="896112" cy="566928"/>
            </a:xfrm>
            <a:prstGeom prst="chevron">
              <a:avLst/>
            </a:prstGeom>
            <a:solidFill>
              <a:srgbClr val="00999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FFFFFF"/>
                  </a:solidFill>
                  <a:latin typeface="Arial"/>
                </a:rPr>
                <a:t>Random</a:t>
              </a:r>
            </a:p>
          </p:txBody>
        </p:sp>
      </p:grpSp>
      <p:sp>
        <p:nvSpPr>
          <p:cNvPr id="13" name="Rounded Rectangle 12"/>
          <p:cNvSpPr/>
          <p:nvPr/>
        </p:nvSpPr>
        <p:spPr>
          <a:xfrm>
            <a:off x="457200" y="5623560"/>
            <a:ext cx="11274552" cy="594360"/>
          </a:xfrm>
          <a:prstGeom prst="roundRect">
            <a:avLst/>
          </a:prstGeom>
          <a:solidFill>
            <a:srgbClr val="009999"/>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1600" b="1" i="0" dirty="0">
                <a:solidFill>
                  <a:srgbClr val="FFFFFF"/>
                </a:solidFill>
                <a:latin typeface="Arial"/>
              </a:rPr>
              <a:t>Every one of these, applied to the same 8x8 synchronous FIFO.</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84048"/>
            <a:ext cx="10607040" cy="685800"/>
          </a:xfrm>
          <a:prstGeom prst="rect">
            <a:avLst/>
          </a:prstGeom>
          <a:noFill/>
        </p:spPr>
        <p:txBody>
          <a:bodyPr wrap="square">
            <a:spAutoFit/>
          </a:bodyPr>
          <a:lstStyle/>
          <a:p>
            <a:r>
              <a:rPr sz="2800" b="1">
                <a:solidFill>
                  <a:srgbClr val="009999"/>
                </a:solidFill>
                <a:latin typeface="Arial"/>
              </a:rPr>
              <a:t>Specification Analysis - Five Moves</a:t>
            </a:r>
          </a:p>
        </p:txBody>
      </p:sp>
      <p:sp>
        <p:nvSpPr>
          <p:cNvPr id="3" name="TextBox 2"/>
          <p:cNvSpPr txBox="1"/>
          <p:nvPr/>
        </p:nvSpPr>
        <p:spPr>
          <a:xfrm>
            <a:off x="365760" y="6446520"/>
            <a:ext cx="11521440" cy="292608"/>
          </a:xfrm>
          <a:prstGeom prst="rect">
            <a:avLst/>
          </a:prstGeom>
          <a:noFill/>
        </p:spPr>
        <p:txBody>
          <a:bodyPr wrap="none">
            <a:spAutoFit/>
          </a:bodyPr>
          <a:lstStyle/>
          <a:p>
            <a:r>
              <a:rPr sz="900">
                <a:solidFill>
                  <a:srgbClr val="7F7F7F"/>
                </a:solidFill>
                <a:latin typeface="Arial"/>
              </a:rPr>
              <a:t>Restricted | (c) Siemens 2026 | Prajwal Matukumalli | DISW EDA | 2026-09-09</a:t>
            </a:r>
          </a:p>
        </p:txBody>
      </p:sp>
      <p:sp>
        <p:nvSpPr>
          <p:cNvPr id="4" name="Oval 3"/>
          <p:cNvSpPr/>
          <p:nvPr/>
        </p:nvSpPr>
        <p:spPr>
          <a:xfrm>
            <a:off x="10125151" y="256032"/>
            <a:ext cx="146304" cy="146304"/>
          </a:xfrm>
          <a:prstGeom prst="ellipse">
            <a:avLst/>
          </a:prstGeom>
          <a:solidFill>
            <a:srgbClr val="00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0417759" y="256032"/>
            <a:ext cx="146304" cy="146304"/>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0710367" y="256032"/>
            <a:ext cx="146304" cy="146304"/>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1002975" y="256032"/>
            <a:ext cx="146304" cy="146304"/>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1295583" y="256032"/>
            <a:ext cx="146304" cy="146304"/>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1588191" y="256032"/>
            <a:ext cx="146304" cy="146304"/>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30352" y="1028699"/>
            <a:ext cx="6126480" cy="502920"/>
          </a:xfrm>
          <a:prstGeom prst="rect">
            <a:avLst/>
          </a:prstGeom>
          <a:noFill/>
        </p:spPr>
        <p:txBody>
          <a:bodyPr wrap="square" anchor="t">
            <a:spAutoFit/>
          </a:bodyPr>
          <a:lstStyle/>
          <a:p>
            <a:endParaRPr dirty="0"/>
          </a:p>
          <a:p>
            <a:pPr algn="l">
              <a:spcBef>
                <a:spcPts val="0"/>
              </a:spcBef>
              <a:spcAft>
                <a:spcPts val="0"/>
              </a:spcAft>
            </a:pPr>
            <a:r>
              <a:rPr sz="1500" b="0" i="1" dirty="0">
                <a:solidFill>
                  <a:srgbClr val="262626"/>
                </a:solidFill>
                <a:latin typeface="Arial"/>
              </a:rPr>
              <a:t>Reading, decomposing and interrogating a spec before you write any test code.</a:t>
            </a:r>
          </a:p>
        </p:txBody>
      </p:sp>
      <p:graphicFrame>
        <p:nvGraphicFramePr>
          <p:cNvPr id="11" name="Table 10"/>
          <p:cNvGraphicFramePr>
            <a:graphicFrameLocks noGrp="1"/>
          </p:cNvGraphicFramePr>
          <p:nvPr>
            <p:extLst>
              <p:ext uri="{D42A27DB-BD31-4B8C-83A1-F6EECF244321}">
                <p14:modId xmlns:p14="http://schemas.microsoft.com/office/powerpoint/2010/main" val="4236693716"/>
              </p:ext>
            </p:extLst>
          </p:nvPr>
        </p:nvGraphicFramePr>
        <p:xfrm>
          <a:off x="457200" y="1874519"/>
          <a:ext cx="6126480" cy="2514600"/>
        </p:xfrm>
        <a:graphic>
          <a:graphicData uri="http://schemas.openxmlformats.org/drawingml/2006/table">
            <a:tbl>
              <a:tblPr firstRow="1" bandRow="1">
                <a:tableStyleId>{5C22544A-7EE6-4342-B048-85BDC9FD1C3A}</a:tableStyleId>
              </a:tblPr>
              <a:tblGrid>
                <a:gridCol w="1645920">
                  <a:extLst>
                    <a:ext uri="{9D8B030D-6E8A-4147-A177-3AD203B41FA5}">
                      <a16:colId xmlns:a16="http://schemas.microsoft.com/office/drawing/2014/main" val="20000"/>
                    </a:ext>
                  </a:extLst>
                </a:gridCol>
                <a:gridCol w="4480560">
                  <a:extLst>
                    <a:ext uri="{9D8B030D-6E8A-4147-A177-3AD203B41FA5}">
                      <a16:colId xmlns:a16="http://schemas.microsoft.com/office/drawing/2014/main" val="20001"/>
                    </a:ext>
                  </a:extLst>
                </a:gridCol>
              </a:tblGrid>
              <a:tr h="502920">
                <a:tc>
                  <a:txBody>
                    <a:bodyPr/>
                    <a:lstStyle/>
                    <a:p>
                      <a:pPr algn="l"/>
                      <a:r>
                        <a:rPr sz="1400" b="1">
                          <a:solidFill>
                            <a:srgbClr val="009999"/>
                          </a:solidFill>
                          <a:latin typeface="Arial"/>
                        </a:rPr>
                        <a:t>READ</a:t>
                      </a:r>
                    </a:p>
                  </a:txBody>
                  <a:tcPr marL="73152" marR="73152" marT="27432" marB="27432" anchor="ctr">
                    <a:solidFill>
                      <a:srgbClr val="F7F7F7"/>
                    </a:solidFill>
                  </a:tcPr>
                </a:tc>
                <a:tc>
                  <a:txBody>
                    <a:bodyPr/>
                    <a:lstStyle/>
                    <a:p>
                      <a:pPr algn="l"/>
                      <a:r>
                        <a:rPr sz="1400" b="0" dirty="0">
                          <a:solidFill>
                            <a:schemeClr val="tx1"/>
                          </a:solidFill>
                          <a:latin typeface="Arial"/>
                        </a:rPr>
                        <a:t>The whole spec. Twice. Never skim.</a:t>
                      </a:r>
                    </a:p>
                  </a:txBody>
                  <a:tcPr marL="73152" marR="73152" marT="27432" marB="27432" anchor="ctr">
                    <a:solidFill>
                      <a:srgbClr val="F7F7F7"/>
                    </a:solidFill>
                  </a:tcPr>
                </a:tc>
                <a:extLst>
                  <a:ext uri="{0D108BD9-81ED-4DB2-BD59-A6C34878D82A}">
                    <a16:rowId xmlns:a16="http://schemas.microsoft.com/office/drawing/2014/main" val="10000"/>
                  </a:ext>
                </a:extLst>
              </a:tr>
              <a:tr h="502920">
                <a:tc>
                  <a:txBody>
                    <a:bodyPr/>
                    <a:lstStyle/>
                    <a:p>
                      <a:pPr algn="l"/>
                      <a:r>
                        <a:rPr sz="1400" b="1">
                          <a:solidFill>
                            <a:srgbClr val="009999"/>
                          </a:solidFill>
                          <a:latin typeface="Arial"/>
                        </a:rPr>
                        <a:t>MAP</a:t>
                      </a:r>
                    </a:p>
                  </a:txBody>
                  <a:tcPr marL="73152" marR="73152" marT="27432" marB="27432" anchor="ctr">
                    <a:solidFill>
                      <a:srgbClr val="FFFFFF"/>
                    </a:solidFill>
                  </a:tcPr>
                </a:tc>
                <a:tc>
                  <a:txBody>
                    <a:bodyPr/>
                    <a:lstStyle/>
                    <a:p>
                      <a:pPr algn="l"/>
                      <a:r>
                        <a:rPr sz="1400" dirty="0">
                          <a:latin typeface="Arial"/>
                        </a:rPr>
                        <a:t>Every interface: inputs, outputs, protocols</a:t>
                      </a:r>
                    </a:p>
                  </a:txBody>
                  <a:tcPr marL="73152" marR="73152" marT="27432" marB="27432" anchor="ctr">
                    <a:solidFill>
                      <a:srgbClr val="FFFFFF"/>
                    </a:solidFill>
                  </a:tcPr>
                </a:tc>
                <a:extLst>
                  <a:ext uri="{0D108BD9-81ED-4DB2-BD59-A6C34878D82A}">
                    <a16:rowId xmlns:a16="http://schemas.microsoft.com/office/drawing/2014/main" val="10001"/>
                  </a:ext>
                </a:extLst>
              </a:tr>
              <a:tr h="502920">
                <a:tc>
                  <a:txBody>
                    <a:bodyPr/>
                    <a:lstStyle/>
                    <a:p>
                      <a:pPr algn="l"/>
                      <a:r>
                        <a:rPr sz="1400" b="1" dirty="0">
                          <a:solidFill>
                            <a:srgbClr val="009999"/>
                          </a:solidFill>
                          <a:latin typeface="Arial"/>
                        </a:rPr>
                        <a:t>LIST</a:t>
                      </a:r>
                    </a:p>
                  </a:txBody>
                  <a:tcPr marL="73152" marR="73152" marT="27432" marB="27432" anchor="ctr">
                    <a:solidFill>
                      <a:srgbClr val="F7F7F7"/>
                    </a:solidFill>
                  </a:tcPr>
                </a:tc>
                <a:tc>
                  <a:txBody>
                    <a:bodyPr/>
                    <a:lstStyle/>
                    <a:p>
                      <a:pPr algn="l"/>
                      <a:r>
                        <a:rPr sz="1400" dirty="0">
                          <a:latin typeface="Arial"/>
                        </a:rPr>
                        <a:t>Every behavior the spec claims</a:t>
                      </a:r>
                    </a:p>
                  </a:txBody>
                  <a:tcPr marL="73152" marR="73152" marT="27432" marB="27432" anchor="ctr">
                    <a:solidFill>
                      <a:srgbClr val="F7F7F7"/>
                    </a:solidFill>
                  </a:tcPr>
                </a:tc>
                <a:extLst>
                  <a:ext uri="{0D108BD9-81ED-4DB2-BD59-A6C34878D82A}">
                    <a16:rowId xmlns:a16="http://schemas.microsoft.com/office/drawing/2014/main" val="10002"/>
                  </a:ext>
                </a:extLst>
              </a:tr>
              <a:tr h="502920">
                <a:tc>
                  <a:txBody>
                    <a:bodyPr/>
                    <a:lstStyle/>
                    <a:p>
                      <a:pPr algn="l"/>
                      <a:r>
                        <a:rPr sz="1400" b="1" dirty="0">
                          <a:solidFill>
                            <a:srgbClr val="009999"/>
                          </a:solidFill>
                          <a:latin typeface="Arial"/>
                        </a:rPr>
                        <a:t>MARK</a:t>
                      </a:r>
                    </a:p>
                  </a:txBody>
                  <a:tcPr marL="73152" marR="73152" marT="27432" marB="27432" anchor="ctr">
                    <a:solidFill>
                      <a:srgbClr val="FFFFFF"/>
                    </a:solidFill>
                  </a:tcPr>
                </a:tc>
                <a:tc>
                  <a:txBody>
                    <a:bodyPr/>
                    <a:lstStyle/>
                    <a:p>
                      <a:pPr algn="l"/>
                      <a:r>
                        <a:rPr sz="1400">
                          <a:latin typeface="Arial"/>
                        </a:rPr>
                        <a:t>Every boundary and every error condition</a:t>
                      </a:r>
                    </a:p>
                  </a:txBody>
                  <a:tcPr marL="73152" marR="73152" marT="27432" marB="27432" anchor="ctr">
                    <a:solidFill>
                      <a:srgbClr val="FFFFFF"/>
                    </a:solidFill>
                  </a:tcPr>
                </a:tc>
                <a:extLst>
                  <a:ext uri="{0D108BD9-81ED-4DB2-BD59-A6C34878D82A}">
                    <a16:rowId xmlns:a16="http://schemas.microsoft.com/office/drawing/2014/main" val="10003"/>
                  </a:ext>
                </a:extLst>
              </a:tr>
              <a:tr h="502920">
                <a:tc>
                  <a:txBody>
                    <a:bodyPr/>
                    <a:lstStyle/>
                    <a:p>
                      <a:pPr algn="l"/>
                      <a:r>
                        <a:rPr sz="1400" b="1" dirty="0">
                          <a:solidFill>
                            <a:srgbClr val="009999"/>
                          </a:solidFill>
                          <a:latin typeface="Arial"/>
                        </a:rPr>
                        <a:t>ASK</a:t>
                      </a:r>
                    </a:p>
                  </a:txBody>
                  <a:tcPr marL="73152" marR="73152" marT="27432" marB="27432" anchor="ctr">
                    <a:solidFill>
                      <a:srgbClr val="F7F7F7"/>
                    </a:solidFill>
                  </a:tcPr>
                </a:tc>
                <a:tc>
                  <a:txBody>
                    <a:bodyPr/>
                    <a:lstStyle/>
                    <a:p>
                      <a:pPr algn="l"/>
                      <a:r>
                        <a:rPr sz="1400" dirty="0">
                          <a:latin typeface="Arial"/>
                        </a:rPr>
                        <a:t>Every ambiguity - take it to the designer</a:t>
                      </a:r>
                    </a:p>
                  </a:txBody>
                  <a:tcPr marL="73152" marR="73152" marT="27432" marB="27432" anchor="ctr">
                    <a:solidFill>
                      <a:srgbClr val="F7F7F7"/>
                    </a:solidFill>
                  </a:tcPr>
                </a:tc>
                <a:extLst>
                  <a:ext uri="{0D108BD9-81ED-4DB2-BD59-A6C34878D82A}">
                    <a16:rowId xmlns:a16="http://schemas.microsoft.com/office/drawing/2014/main" val="10004"/>
                  </a:ext>
                </a:extLst>
              </a:tr>
            </a:tbl>
          </a:graphicData>
        </a:graphic>
      </p:graphicFrame>
      <p:sp>
        <p:nvSpPr>
          <p:cNvPr id="12" name="Rectangle 11"/>
          <p:cNvSpPr/>
          <p:nvPr/>
        </p:nvSpPr>
        <p:spPr>
          <a:xfrm>
            <a:off x="457200" y="4709160"/>
            <a:ext cx="6126480" cy="1051560"/>
          </a:xfrm>
          <a:prstGeom prst="rect">
            <a:avLst/>
          </a:prstGeom>
          <a:solidFill>
            <a:srgbClr val="FADDC4"/>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73152" rIns="137160" bIns="73152" rtlCol="0" anchor="ctr"/>
          <a:lstStyle/>
          <a:p>
            <a:pPr algn="ctr"/>
            <a:r>
              <a:rPr sz="1450" b="1" i="0" dirty="0">
                <a:solidFill>
                  <a:srgbClr val="262626"/>
                </a:solidFill>
                <a:latin typeface="Arial"/>
              </a:rPr>
              <a:t>Steps 1-4 are homework. Step 5 is engineering - it is the step that saves the project.</a:t>
            </a:r>
          </a:p>
        </p:txBody>
      </p:sp>
      <p:sp>
        <p:nvSpPr>
          <p:cNvPr id="13" name="Rectangle 12"/>
          <p:cNvSpPr/>
          <p:nvPr/>
        </p:nvSpPr>
        <p:spPr>
          <a:xfrm>
            <a:off x="457200" y="4709160"/>
            <a:ext cx="73152" cy="1051560"/>
          </a:xfrm>
          <a:prstGeom prst="rect">
            <a:avLst/>
          </a:prstGeom>
          <a:solidFill>
            <a:srgbClr val="E87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 name="Picture 13" descr="spec_doc.png"/>
          <p:cNvPicPr>
            <a:picLocks noChangeAspect="1"/>
          </p:cNvPicPr>
          <p:nvPr/>
        </p:nvPicPr>
        <p:blipFill>
          <a:blip r:embed="rId3"/>
          <a:stretch>
            <a:fillRect/>
          </a:stretch>
        </p:blipFill>
        <p:spPr>
          <a:xfrm>
            <a:off x="7220588" y="1234440"/>
            <a:ext cx="4029703" cy="498348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84048"/>
            <a:ext cx="10607040" cy="685800"/>
          </a:xfrm>
          <a:prstGeom prst="rect">
            <a:avLst/>
          </a:prstGeom>
          <a:noFill/>
        </p:spPr>
        <p:txBody>
          <a:bodyPr wrap="square">
            <a:spAutoFit/>
          </a:bodyPr>
          <a:lstStyle/>
          <a:p>
            <a:r>
              <a:rPr sz="2800" b="1" dirty="0">
                <a:solidFill>
                  <a:srgbClr val="009999"/>
                </a:solidFill>
                <a:latin typeface="Arial"/>
              </a:rPr>
              <a:t>SPEC-FIFO-001 - Synchronous FIFO</a:t>
            </a:r>
          </a:p>
        </p:txBody>
      </p:sp>
      <p:sp>
        <p:nvSpPr>
          <p:cNvPr id="3" name="TextBox 2"/>
          <p:cNvSpPr txBox="1"/>
          <p:nvPr/>
        </p:nvSpPr>
        <p:spPr>
          <a:xfrm>
            <a:off x="365760" y="6446520"/>
            <a:ext cx="11521440" cy="292608"/>
          </a:xfrm>
          <a:prstGeom prst="rect">
            <a:avLst/>
          </a:prstGeom>
          <a:noFill/>
        </p:spPr>
        <p:txBody>
          <a:bodyPr wrap="none">
            <a:spAutoFit/>
          </a:bodyPr>
          <a:lstStyle/>
          <a:p>
            <a:r>
              <a:rPr sz="900">
                <a:solidFill>
                  <a:srgbClr val="7F7F7F"/>
                </a:solidFill>
                <a:latin typeface="Arial"/>
              </a:rPr>
              <a:t>Restricted | (c) Siemens 2026 | Prajwal Matukumalli | DISW EDA | 2026-09-09</a:t>
            </a:r>
          </a:p>
        </p:txBody>
      </p:sp>
      <p:sp>
        <p:nvSpPr>
          <p:cNvPr id="4" name="Oval 3"/>
          <p:cNvSpPr/>
          <p:nvPr/>
        </p:nvSpPr>
        <p:spPr>
          <a:xfrm>
            <a:off x="10125151" y="256032"/>
            <a:ext cx="146304" cy="146304"/>
          </a:xfrm>
          <a:prstGeom prst="ellipse">
            <a:avLst/>
          </a:prstGeom>
          <a:solidFill>
            <a:srgbClr val="00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0417759" y="256032"/>
            <a:ext cx="146304" cy="146304"/>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0710367" y="256032"/>
            <a:ext cx="146304" cy="146304"/>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1002975" y="256032"/>
            <a:ext cx="146304" cy="146304"/>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1295583" y="256032"/>
            <a:ext cx="146304" cy="146304"/>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1588191" y="256032"/>
            <a:ext cx="146304" cy="146304"/>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1188720"/>
            <a:ext cx="6126480" cy="502920"/>
          </a:xfrm>
          <a:prstGeom prst="rect">
            <a:avLst/>
          </a:prstGeom>
          <a:noFill/>
        </p:spPr>
        <p:txBody>
          <a:bodyPr wrap="square" anchor="t">
            <a:spAutoFit/>
          </a:bodyPr>
          <a:lstStyle/>
          <a:p>
            <a:endParaRPr dirty="0"/>
          </a:p>
          <a:p>
            <a:pPr algn="l">
              <a:spcBef>
                <a:spcPts val="0"/>
              </a:spcBef>
              <a:spcAft>
                <a:spcPts val="0"/>
              </a:spcAft>
            </a:pPr>
            <a:r>
              <a:rPr sz="1400" b="1" i="0" dirty="0">
                <a:solidFill>
                  <a:srgbClr val="262626"/>
                </a:solidFill>
                <a:latin typeface="Arial"/>
              </a:rPr>
              <a:t>Parameters: 8-bit data - 8 entries deep - single clock - active-high sync reset</a:t>
            </a:r>
          </a:p>
        </p:txBody>
      </p:sp>
      <p:graphicFrame>
        <p:nvGraphicFramePr>
          <p:cNvPr id="11" name="Table 10"/>
          <p:cNvGraphicFramePr>
            <a:graphicFrameLocks noGrp="1"/>
          </p:cNvGraphicFramePr>
          <p:nvPr/>
        </p:nvGraphicFramePr>
        <p:xfrm>
          <a:off x="457200" y="1783080"/>
          <a:ext cx="2743200" cy="2340864"/>
        </p:xfrm>
        <a:graphic>
          <a:graphicData uri="http://schemas.openxmlformats.org/drawingml/2006/table">
            <a:tbl>
              <a:tblPr firstRow="1" bandRow="1">
                <a:tableStyleId>{5C22544A-7EE6-4342-B048-85BDC9FD1C3A}</a:tableStyleId>
              </a:tblPr>
              <a:tblGrid>
                <a:gridCol w="155448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tblGrid>
              <a:tr h="292608">
                <a:tc>
                  <a:txBody>
                    <a:bodyPr/>
                    <a:lstStyle/>
                    <a:p>
                      <a:pPr algn="l"/>
                      <a:r>
                        <a:rPr sz="1100">
                          <a:latin typeface="Arial"/>
                        </a:rPr>
                        <a:t>clk</a:t>
                      </a:r>
                    </a:p>
                  </a:txBody>
                  <a:tcPr marL="73152" marR="73152" marT="27432" marB="27432" anchor="ctr">
                    <a:solidFill>
                      <a:srgbClr val="BFE6E6"/>
                    </a:solidFill>
                  </a:tcPr>
                </a:tc>
                <a:tc>
                  <a:txBody>
                    <a:bodyPr/>
                    <a:lstStyle/>
                    <a:p>
                      <a:pPr algn="l"/>
                      <a:r>
                        <a:rPr sz="1100">
                          <a:latin typeface="Arial"/>
                        </a:rPr>
                        <a:t>in  1</a:t>
                      </a:r>
                    </a:p>
                  </a:txBody>
                  <a:tcPr marL="73152" marR="73152" marT="27432" marB="27432" anchor="ctr">
                    <a:solidFill>
                      <a:srgbClr val="BFE6E6"/>
                    </a:solidFill>
                  </a:tcPr>
                </a:tc>
                <a:extLst>
                  <a:ext uri="{0D108BD9-81ED-4DB2-BD59-A6C34878D82A}">
                    <a16:rowId xmlns:a16="http://schemas.microsoft.com/office/drawing/2014/main" val="10000"/>
                  </a:ext>
                </a:extLst>
              </a:tr>
              <a:tr h="292608">
                <a:tc>
                  <a:txBody>
                    <a:bodyPr/>
                    <a:lstStyle/>
                    <a:p>
                      <a:pPr algn="l"/>
                      <a:r>
                        <a:rPr sz="1100" dirty="0" err="1">
                          <a:latin typeface="Arial"/>
                        </a:rPr>
                        <a:t>rst</a:t>
                      </a:r>
                      <a:endParaRPr sz="1100" dirty="0">
                        <a:latin typeface="Arial"/>
                      </a:endParaRPr>
                    </a:p>
                  </a:txBody>
                  <a:tcPr marL="73152" marR="73152" marT="27432" marB="27432" anchor="ctr">
                    <a:solidFill>
                      <a:srgbClr val="BFE6E6"/>
                    </a:solidFill>
                  </a:tcPr>
                </a:tc>
                <a:tc>
                  <a:txBody>
                    <a:bodyPr/>
                    <a:lstStyle/>
                    <a:p>
                      <a:pPr algn="l"/>
                      <a:r>
                        <a:rPr sz="1100">
                          <a:latin typeface="Arial"/>
                        </a:rPr>
                        <a:t>in  1</a:t>
                      </a:r>
                    </a:p>
                  </a:txBody>
                  <a:tcPr marL="73152" marR="73152" marT="27432" marB="27432" anchor="ctr">
                    <a:solidFill>
                      <a:srgbClr val="BFE6E6"/>
                    </a:solidFill>
                  </a:tcPr>
                </a:tc>
                <a:extLst>
                  <a:ext uri="{0D108BD9-81ED-4DB2-BD59-A6C34878D82A}">
                    <a16:rowId xmlns:a16="http://schemas.microsoft.com/office/drawing/2014/main" val="10001"/>
                  </a:ext>
                </a:extLst>
              </a:tr>
              <a:tr h="292608">
                <a:tc>
                  <a:txBody>
                    <a:bodyPr/>
                    <a:lstStyle/>
                    <a:p>
                      <a:pPr algn="l"/>
                      <a:r>
                        <a:rPr sz="1100">
                          <a:latin typeface="Arial"/>
                        </a:rPr>
                        <a:t>wr_en</a:t>
                      </a:r>
                    </a:p>
                  </a:txBody>
                  <a:tcPr marL="73152" marR="73152" marT="27432" marB="27432" anchor="ctr">
                    <a:solidFill>
                      <a:srgbClr val="BFE6E6"/>
                    </a:solidFill>
                  </a:tcPr>
                </a:tc>
                <a:tc>
                  <a:txBody>
                    <a:bodyPr/>
                    <a:lstStyle/>
                    <a:p>
                      <a:pPr algn="l"/>
                      <a:r>
                        <a:rPr sz="1100">
                          <a:latin typeface="Arial"/>
                        </a:rPr>
                        <a:t>in  1</a:t>
                      </a:r>
                    </a:p>
                  </a:txBody>
                  <a:tcPr marL="73152" marR="73152" marT="27432" marB="27432" anchor="ctr">
                    <a:solidFill>
                      <a:srgbClr val="BFE6E6"/>
                    </a:solidFill>
                  </a:tcPr>
                </a:tc>
                <a:extLst>
                  <a:ext uri="{0D108BD9-81ED-4DB2-BD59-A6C34878D82A}">
                    <a16:rowId xmlns:a16="http://schemas.microsoft.com/office/drawing/2014/main" val="10002"/>
                  </a:ext>
                </a:extLst>
              </a:tr>
              <a:tr h="292608">
                <a:tc>
                  <a:txBody>
                    <a:bodyPr/>
                    <a:lstStyle/>
                    <a:p>
                      <a:pPr algn="l"/>
                      <a:r>
                        <a:rPr sz="1100">
                          <a:latin typeface="Arial"/>
                        </a:rPr>
                        <a:t>rd_en</a:t>
                      </a:r>
                    </a:p>
                  </a:txBody>
                  <a:tcPr marL="73152" marR="73152" marT="27432" marB="27432" anchor="ctr">
                    <a:solidFill>
                      <a:srgbClr val="BFE6E6"/>
                    </a:solidFill>
                  </a:tcPr>
                </a:tc>
                <a:tc>
                  <a:txBody>
                    <a:bodyPr/>
                    <a:lstStyle/>
                    <a:p>
                      <a:pPr algn="l"/>
                      <a:r>
                        <a:rPr sz="1100">
                          <a:latin typeface="Arial"/>
                        </a:rPr>
                        <a:t>in  1</a:t>
                      </a:r>
                    </a:p>
                  </a:txBody>
                  <a:tcPr marL="73152" marR="73152" marT="27432" marB="27432" anchor="ctr">
                    <a:solidFill>
                      <a:srgbClr val="BFE6E6"/>
                    </a:solidFill>
                  </a:tcPr>
                </a:tc>
                <a:extLst>
                  <a:ext uri="{0D108BD9-81ED-4DB2-BD59-A6C34878D82A}">
                    <a16:rowId xmlns:a16="http://schemas.microsoft.com/office/drawing/2014/main" val="10003"/>
                  </a:ext>
                </a:extLst>
              </a:tr>
              <a:tr h="292608">
                <a:tc>
                  <a:txBody>
                    <a:bodyPr/>
                    <a:lstStyle/>
                    <a:p>
                      <a:pPr algn="l"/>
                      <a:r>
                        <a:rPr sz="1100">
                          <a:latin typeface="Arial"/>
                        </a:rPr>
                        <a:t>data_in</a:t>
                      </a:r>
                    </a:p>
                  </a:txBody>
                  <a:tcPr marL="73152" marR="73152" marT="27432" marB="27432" anchor="ctr">
                    <a:solidFill>
                      <a:srgbClr val="EEEEEE"/>
                    </a:solidFill>
                  </a:tcPr>
                </a:tc>
                <a:tc>
                  <a:txBody>
                    <a:bodyPr/>
                    <a:lstStyle/>
                    <a:p>
                      <a:pPr algn="l"/>
                      <a:r>
                        <a:rPr sz="1100">
                          <a:latin typeface="Arial"/>
                        </a:rPr>
                        <a:t>in  8</a:t>
                      </a:r>
                    </a:p>
                  </a:txBody>
                  <a:tcPr marL="73152" marR="73152" marT="27432" marB="27432" anchor="ctr">
                    <a:solidFill>
                      <a:srgbClr val="EEEEEE"/>
                    </a:solidFill>
                  </a:tcPr>
                </a:tc>
                <a:extLst>
                  <a:ext uri="{0D108BD9-81ED-4DB2-BD59-A6C34878D82A}">
                    <a16:rowId xmlns:a16="http://schemas.microsoft.com/office/drawing/2014/main" val="10004"/>
                  </a:ext>
                </a:extLst>
              </a:tr>
              <a:tr h="292608">
                <a:tc>
                  <a:txBody>
                    <a:bodyPr/>
                    <a:lstStyle/>
                    <a:p>
                      <a:pPr algn="l"/>
                      <a:r>
                        <a:rPr sz="1100">
                          <a:latin typeface="Arial"/>
                        </a:rPr>
                        <a:t>data_out</a:t>
                      </a:r>
                    </a:p>
                  </a:txBody>
                  <a:tcPr marL="73152" marR="73152" marT="27432" marB="27432" anchor="ctr">
                    <a:solidFill>
                      <a:srgbClr val="EEEEEE"/>
                    </a:solidFill>
                  </a:tcPr>
                </a:tc>
                <a:tc>
                  <a:txBody>
                    <a:bodyPr/>
                    <a:lstStyle/>
                    <a:p>
                      <a:pPr algn="l"/>
                      <a:r>
                        <a:rPr sz="1100">
                          <a:latin typeface="Arial"/>
                        </a:rPr>
                        <a:t>out  8</a:t>
                      </a:r>
                    </a:p>
                  </a:txBody>
                  <a:tcPr marL="73152" marR="73152" marT="27432" marB="27432" anchor="ctr">
                    <a:solidFill>
                      <a:srgbClr val="EEEEEE"/>
                    </a:solidFill>
                  </a:tcPr>
                </a:tc>
                <a:extLst>
                  <a:ext uri="{0D108BD9-81ED-4DB2-BD59-A6C34878D82A}">
                    <a16:rowId xmlns:a16="http://schemas.microsoft.com/office/drawing/2014/main" val="10005"/>
                  </a:ext>
                </a:extLst>
              </a:tr>
              <a:tr h="292608">
                <a:tc>
                  <a:txBody>
                    <a:bodyPr/>
                    <a:lstStyle/>
                    <a:p>
                      <a:pPr algn="l"/>
                      <a:r>
                        <a:rPr sz="1100">
                          <a:latin typeface="Arial"/>
                        </a:rPr>
                        <a:t>full</a:t>
                      </a:r>
                    </a:p>
                  </a:txBody>
                  <a:tcPr marL="73152" marR="73152" marT="27432" marB="27432" anchor="ctr">
                    <a:solidFill>
                      <a:srgbClr val="EEEEEE"/>
                    </a:solidFill>
                  </a:tcPr>
                </a:tc>
                <a:tc>
                  <a:txBody>
                    <a:bodyPr/>
                    <a:lstStyle/>
                    <a:p>
                      <a:pPr algn="l"/>
                      <a:r>
                        <a:rPr sz="1100">
                          <a:latin typeface="Arial"/>
                        </a:rPr>
                        <a:t>out  1</a:t>
                      </a:r>
                    </a:p>
                  </a:txBody>
                  <a:tcPr marL="73152" marR="73152" marT="27432" marB="27432" anchor="ctr">
                    <a:solidFill>
                      <a:srgbClr val="EEEEEE"/>
                    </a:solidFill>
                  </a:tcPr>
                </a:tc>
                <a:extLst>
                  <a:ext uri="{0D108BD9-81ED-4DB2-BD59-A6C34878D82A}">
                    <a16:rowId xmlns:a16="http://schemas.microsoft.com/office/drawing/2014/main" val="10006"/>
                  </a:ext>
                </a:extLst>
              </a:tr>
              <a:tr h="292608">
                <a:tc>
                  <a:txBody>
                    <a:bodyPr/>
                    <a:lstStyle/>
                    <a:p>
                      <a:pPr algn="l"/>
                      <a:r>
                        <a:rPr sz="1100">
                          <a:latin typeface="Arial"/>
                        </a:rPr>
                        <a:t>empty</a:t>
                      </a:r>
                    </a:p>
                  </a:txBody>
                  <a:tcPr marL="73152" marR="73152" marT="27432" marB="27432" anchor="ctr">
                    <a:solidFill>
                      <a:srgbClr val="EEEEEE"/>
                    </a:solidFill>
                  </a:tcPr>
                </a:tc>
                <a:tc>
                  <a:txBody>
                    <a:bodyPr/>
                    <a:lstStyle/>
                    <a:p>
                      <a:pPr algn="l"/>
                      <a:r>
                        <a:rPr sz="1100" dirty="0">
                          <a:latin typeface="Arial"/>
                        </a:rPr>
                        <a:t>out  1</a:t>
                      </a:r>
                    </a:p>
                  </a:txBody>
                  <a:tcPr marL="73152" marR="73152" marT="27432" marB="27432" anchor="ctr">
                    <a:solidFill>
                      <a:srgbClr val="EEEEEE"/>
                    </a:solidFill>
                  </a:tcPr>
                </a:tc>
                <a:extLst>
                  <a:ext uri="{0D108BD9-81ED-4DB2-BD59-A6C34878D82A}">
                    <a16:rowId xmlns:a16="http://schemas.microsoft.com/office/drawing/2014/main" val="10007"/>
                  </a:ext>
                </a:extLst>
              </a:tr>
            </a:tbl>
          </a:graphicData>
        </a:graphic>
      </p:graphicFrame>
      <p:sp>
        <p:nvSpPr>
          <p:cNvPr id="12" name="TextBox 11"/>
          <p:cNvSpPr txBox="1"/>
          <p:nvPr/>
        </p:nvSpPr>
        <p:spPr>
          <a:xfrm>
            <a:off x="3429000" y="1783080"/>
            <a:ext cx="2697480" cy="2377440"/>
          </a:xfrm>
          <a:prstGeom prst="rect">
            <a:avLst/>
          </a:prstGeom>
          <a:noFill/>
        </p:spPr>
        <p:txBody>
          <a:bodyPr wrap="square" anchor="t">
            <a:spAutoFit/>
          </a:bodyPr>
          <a:lstStyle/>
          <a:p>
            <a:endParaRPr dirty="0"/>
          </a:p>
          <a:p>
            <a:pPr algn="l">
              <a:lnSpc>
                <a:spcPct val="110000"/>
              </a:lnSpc>
              <a:spcBef>
                <a:spcPts val="0"/>
              </a:spcBef>
              <a:spcAft>
                <a:spcPts val="1000"/>
              </a:spcAft>
            </a:pPr>
            <a:r>
              <a:rPr sz="1250" b="0" i="0" dirty="0">
                <a:solidFill>
                  <a:srgbClr val="262626"/>
                </a:solidFill>
                <a:latin typeface="Arial"/>
              </a:rPr>
              <a:t>•  </a:t>
            </a:r>
            <a:r>
              <a:rPr sz="1250" b="0" i="0" dirty="0" err="1">
                <a:solidFill>
                  <a:srgbClr val="262626"/>
                </a:solidFill>
                <a:latin typeface="Arial"/>
              </a:rPr>
              <a:t>wr_en</a:t>
            </a:r>
            <a:r>
              <a:rPr sz="1250" b="0" i="0" dirty="0">
                <a:solidFill>
                  <a:srgbClr val="262626"/>
                </a:solidFill>
                <a:latin typeface="Arial"/>
              </a:rPr>
              <a:t>=1, full=0 -&gt; </a:t>
            </a:r>
            <a:r>
              <a:rPr sz="1250" b="0" i="0" dirty="0" err="1">
                <a:solidFill>
                  <a:srgbClr val="262626"/>
                </a:solidFill>
                <a:latin typeface="Arial"/>
              </a:rPr>
              <a:t>data_in</a:t>
            </a:r>
            <a:r>
              <a:rPr sz="1250" b="0" i="0" dirty="0">
                <a:solidFill>
                  <a:srgbClr val="262626"/>
                </a:solidFill>
                <a:latin typeface="Arial"/>
              </a:rPr>
              <a:t> stored on rising </a:t>
            </a:r>
            <a:r>
              <a:rPr sz="1250" b="0" i="0" dirty="0" err="1">
                <a:solidFill>
                  <a:srgbClr val="262626"/>
                </a:solidFill>
                <a:latin typeface="Arial"/>
              </a:rPr>
              <a:t>clk</a:t>
            </a:r>
            <a:endParaRPr sz="1250" b="0" i="0" dirty="0">
              <a:solidFill>
                <a:srgbClr val="262626"/>
              </a:solidFill>
              <a:latin typeface="Arial"/>
            </a:endParaRPr>
          </a:p>
          <a:p>
            <a:pPr algn="l">
              <a:lnSpc>
                <a:spcPct val="110000"/>
              </a:lnSpc>
              <a:spcBef>
                <a:spcPts val="0"/>
              </a:spcBef>
              <a:spcAft>
                <a:spcPts val="1000"/>
              </a:spcAft>
            </a:pPr>
            <a:r>
              <a:rPr sz="1250" b="0" i="0" dirty="0">
                <a:solidFill>
                  <a:srgbClr val="262626"/>
                </a:solidFill>
                <a:latin typeface="Arial"/>
              </a:rPr>
              <a:t>•  </a:t>
            </a:r>
            <a:r>
              <a:rPr sz="1250" b="0" i="0" dirty="0" err="1">
                <a:solidFill>
                  <a:srgbClr val="262626"/>
                </a:solidFill>
                <a:latin typeface="Arial"/>
              </a:rPr>
              <a:t>rd_en</a:t>
            </a:r>
            <a:r>
              <a:rPr sz="1250" b="0" i="0" dirty="0">
                <a:solidFill>
                  <a:srgbClr val="262626"/>
                </a:solidFill>
                <a:latin typeface="Arial"/>
              </a:rPr>
              <a:t>=1, empty=0 -&gt; </a:t>
            </a:r>
            <a:r>
              <a:rPr sz="1250" b="0" i="0" dirty="0" err="1">
                <a:solidFill>
                  <a:srgbClr val="262626"/>
                </a:solidFill>
                <a:latin typeface="Arial"/>
              </a:rPr>
              <a:t>data_out</a:t>
            </a:r>
            <a:r>
              <a:rPr sz="1250" b="0" i="0" dirty="0">
                <a:solidFill>
                  <a:srgbClr val="262626"/>
                </a:solidFill>
                <a:latin typeface="Arial"/>
              </a:rPr>
              <a:t> shows oldest entry</a:t>
            </a:r>
          </a:p>
          <a:p>
            <a:pPr algn="l">
              <a:lnSpc>
                <a:spcPct val="110000"/>
              </a:lnSpc>
              <a:spcBef>
                <a:spcPts val="0"/>
              </a:spcBef>
              <a:spcAft>
                <a:spcPts val="1000"/>
              </a:spcAft>
            </a:pPr>
            <a:r>
              <a:rPr sz="1250" b="0" i="0" dirty="0">
                <a:solidFill>
                  <a:srgbClr val="262626"/>
                </a:solidFill>
                <a:latin typeface="Arial"/>
              </a:rPr>
              <a:t>•  Ordering is strictly first-in, first-out</a:t>
            </a:r>
          </a:p>
          <a:p>
            <a:pPr algn="l">
              <a:lnSpc>
                <a:spcPct val="110000"/>
              </a:lnSpc>
              <a:spcBef>
                <a:spcPts val="0"/>
              </a:spcBef>
              <a:spcAft>
                <a:spcPts val="1000"/>
              </a:spcAft>
            </a:pPr>
            <a:r>
              <a:rPr sz="1250" b="0" i="0" dirty="0">
                <a:solidFill>
                  <a:srgbClr val="262626"/>
                </a:solidFill>
                <a:latin typeface="Arial"/>
              </a:rPr>
              <a:t>•  Reset clears all entries: empty=1, full=0</a:t>
            </a:r>
          </a:p>
        </p:txBody>
      </p:sp>
      <p:sp>
        <p:nvSpPr>
          <p:cNvPr id="13" name="Rectangle 12"/>
          <p:cNvSpPr/>
          <p:nvPr/>
        </p:nvSpPr>
        <p:spPr>
          <a:xfrm>
            <a:off x="457200" y="4297680"/>
            <a:ext cx="6126480" cy="960120"/>
          </a:xfrm>
          <a:prstGeom prst="rect">
            <a:avLst/>
          </a:prstGeom>
          <a:solidFill>
            <a:srgbClr val="FADDC4"/>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73152" rIns="137160" bIns="73152" rtlCol="0" anchor="ctr"/>
          <a:lstStyle/>
          <a:p>
            <a:pPr algn="ctr"/>
            <a:r>
              <a:rPr sz="1400" b="1" i="0" dirty="0">
                <a:solidFill>
                  <a:srgbClr val="262626"/>
                </a:solidFill>
                <a:latin typeface="Arial"/>
              </a:rPr>
              <a:t>This spec is deliberately incomplete. Finding the holes is your job today.</a:t>
            </a:r>
          </a:p>
        </p:txBody>
      </p:sp>
      <p:sp>
        <p:nvSpPr>
          <p:cNvPr id="14" name="Rectangle 13"/>
          <p:cNvSpPr/>
          <p:nvPr/>
        </p:nvSpPr>
        <p:spPr>
          <a:xfrm>
            <a:off x="457200" y="4297680"/>
            <a:ext cx="73152" cy="960120"/>
          </a:xfrm>
          <a:prstGeom prst="rect">
            <a:avLst/>
          </a:prstGeom>
          <a:solidFill>
            <a:srgbClr val="E87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8366760" y="1417320"/>
            <a:ext cx="1417320" cy="1234440"/>
          </a:xfrm>
          <a:prstGeom prst="roundRect">
            <a:avLst/>
          </a:prstGeom>
          <a:solidFill>
            <a:srgbClr val="FFFFFF"/>
          </a:solidFill>
          <a:ln w="25400">
            <a:solidFill>
              <a:srgbClr val="00999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a:solidFill>
                  <a:srgbClr val="006E6E"/>
                </a:solidFill>
                <a:latin typeface="Arial"/>
              </a:rPr>
              <a:t>SYNC FIFO</a:t>
            </a:r>
          </a:p>
          <a:p>
            <a:pPr algn="ctr"/>
            <a:r>
              <a:rPr sz="900">
                <a:solidFill>
                  <a:srgbClr val="7F7F7F"/>
                </a:solidFill>
                <a:latin typeface="Arial"/>
              </a:rPr>
              <a:t>depth 8 - width 8</a:t>
            </a:r>
          </a:p>
        </p:txBody>
      </p:sp>
      <p:sp>
        <p:nvSpPr>
          <p:cNvPr id="16" name="TextBox 15"/>
          <p:cNvSpPr txBox="1"/>
          <p:nvPr/>
        </p:nvSpPr>
        <p:spPr>
          <a:xfrm>
            <a:off x="6720840" y="1362456"/>
            <a:ext cx="1508760" cy="219456"/>
          </a:xfrm>
          <a:prstGeom prst="rect">
            <a:avLst/>
          </a:prstGeom>
          <a:noFill/>
        </p:spPr>
        <p:txBody>
          <a:bodyPr wrap="square" anchor="t">
            <a:spAutoFit/>
          </a:bodyPr>
          <a:lstStyle/>
          <a:p>
            <a:pPr algn="r"/>
            <a:r>
              <a:rPr sz="850">
                <a:solidFill>
                  <a:srgbClr val="262626"/>
                </a:solidFill>
                <a:latin typeface="Arial"/>
              </a:rPr>
              <a:t>data_in[7:0]</a:t>
            </a:r>
          </a:p>
        </p:txBody>
      </p:sp>
      <p:cxnSp>
        <p:nvCxnSpPr>
          <p:cNvPr id="17" name="Connector 16"/>
          <p:cNvCxnSpPr/>
          <p:nvPr/>
        </p:nvCxnSpPr>
        <p:spPr>
          <a:xfrm>
            <a:off x="8247888" y="1463040"/>
            <a:ext cx="100584" cy="0"/>
          </a:xfrm>
          <a:prstGeom prst="line">
            <a:avLst/>
          </a:prstGeom>
          <a:ln w="15875">
            <a:solidFill>
              <a:srgbClr val="009999"/>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720840" y="1600200"/>
            <a:ext cx="1508760" cy="219456"/>
          </a:xfrm>
          <a:prstGeom prst="rect">
            <a:avLst/>
          </a:prstGeom>
          <a:noFill/>
        </p:spPr>
        <p:txBody>
          <a:bodyPr wrap="square" anchor="t">
            <a:spAutoFit/>
          </a:bodyPr>
          <a:lstStyle/>
          <a:p>
            <a:pPr algn="r"/>
            <a:r>
              <a:rPr sz="850">
                <a:solidFill>
                  <a:srgbClr val="262626"/>
                </a:solidFill>
                <a:latin typeface="Arial"/>
              </a:rPr>
              <a:t>wr_en</a:t>
            </a:r>
          </a:p>
        </p:txBody>
      </p:sp>
      <p:cxnSp>
        <p:nvCxnSpPr>
          <p:cNvPr id="19" name="Connector 18"/>
          <p:cNvCxnSpPr/>
          <p:nvPr/>
        </p:nvCxnSpPr>
        <p:spPr>
          <a:xfrm>
            <a:off x="8247888" y="1700784"/>
            <a:ext cx="100584" cy="0"/>
          </a:xfrm>
          <a:prstGeom prst="line">
            <a:avLst/>
          </a:prstGeom>
          <a:ln w="15875">
            <a:solidFill>
              <a:srgbClr val="009999"/>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720840" y="1837944"/>
            <a:ext cx="1508760" cy="219456"/>
          </a:xfrm>
          <a:prstGeom prst="rect">
            <a:avLst/>
          </a:prstGeom>
          <a:noFill/>
        </p:spPr>
        <p:txBody>
          <a:bodyPr wrap="square" anchor="t">
            <a:spAutoFit/>
          </a:bodyPr>
          <a:lstStyle/>
          <a:p>
            <a:pPr algn="r"/>
            <a:r>
              <a:rPr sz="850">
                <a:solidFill>
                  <a:srgbClr val="262626"/>
                </a:solidFill>
                <a:latin typeface="Arial"/>
              </a:rPr>
              <a:t>rd_en</a:t>
            </a:r>
          </a:p>
        </p:txBody>
      </p:sp>
      <p:cxnSp>
        <p:nvCxnSpPr>
          <p:cNvPr id="21" name="Connector 20"/>
          <p:cNvCxnSpPr/>
          <p:nvPr/>
        </p:nvCxnSpPr>
        <p:spPr>
          <a:xfrm>
            <a:off x="8247888" y="1938528"/>
            <a:ext cx="100584" cy="0"/>
          </a:xfrm>
          <a:prstGeom prst="line">
            <a:avLst/>
          </a:prstGeom>
          <a:ln w="15875">
            <a:solidFill>
              <a:srgbClr val="009999"/>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720840" y="2075688"/>
            <a:ext cx="1508760" cy="219456"/>
          </a:xfrm>
          <a:prstGeom prst="rect">
            <a:avLst/>
          </a:prstGeom>
          <a:noFill/>
        </p:spPr>
        <p:txBody>
          <a:bodyPr wrap="square" anchor="t">
            <a:spAutoFit/>
          </a:bodyPr>
          <a:lstStyle/>
          <a:p>
            <a:pPr algn="r"/>
            <a:r>
              <a:rPr sz="850">
                <a:solidFill>
                  <a:srgbClr val="262626"/>
                </a:solidFill>
                <a:latin typeface="Arial"/>
              </a:rPr>
              <a:t>clk</a:t>
            </a:r>
          </a:p>
        </p:txBody>
      </p:sp>
      <p:cxnSp>
        <p:nvCxnSpPr>
          <p:cNvPr id="23" name="Connector 22"/>
          <p:cNvCxnSpPr/>
          <p:nvPr/>
        </p:nvCxnSpPr>
        <p:spPr>
          <a:xfrm>
            <a:off x="8247888" y="2176272"/>
            <a:ext cx="100584" cy="0"/>
          </a:xfrm>
          <a:prstGeom prst="line">
            <a:avLst/>
          </a:prstGeom>
          <a:ln w="15875">
            <a:solidFill>
              <a:srgbClr val="009999"/>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6720840" y="2313432"/>
            <a:ext cx="1508760" cy="219456"/>
          </a:xfrm>
          <a:prstGeom prst="rect">
            <a:avLst/>
          </a:prstGeom>
          <a:noFill/>
        </p:spPr>
        <p:txBody>
          <a:bodyPr wrap="square" anchor="t">
            <a:spAutoFit/>
          </a:bodyPr>
          <a:lstStyle/>
          <a:p>
            <a:pPr algn="r"/>
            <a:r>
              <a:rPr sz="850">
                <a:solidFill>
                  <a:srgbClr val="262626"/>
                </a:solidFill>
                <a:latin typeface="Arial"/>
              </a:rPr>
              <a:t>rst</a:t>
            </a:r>
          </a:p>
        </p:txBody>
      </p:sp>
      <p:cxnSp>
        <p:nvCxnSpPr>
          <p:cNvPr id="25" name="Connector 24"/>
          <p:cNvCxnSpPr/>
          <p:nvPr/>
        </p:nvCxnSpPr>
        <p:spPr>
          <a:xfrm>
            <a:off x="8247888" y="2414016"/>
            <a:ext cx="100584" cy="0"/>
          </a:xfrm>
          <a:prstGeom prst="line">
            <a:avLst/>
          </a:prstGeom>
          <a:ln w="15875">
            <a:solidFill>
              <a:srgbClr val="009999"/>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9802368" y="1627632"/>
            <a:ext cx="210312" cy="0"/>
          </a:xfrm>
          <a:prstGeom prst="line">
            <a:avLst/>
          </a:prstGeom>
          <a:ln w="15875">
            <a:solidFill>
              <a:srgbClr val="7F7F7F"/>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10058400" y="1527048"/>
            <a:ext cx="1600200" cy="219456"/>
          </a:xfrm>
          <a:prstGeom prst="rect">
            <a:avLst/>
          </a:prstGeom>
          <a:noFill/>
        </p:spPr>
        <p:txBody>
          <a:bodyPr wrap="square" anchor="t">
            <a:spAutoFit/>
          </a:bodyPr>
          <a:lstStyle/>
          <a:p>
            <a:pPr algn="l"/>
            <a:r>
              <a:rPr sz="850">
                <a:solidFill>
                  <a:srgbClr val="262626"/>
                </a:solidFill>
                <a:latin typeface="Arial"/>
              </a:rPr>
              <a:t>data_out[7:0]</a:t>
            </a:r>
          </a:p>
        </p:txBody>
      </p:sp>
      <p:cxnSp>
        <p:nvCxnSpPr>
          <p:cNvPr id="28" name="Connector 27"/>
          <p:cNvCxnSpPr/>
          <p:nvPr/>
        </p:nvCxnSpPr>
        <p:spPr>
          <a:xfrm>
            <a:off x="9802368" y="2011680"/>
            <a:ext cx="210312" cy="0"/>
          </a:xfrm>
          <a:prstGeom prst="line">
            <a:avLst/>
          </a:prstGeom>
          <a:ln w="15875">
            <a:solidFill>
              <a:srgbClr val="7F7F7F"/>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10058400" y="1911096"/>
            <a:ext cx="1600200" cy="219456"/>
          </a:xfrm>
          <a:prstGeom prst="rect">
            <a:avLst/>
          </a:prstGeom>
          <a:noFill/>
        </p:spPr>
        <p:txBody>
          <a:bodyPr wrap="square" anchor="t">
            <a:spAutoFit/>
          </a:bodyPr>
          <a:lstStyle/>
          <a:p>
            <a:pPr algn="l"/>
            <a:r>
              <a:rPr sz="850">
                <a:solidFill>
                  <a:srgbClr val="262626"/>
                </a:solidFill>
                <a:latin typeface="Arial"/>
              </a:rPr>
              <a:t>full</a:t>
            </a:r>
          </a:p>
        </p:txBody>
      </p:sp>
      <p:cxnSp>
        <p:nvCxnSpPr>
          <p:cNvPr id="30" name="Connector 29"/>
          <p:cNvCxnSpPr/>
          <p:nvPr/>
        </p:nvCxnSpPr>
        <p:spPr>
          <a:xfrm>
            <a:off x="9802368" y="2395728"/>
            <a:ext cx="210312" cy="0"/>
          </a:xfrm>
          <a:prstGeom prst="line">
            <a:avLst/>
          </a:prstGeom>
          <a:ln w="15875">
            <a:solidFill>
              <a:srgbClr val="7F7F7F"/>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10058400" y="2295144"/>
            <a:ext cx="1600200" cy="219456"/>
          </a:xfrm>
          <a:prstGeom prst="rect">
            <a:avLst/>
          </a:prstGeom>
          <a:noFill/>
        </p:spPr>
        <p:txBody>
          <a:bodyPr wrap="square" anchor="t">
            <a:spAutoFit/>
          </a:bodyPr>
          <a:lstStyle/>
          <a:p>
            <a:pPr algn="l"/>
            <a:r>
              <a:rPr sz="850">
                <a:solidFill>
                  <a:srgbClr val="262626"/>
                </a:solidFill>
                <a:latin typeface="Arial"/>
              </a:rPr>
              <a:t>empty</a:t>
            </a:r>
          </a:p>
        </p:txBody>
      </p:sp>
      <p:sp>
        <p:nvSpPr>
          <p:cNvPr id="32" name="Rectangle 31"/>
          <p:cNvSpPr/>
          <p:nvPr/>
        </p:nvSpPr>
        <p:spPr>
          <a:xfrm>
            <a:off x="6903720" y="4160520"/>
            <a:ext cx="512064" cy="502920"/>
          </a:xfrm>
          <a:prstGeom prst="rect">
            <a:avLst/>
          </a:prstGeom>
          <a:solidFill>
            <a:srgbClr val="BFE6E6"/>
          </a:solidFill>
          <a:ln w="15875">
            <a:solidFill>
              <a:srgbClr val="00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dirty="0">
                <a:solidFill>
                  <a:srgbClr val="262626"/>
                </a:solidFill>
                <a:latin typeface="Arial"/>
              </a:rPr>
              <a:t>0</a:t>
            </a:r>
          </a:p>
        </p:txBody>
      </p:sp>
      <p:sp>
        <p:nvSpPr>
          <p:cNvPr id="33" name="Rectangle 32"/>
          <p:cNvSpPr/>
          <p:nvPr/>
        </p:nvSpPr>
        <p:spPr>
          <a:xfrm>
            <a:off x="7484364" y="4160520"/>
            <a:ext cx="512064" cy="502920"/>
          </a:xfrm>
          <a:prstGeom prst="rect">
            <a:avLst/>
          </a:prstGeom>
          <a:solidFill>
            <a:srgbClr val="BFE6E6"/>
          </a:solidFill>
          <a:ln w="15875">
            <a:solidFill>
              <a:srgbClr val="00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262626"/>
                </a:solidFill>
                <a:latin typeface="Arial"/>
              </a:rPr>
              <a:t>1</a:t>
            </a:r>
          </a:p>
        </p:txBody>
      </p:sp>
      <p:sp>
        <p:nvSpPr>
          <p:cNvPr id="34" name="Rectangle 33"/>
          <p:cNvSpPr/>
          <p:nvPr/>
        </p:nvSpPr>
        <p:spPr>
          <a:xfrm>
            <a:off x="8065008" y="4160520"/>
            <a:ext cx="512064" cy="502920"/>
          </a:xfrm>
          <a:prstGeom prst="rect">
            <a:avLst/>
          </a:prstGeom>
          <a:solidFill>
            <a:srgbClr val="BFE6E6"/>
          </a:solidFill>
          <a:ln w="15875">
            <a:solidFill>
              <a:srgbClr val="00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dirty="0">
                <a:solidFill>
                  <a:srgbClr val="262626"/>
                </a:solidFill>
                <a:latin typeface="Arial"/>
              </a:rPr>
              <a:t>2</a:t>
            </a:r>
          </a:p>
        </p:txBody>
      </p:sp>
      <p:sp>
        <p:nvSpPr>
          <p:cNvPr id="35" name="Rectangle 34"/>
          <p:cNvSpPr/>
          <p:nvPr/>
        </p:nvSpPr>
        <p:spPr>
          <a:xfrm>
            <a:off x="8645652" y="4160520"/>
            <a:ext cx="512064" cy="502920"/>
          </a:xfrm>
          <a:prstGeom prst="rect">
            <a:avLst/>
          </a:prstGeom>
          <a:solidFill>
            <a:srgbClr val="FFFFFF"/>
          </a:solidFill>
          <a:ln w="15875">
            <a:solidFill>
              <a:srgbClr val="00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262626"/>
                </a:solidFill>
                <a:latin typeface="Arial"/>
              </a:rPr>
              <a:t>3</a:t>
            </a:r>
          </a:p>
        </p:txBody>
      </p:sp>
      <p:sp>
        <p:nvSpPr>
          <p:cNvPr id="36" name="Rectangle 35"/>
          <p:cNvSpPr/>
          <p:nvPr/>
        </p:nvSpPr>
        <p:spPr>
          <a:xfrm>
            <a:off x="9226296" y="4160520"/>
            <a:ext cx="512064" cy="502920"/>
          </a:xfrm>
          <a:prstGeom prst="rect">
            <a:avLst/>
          </a:prstGeom>
          <a:solidFill>
            <a:srgbClr val="FFFFFF"/>
          </a:solidFill>
          <a:ln w="15875">
            <a:solidFill>
              <a:srgbClr val="00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262626"/>
                </a:solidFill>
                <a:latin typeface="Arial"/>
              </a:rPr>
              <a:t>4</a:t>
            </a:r>
          </a:p>
        </p:txBody>
      </p:sp>
      <p:sp>
        <p:nvSpPr>
          <p:cNvPr id="37" name="Rectangle 36"/>
          <p:cNvSpPr/>
          <p:nvPr/>
        </p:nvSpPr>
        <p:spPr>
          <a:xfrm>
            <a:off x="9806940" y="4160520"/>
            <a:ext cx="512064" cy="502920"/>
          </a:xfrm>
          <a:prstGeom prst="rect">
            <a:avLst/>
          </a:prstGeom>
          <a:solidFill>
            <a:srgbClr val="FFFFFF"/>
          </a:solidFill>
          <a:ln w="15875">
            <a:solidFill>
              <a:srgbClr val="00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262626"/>
                </a:solidFill>
                <a:latin typeface="Arial"/>
              </a:rPr>
              <a:t>5</a:t>
            </a:r>
          </a:p>
        </p:txBody>
      </p:sp>
      <p:sp>
        <p:nvSpPr>
          <p:cNvPr id="38" name="Rectangle 37"/>
          <p:cNvSpPr/>
          <p:nvPr/>
        </p:nvSpPr>
        <p:spPr>
          <a:xfrm>
            <a:off x="10387584" y="4160520"/>
            <a:ext cx="512064" cy="502920"/>
          </a:xfrm>
          <a:prstGeom prst="rect">
            <a:avLst/>
          </a:prstGeom>
          <a:solidFill>
            <a:srgbClr val="FFFFFF"/>
          </a:solidFill>
          <a:ln w="15875">
            <a:solidFill>
              <a:srgbClr val="00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262626"/>
                </a:solidFill>
                <a:latin typeface="Arial"/>
              </a:rPr>
              <a:t>6</a:t>
            </a:r>
          </a:p>
        </p:txBody>
      </p:sp>
      <p:sp>
        <p:nvSpPr>
          <p:cNvPr id="39" name="Rectangle 38"/>
          <p:cNvSpPr/>
          <p:nvPr/>
        </p:nvSpPr>
        <p:spPr>
          <a:xfrm>
            <a:off x="10968228" y="4160520"/>
            <a:ext cx="512064" cy="502920"/>
          </a:xfrm>
          <a:prstGeom prst="rect">
            <a:avLst/>
          </a:prstGeom>
          <a:solidFill>
            <a:srgbClr val="FFFFFF"/>
          </a:solidFill>
          <a:ln w="15875">
            <a:solidFill>
              <a:srgbClr val="00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262626"/>
                </a:solidFill>
                <a:latin typeface="Arial"/>
              </a:rPr>
              <a:t>7</a:t>
            </a:r>
          </a:p>
        </p:txBody>
      </p:sp>
      <p:cxnSp>
        <p:nvCxnSpPr>
          <p:cNvPr id="40" name="Connector 39"/>
          <p:cNvCxnSpPr/>
          <p:nvPr/>
        </p:nvCxnSpPr>
        <p:spPr>
          <a:xfrm>
            <a:off x="8901684" y="3584448"/>
            <a:ext cx="0" cy="548639"/>
          </a:xfrm>
          <a:prstGeom prst="line">
            <a:avLst/>
          </a:prstGeom>
          <a:ln w="25400">
            <a:solidFill>
              <a:srgbClr val="2EA04A"/>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8398763" y="3310128"/>
            <a:ext cx="1005840" cy="256032"/>
          </a:xfrm>
          <a:prstGeom prst="rect">
            <a:avLst/>
          </a:prstGeom>
          <a:noFill/>
        </p:spPr>
        <p:txBody>
          <a:bodyPr wrap="square" anchor="t">
            <a:spAutoFit/>
          </a:bodyPr>
          <a:lstStyle/>
          <a:p>
            <a:pPr algn="ctr"/>
            <a:r>
              <a:rPr sz="950" b="1">
                <a:solidFill>
                  <a:srgbClr val="2EA04A"/>
                </a:solidFill>
                <a:latin typeface="Arial"/>
              </a:rPr>
              <a:t>write ptr</a:t>
            </a:r>
          </a:p>
        </p:txBody>
      </p:sp>
      <p:cxnSp>
        <p:nvCxnSpPr>
          <p:cNvPr id="42" name="Connector 41"/>
          <p:cNvCxnSpPr/>
          <p:nvPr/>
        </p:nvCxnSpPr>
        <p:spPr>
          <a:xfrm flipV="1">
            <a:off x="7159752" y="4690872"/>
            <a:ext cx="0" cy="448056"/>
          </a:xfrm>
          <a:prstGeom prst="line">
            <a:avLst/>
          </a:prstGeom>
          <a:ln w="25400">
            <a:solidFill>
              <a:srgbClr val="2E6FE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6656832" y="5193792"/>
            <a:ext cx="1005840" cy="256032"/>
          </a:xfrm>
          <a:prstGeom prst="rect">
            <a:avLst/>
          </a:prstGeom>
          <a:noFill/>
        </p:spPr>
        <p:txBody>
          <a:bodyPr wrap="square" anchor="t">
            <a:spAutoFit/>
          </a:bodyPr>
          <a:lstStyle/>
          <a:p>
            <a:pPr algn="ctr"/>
            <a:r>
              <a:rPr sz="950" b="1">
                <a:solidFill>
                  <a:srgbClr val="2E6FE8"/>
                </a:solidFill>
                <a:latin typeface="Arial"/>
              </a:rPr>
              <a:t>read ptr</a:t>
            </a:r>
          </a:p>
        </p:txBody>
      </p:sp>
      <p:sp>
        <p:nvSpPr>
          <p:cNvPr id="44" name="TextBox 43"/>
          <p:cNvSpPr txBox="1"/>
          <p:nvPr/>
        </p:nvSpPr>
        <p:spPr>
          <a:xfrm>
            <a:off x="6766560" y="5532120"/>
            <a:ext cx="4846320" cy="274320"/>
          </a:xfrm>
          <a:prstGeom prst="rect">
            <a:avLst/>
          </a:prstGeom>
          <a:noFill/>
        </p:spPr>
        <p:txBody>
          <a:bodyPr wrap="square" anchor="t">
            <a:spAutoFit/>
          </a:bodyPr>
          <a:lstStyle/>
          <a:p>
            <a:pPr algn="ctr"/>
            <a:r>
              <a:rPr sz="900" i="1">
                <a:solidFill>
                  <a:srgbClr val="7F7F7F"/>
                </a:solidFill>
                <a:latin typeface="Arial"/>
              </a:rPr>
              <a:t>slots 0-2 occupied - slots 3-7 free - pointers wrap at slot 7 -&gt; 0</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84048"/>
            <a:ext cx="10607040" cy="685800"/>
          </a:xfrm>
          <a:prstGeom prst="rect">
            <a:avLst/>
          </a:prstGeom>
          <a:noFill/>
        </p:spPr>
        <p:txBody>
          <a:bodyPr wrap="square">
            <a:spAutoFit/>
          </a:bodyPr>
          <a:lstStyle/>
          <a:p>
            <a:r>
              <a:rPr sz="2800" b="1">
                <a:solidFill>
                  <a:srgbClr val="009999"/>
                </a:solidFill>
                <a:latin typeface="Arial"/>
              </a:rPr>
              <a:t>Turning Sentences Into Testable Requirements</a:t>
            </a:r>
          </a:p>
        </p:txBody>
      </p:sp>
      <p:sp>
        <p:nvSpPr>
          <p:cNvPr id="3" name="TextBox 2"/>
          <p:cNvSpPr txBox="1"/>
          <p:nvPr/>
        </p:nvSpPr>
        <p:spPr>
          <a:xfrm>
            <a:off x="365760" y="6446520"/>
            <a:ext cx="11521440" cy="292608"/>
          </a:xfrm>
          <a:prstGeom prst="rect">
            <a:avLst/>
          </a:prstGeom>
          <a:noFill/>
        </p:spPr>
        <p:txBody>
          <a:bodyPr wrap="none">
            <a:spAutoFit/>
          </a:bodyPr>
          <a:lstStyle/>
          <a:p>
            <a:r>
              <a:rPr sz="900">
                <a:solidFill>
                  <a:srgbClr val="7F7F7F"/>
                </a:solidFill>
                <a:latin typeface="Arial"/>
              </a:rPr>
              <a:t>Restricted | (c) Siemens 2026 | Prajwal Matukumalli | DISW EDA | 2026-09-09</a:t>
            </a:r>
          </a:p>
        </p:txBody>
      </p:sp>
      <p:sp>
        <p:nvSpPr>
          <p:cNvPr id="4" name="Oval 3"/>
          <p:cNvSpPr/>
          <p:nvPr/>
        </p:nvSpPr>
        <p:spPr>
          <a:xfrm>
            <a:off x="10125151" y="256032"/>
            <a:ext cx="146304" cy="146304"/>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0417759" y="256032"/>
            <a:ext cx="146304" cy="146304"/>
          </a:xfrm>
          <a:prstGeom prst="ellipse">
            <a:avLst/>
          </a:prstGeom>
          <a:solidFill>
            <a:srgbClr val="00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0710367" y="256032"/>
            <a:ext cx="146304" cy="146304"/>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1002975" y="256032"/>
            <a:ext cx="146304" cy="146304"/>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1295583" y="256032"/>
            <a:ext cx="146304" cy="146304"/>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1588191" y="256032"/>
            <a:ext cx="146304" cy="146304"/>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1188720"/>
            <a:ext cx="6126480" cy="457200"/>
          </a:xfrm>
          <a:prstGeom prst="rect">
            <a:avLst/>
          </a:prstGeom>
          <a:noFill/>
        </p:spPr>
        <p:txBody>
          <a:bodyPr wrap="square" anchor="t">
            <a:spAutoFit/>
          </a:bodyPr>
          <a:lstStyle/>
          <a:p>
            <a:endParaRPr/>
          </a:p>
          <a:p>
            <a:pPr algn="l">
              <a:spcBef>
                <a:spcPts val="0"/>
              </a:spcBef>
              <a:spcAft>
                <a:spcPts val="0"/>
              </a:spcAft>
            </a:pPr>
            <a:r>
              <a:rPr sz="1500" b="0" i="1">
                <a:solidFill>
                  <a:srgbClr val="262626"/>
                </a:solidFill>
                <a:latin typeface="Arial"/>
              </a:rPr>
              <a:t>A functional requirement is a clear, testable statement covering ONE behaviour.</a:t>
            </a:r>
          </a:p>
        </p:txBody>
      </p:sp>
      <p:sp>
        <p:nvSpPr>
          <p:cNvPr id="11" name="TextBox 10"/>
          <p:cNvSpPr txBox="1"/>
          <p:nvPr/>
        </p:nvSpPr>
        <p:spPr>
          <a:xfrm>
            <a:off x="457200" y="1783080"/>
            <a:ext cx="6126480" cy="822960"/>
          </a:xfrm>
          <a:prstGeom prst="rect">
            <a:avLst/>
          </a:prstGeom>
          <a:noFill/>
        </p:spPr>
        <p:txBody>
          <a:bodyPr wrap="square" anchor="t">
            <a:spAutoFit/>
          </a:bodyPr>
          <a:lstStyle/>
          <a:p>
            <a:endParaRPr dirty="0"/>
          </a:p>
          <a:p>
            <a:pPr algn="l">
              <a:spcBef>
                <a:spcPts val="0"/>
              </a:spcBef>
              <a:spcAft>
                <a:spcPts val="300"/>
              </a:spcAft>
            </a:pPr>
            <a:r>
              <a:rPr sz="1250" b="0" i="1" dirty="0">
                <a:solidFill>
                  <a:srgbClr val="7F7F7F"/>
                </a:solidFill>
                <a:latin typeface="Arial"/>
              </a:rPr>
              <a:t>"</a:t>
            </a:r>
            <a:r>
              <a:rPr sz="1250" b="0" i="1" dirty="0" err="1">
                <a:solidFill>
                  <a:srgbClr val="7F7F7F"/>
                </a:solidFill>
                <a:latin typeface="Arial"/>
              </a:rPr>
              <a:t>data_in</a:t>
            </a:r>
            <a:r>
              <a:rPr sz="1250" b="0" i="1" dirty="0">
                <a:solidFill>
                  <a:srgbClr val="7F7F7F"/>
                </a:solidFill>
                <a:latin typeface="Arial"/>
              </a:rPr>
              <a:t> is written when </a:t>
            </a:r>
            <a:r>
              <a:rPr sz="1250" b="0" i="1" dirty="0" err="1">
                <a:solidFill>
                  <a:srgbClr val="7F7F7F"/>
                </a:solidFill>
                <a:latin typeface="Arial"/>
              </a:rPr>
              <a:t>wr_en</a:t>
            </a:r>
            <a:r>
              <a:rPr sz="1250" b="0" i="1" dirty="0">
                <a:solidFill>
                  <a:srgbClr val="7F7F7F"/>
                </a:solidFill>
                <a:latin typeface="Arial"/>
              </a:rPr>
              <a:t>=1 and full=0"</a:t>
            </a:r>
          </a:p>
          <a:p>
            <a:pPr algn="l">
              <a:spcBef>
                <a:spcPts val="0"/>
              </a:spcBef>
              <a:spcAft>
                <a:spcPts val="0"/>
              </a:spcAft>
            </a:pPr>
            <a:r>
              <a:rPr sz="1350" b="1" i="0" dirty="0">
                <a:solidFill>
                  <a:srgbClr val="009999"/>
                </a:solidFill>
                <a:latin typeface="Arial"/>
              </a:rPr>
              <a:t>-&gt; </a:t>
            </a:r>
            <a:r>
              <a:rPr sz="1350" b="1" i="0" dirty="0">
                <a:solidFill>
                  <a:srgbClr val="262626"/>
                </a:solidFill>
                <a:latin typeface="Arial"/>
              </a:rPr>
              <a:t>FR-01: </a:t>
            </a:r>
            <a:r>
              <a:rPr sz="1350" b="1" i="0" dirty="0" err="1">
                <a:solidFill>
                  <a:srgbClr val="262626"/>
                </a:solidFill>
                <a:latin typeface="Arial"/>
              </a:rPr>
              <a:t>wr_en</a:t>
            </a:r>
            <a:r>
              <a:rPr sz="1350" b="1" i="0" dirty="0">
                <a:solidFill>
                  <a:srgbClr val="262626"/>
                </a:solidFill>
                <a:latin typeface="Arial"/>
              </a:rPr>
              <a:t>=1, full=0 -&gt; </a:t>
            </a:r>
            <a:r>
              <a:rPr sz="1350" b="1" i="0" dirty="0" err="1">
                <a:solidFill>
                  <a:srgbClr val="262626"/>
                </a:solidFill>
                <a:latin typeface="Arial"/>
              </a:rPr>
              <a:t>data_in</a:t>
            </a:r>
            <a:r>
              <a:rPr sz="1350" b="1" i="0" dirty="0">
                <a:solidFill>
                  <a:srgbClr val="262626"/>
                </a:solidFill>
                <a:latin typeface="Arial"/>
              </a:rPr>
              <a:t> stored at next rising edge</a:t>
            </a:r>
          </a:p>
        </p:txBody>
      </p:sp>
      <p:sp>
        <p:nvSpPr>
          <p:cNvPr id="12" name="TextBox 11"/>
          <p:cNvSpPr txBox="1"/>
          <p:nvPr/>
        </p:nvSpPr>
        <p:spPr>
          <a:xfrm>
            <a:off x="457200" y="2679191"/>
            <a:ext cx="6126480" cy="822960"/>
          </a:xfrm>
          <a:prstGeom prst="rect">
            <a:avLst/>
          </a:prstGeom>
          <a:noFill/>
        </p:spPr>
        <p:txBody>
          <a:bodyPr wrap="square" anchor="t">
            <a:spAutoFit/>
          </a:bodyPr>
          <a:lstStyle/>
          <a:p>
            <a:endParaRPr/>
          </a:p>
          <a:p>
            <a:pPr algn="l">
              <a:spcBef>
                <a:spcPts val="0"/>
              </a:spcBef>
              <a:spcAft>
                <a:spcPts val="300"/>
              </a:spcAft>
            </a:pPr>
            <a:r>
              <a:rPr sz="1250" b="0" i="1">
                <a:solidFill>
                  <a:srgbClr val="7F7F7F"/>
                </a:solidFill>
                <a:latin typeface="Arial"/>
              </a:rPr>
              <a:t>"FIFO ordering is first-in-first-out"</a:t>
            </a:r>
          </a:p>
          <a:p>
            <a:pPr algn="l">
              <a:spcBef>
                <a:spcPts val="0"/>
              </a:spcBef>
              <a:spcAft>
                <a:spcPts val="0"/>
              </a:spcAft>
            </a:pPr>
            <a:r>
              <a:rPr sz="1350" b="1" i="0">
                <a:solidFill>
                  <a:srgbClr val="009999"/>
                </a:solidFill>
                <a:latin typeface="Arial"/>
              </a:rPr>
              <a:t>-&gt; </a:t>
            </a:r>
            <a:r>
              <a:rPr sz="1350" b="1" i="0">
                <a:solidFill>
                  <a:srgbClr val="262626"/>
                </a:solidFill>
                <a:latin typeface="Arial"/>
              </a:rPr>
              <a:t>FR-03: Data is read out in exactly the order it was written</a:t>
            </a:r>
          </a:p>
        </p:txBody>
      </p:sp>
      <p:sp>
        <p:nvSpPr>
          <p:cNvPr id="13" name="TextBox 12"/>
          <p:cNvSpPr txBox="1"/>
          <p:nvPr/>
        </p:nvSpPr>
        <p:spPr>
          <a:xfrm>
            <a:off x="457200" y="3575303"/>
            <a:ext cx="6126480" cy="822960"/>
          </a:xfrm>
          <a:prstGeom prst="rect">
            <a:avLst/>
          </a:prstGeom>
          <a:noFill/>
        </p:spPr>
        <p:txBody>
          <a:bodyPr wrap="square" anchor="t">
            <a:spAutoFit/>
          </a:bodyPr>
          <a:lstStyle/>
          <a:p>
            <a:endParaRPr/>
          </a:p>
          <a:p>
            <a:pPr algn="l">
              <a:spcBef>
                <a:spcPts val="0"/>
              </a:spcBef>
              <a:spcAft>
                <a:spcPts val="300"/>
              </a:spcAft>
            </a:pPr>
            <a:r>
              <a:rPr sz="1250" b="0" i="1">
                <a:solidFill>
                  <a:srgbClr val="7F7F7F"/>
                </a:solidFill>
                <a:latin typeface="Arial"/>
              </a:rPr>
              <a:t>"Reset clears all entries"</a:t>
            </a:r>
          </a:p>
          <a:p>
            <a:pPr algn="l">
              <a:spcBef>
                <a:spcPts val="0"/>
              </a:spcBef>
              <a:spcAft>
                <a:spcPts val="0"/>
              </a:spcAft>
            </a:pPr>
            <a:r>
              <a:rPr sz="1350" b="1" i="0">
                <a:solidFill>
                  <a:srgbClr val="009999"/>
                </a:solidFill>
                <a:latin typeface="Arial"/>
              </a:rPr>
              <a:t>-&gt; </a:t>
            </a:r>
            <a:r>
              <a:rPr sz="1350" b="1" i="0">
                <a:solidFill>
                  <a:srgbClr val="262626"/>
                </a:solidFill>
                <a:latin typeface="Arial"/>
              </a:rPr>
              <a:t>FR-04: After rst=1 for one cycle, empty=1, full=0, ptrs at zero</a:t>
            </a:r>
          </a:p>
        </p:txBody>
      </p:sp>
      <p:sp>
        <p:nvSpPr>
          <p:cNvPr id="14" name="Rounded Rectangle 13"/>
          <p:cNvSpPr/>
          <p:nvPr/>
        </p:nvSpPr>
        <p:spPr>
          <a:xfrm>
            <a:off x="457200" y="4617720"/>
            <a:ext cx="6126480" cy="868680"/>
          </a:xfrm>
          <a:prstGeom prst="roundRect">
            <a:avLst/>
          </a:prstGeom>
          <a:solidFill>
            <a:srgbClr val="009999"/>
          </a:solidFill>
          <a:ln w="19050">
            <a:solidFill>
              <a:srgbClr val="009999"/>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1700" b="1" i="0" dirty="0">
                <a:solidFill>
                  <a:srgbClr val="FFFFFF"/>
                </a:solidFill>
                <a:latin typeface="Arial"/>
              </a:rPr>
              <a:t>If you cannot write a test for it, it is not a requirement yet.</a:t>
            </a:r>
          </a:p>
        </p:txBody>
      </p:sp>
      <p:sp>
        <p:nvSpPr>
          <p:cNvPr id="15" name="Rounded Rectangle 14"/>
          <p:cNvSpPr/>
          <p:nvPr/>
        </p:nvSpPr>
        <p:spPr>
          <a:xfrm>
            <a:off x="7635240" y="1325880"/>
            <a:ext cx="3291840" cy="868680"/>
          </a:xfrm>
          <a:prstGeom prst="roundRect">
            <a:avLst/>
          </a:prstGeom>
          <a:solidFill>
            <a:srgbClr val="BFE6E6"/>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1400" b="1" i="0">
                <a:solidFill>
                  <a:srgbClr val="262626"/>
                </a:solidFill>
                <a:latin typeface="Arial"/>
              </a:rPr>
              <a:t>Prose (ambiguous)</a:t>
            </a:r>
          </a:p>
        </p:txBody>
      </p:sp>
      <p:sp>
        <p:nvSpPr>
          <p:cNvPr id="16" name="Rounded Rectangle 15"/>
          <p:cNvSpPr/>
          <p:nvPr/>
        </p:nvSpPr>
        <p:spPr>
          <a:xfrm>
            <a:off x="6858000" y="1508760"/>
            <a:ext cx="427482" cy="566928"/>
          </a:xfrm>
          <a:prstGeom prst="roundRect">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endParaRPr/>
          </a:p>
        </p:txBody>
      </p:sp>
      <p:cxnSp>
        <p:nvCxnSpPr>
          <p:cNvPr id="17" name="Connector 16"/>
          <p:cNvCxnSpPr/>
          <p:nvPr/>
        </p:nvCxnSpPr>
        <p:spPr>
          <a:xfrm>
            <a:off x="6931152" y="1655063"/>
            <a:ext cx="281178" cy="0"/>
          </a:xfrm>
          <a:prstGeom prst="line">
            <a:avLst/>
          </a:prstGeom>
          <a:ln w="15875">
            <a:solidFill>
              <a:srgbClr val="7F7F7F"/>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6931152" y="1792223"/>
            <a:ext cx="281178" cy="0"/>
          </a:xfrm>
          <a:prstGeom prst="line">
            <a:avLst/>
          </a:prstGeom>
          <a:ln w="15875">
            <a:solidFill>
              <a:srgbClr val="7F7F7F"/>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6931152" y="1929384"/>
            <a:ext cx="281178" cy="0"/>
          </a:xfrm>
          <a:prstGeom prst="line">
            <a:avLst/>
          </a:prstGeom>
          <a:ln w="15875">
            <a:solidFill>
              <a:srgbClr val="7F7F7F"/>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9281160" y="2212848"/>
            <a:ext cx="0" cy="283464"/>
          </a:xfrm>
          <a:prstGeom prst="line">
            <a:avLst/>
          </a:prstGeom>
          <a:ln w="25400">
            <a:solidFill>
              <a:srgbClr val="009999"/>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7635240" y="2514600"/>
            <a:ext cx="3291840" cy="868680"/>
          </a:xfrm>
          <a:prstGeom prst="roundRect">
            <a:avLst/>
          </a:prstGeom>
          <a:solidFill>
            <a:srgbClr val="009999"/>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1400" b="1" i="0">
                <a:solidFill>
                  <a:srgbClr val="FFFFFF"/>
                </a:solidFill>
                <a:latin typeface="Arial"/>
              </a:rPr>
              <a:t>Requirement (testable)</a:t>
            </a:r>
          </a:p>
        </p:txBody>
      </p:sp>
      <p:sp>
        <p:nvSpPr>
          <p:cNvPr id="22" name="Rounded Rectangle 21"/>
          <p:cNvSpPr/>
          <p:nvPr/>
        </p:nvSpPr>
        <p:spPr>
          <a:xfrm>
            <a:off x="6858000" y="2697479"/>
            <a:ext cx="427482" cy="647403"/>
          </a:xfrm>
          <a:prstGeom prst="roundRect">
            <a:avLst/>
          </a:prstGeom>
          <a:solidFill>
            <a:srgbClr val="FFFFFF"/>
          </a:solidFill>
          <a:ln w="15875">
            <a:solidFill>
              <a:srgbClr val="009999"/>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endParaRPr/>
          </a:p>
        </p:txBody>
      </p:sp>
      <p:cxnSp>
        <p:nvCxnSpPr>
          <p:cNvPr id="23" name="Connector 22"/>
          <p:cNvCxnSpPr/>
          <p:nvPr/>
        </p:nvCxnSpPr>
        <p:spPr>
          <a:xfrm>
            <a:off x="6931152" y="2889504"/>
            <a:ext cx="82296" cy="64008"/>
          </a:xfrm>
          <a:prstGeom prst="line">
            <a:avLst/>
          </a:prstGeom>
          <a:ln w="22225">
            <a:solidFill>
              <a:srgbClr val="009999"/>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7013448" y="2788920"/>
            <a:ext cx="155448" cy="164592"/>
          </a:xfrm>
          <a:prstGeom prst="line">
            <a:avLst/>
          </a:prstGeom>
          <a:ln w="22225">
            <a:solidFill>
              <a:srgbClr val="009999"/>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6931152" y="3035808"/>
            <a:ext cx="82296" cy="64008"/>
          </a:xfrm>
          <a:prstGeom prst="line">
            <a:avLst/>
          </a:prstGeom>
          <a:ln w="22225">
            <a:solidFill>
              <a:srgbClr val="009999"/>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7013448" y="2935224"/>
            <a:ext cx="155448" cy="164592"/>
          </a:xfrm>
          <a:prstGeom prst="line">
            <a:avLst/>
          </a:prstGeom>
          <a:ln w="22225">
            <a:solidFill>
              <a:srgbClr val="009999"/>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6931152" y="3182112"/>
            <a:ext cx="82296" cy="64008"/>
          </a:xfrm>
          <a:prstGeom prst="line">
            <a:avLst/>
          </a:prstGeom>
          <a:ln w="22225">
            <a:solidFill>
              <a:srgbClr val="009999"/>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7013448" y="3081528"/>
            <a:ext cx="155448" cy="164592"/>
          </a:xfrm>
          <a:prstGeom prst="line">
            <a:avLst/>
          </a:prstGeom>
          <a:ln w="22225">
            <a:solidFill>
              <a:srgbClr val="009999"/>
            </a:solidFill>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9281160" y="3401568"/>
            <a:ext cx="0" cy="283464"/>
          </a:xfrm>
          <a:prstGeom prst="line">
            <a:avLst/>
          </a:prstGeom>
          <a:ln w="25400">
            <a:solidFill>
              <a:srgbClr val="009999"/>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7635240" y="3703320"/>
            <a:ext cx="3291840" cy="868680"/>
          </a:xfrm>
          <a:prstGeom prst="roundRect">
            <a:avLst/>
          </a:prstGeom>
          <a:solidFill>
            <a:srgbClr val="006E6E"/>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1400" b="1" i="0">
                <a:solidFill>
                  <a:srgbClr val="FFFFFF"/>
                </a:solidFill>
                <a:latin typeface="Arial"/>
              </a:rPr>
              <a:t>Test (executable)</a:t>
            </a:r>
          </a:p>
        </p:txBody>
      </p:sp>
      <p:sp>
        <p:nvSpPr>
          <p:cNvPr id="31" name="Oval 30"/>
          <p:cNvSpPr/>
          <p:nvPr/>
        </p:nvSpPr>
        <p:spPr>
          <a:xfrm>
            <a:off x="6792686" y="3840481"/>
            <a:ext cx="522514" cy="502919"/>
          </a:xfrm>
          <a:prstGeom prst="ellipse">
            <a:avLst/>
          </a:prstGeom>
          <a:solidFill>
            <a:srgbClr val="006E6E"/>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endParaRPr/>
          </a:p>
        </p:txBody>
      </p:sp>
      <p:sp>
        <p:nvSpPr>
          <p:cNvPr id="32" name="Isosceles Triangle 31"/>
          <p:cNvSpPr/>
          <p:nvPr/>
        </p:nvSpPr>
        <p:spPr>
          <a:xfrm rot="5400000">
            <a:off x="6967728" y="3977639"/>
            <a:ext cx="256032" cy="217627"/>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635240" y="4892040"/>
            <a:ext cx="3291840" cy="548640"/>
          </a:xfrm>
          <a:prstGeom prst="rect">
            <a:avLst/>
          </a:prstGeom>
          <a:noFill/>
        </p:spPr>
        <p:txBody>
          <a:bodyPr wrap="square" anchor="t">
            <a:spAutoFit/>
          </a:bodyPr>
          <a:lstStyle/>
          <a:p>
            <a:pPr algn="ctr"/>
            <a:r>
              <a:rPr sz="1100" i="1" dirty="0">
                <a:solidFill>
                  <a:srgbClr val="7F7F7F"/>
                </a:solidFill>
                <a:latin typeface="Arial"/>
              </a:rPr>
              <a:t>Ambiguity in, executable check out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84048"/>
            <a:ext cx="10607040" cy="685800"/>
          </a:xfrm>
          <a:prstGeom prst="rect">
            <a:avLst/>
          </a:prstGeom>
          <a:noFill/>
        </p:spPr>
        <p:txBody>
          <a:bodyPr wrap="square">
            <a:spAutoFit/>
          </a:bodyPr>
          <a:lstStyle/>
          <a:p>
            <a:r>
              <a:rPr sz="2800" b="1">
                <a:solidFill>
                  <a:srgbClr val="009999"/>
                </a:solidFill>
                <a:latin typeface="Arial"/>
              </a:rPr>
              <a:t>Requirements vs Corner Cases</a:t>
            </a:r>
          </a:p>
        </p:txBody>
      </p:sp>
      <p:sp>
        <p:nvSpPr>
          <p:cNvPr id="3" name="TextBox 2"/>
          <p:cNvSpPr txBox="1"/>
          <p:nvPr/>
        </p:nvSpPr>
        <p:spPr>
          <a:xfrm>
            <a:off x="365760" y="6446520"/>
            <a:ext cx="11521440" cy="292608"/>
          </a:xfrm>
          <a:prstGeom prst="rect">
            <a:avLst/>
          </a:prstGeom>
          <a:noFill/>
        </p:spPr>
        <p:txBody>
          <a:bodyPr wrap="none">
            <a:spAutoFit/>
          </a:bodyPr>
          <a:lstStyle/>
          <a:p>
            <a:r>
              <a:rPr sz="900">
                <a:solidFill>
                  <a:srgbClr val="7F7F7F"/>
                </a:solidFill>
                <a:latin typeface="Arial"/>
              </a:rPr>
              <a:t>Restricted | (c) Siemens 2026 | Prajwal Matukumalli | DISW EDA | 2026-09-09</a:t>
            </a:r>
          </a:p>
        </p:txBody>
      </p:sp>
      <p:sp>
        <p:nvSpPr>
          <p:cNvPr id="4" name="Oval 3"/>
          <p:cNvSpPr/>
          <p:nvPr/>
        </p:nvSpPr>
        <p:spPr>
          <a:xfrm>
            <a:off x="10125151" y="256032"/>
            <a:ext cx="146304" cy="146304"/>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0417759" y="256032"/>
            <a:ext cx="146304" cy="146304"/>
          </a:xfrm>
          <a:prstGeom prst="ellipse">
            <a:avLst/>
          </a:prstGeom>
          <a:solidFill>
            <a:srgbClr val="00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0710367" y="256032"/>
            <a:ext cx="146304" cy="146304"/>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1002975" y="256032"/>
            <a:ext cx="146304" cy="146304"/>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1295583" y="256032"/>
            <a:ext cx="146304" cy="146304"/>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1588191" y="256032"/>
            <a:ext cx="146304" cy="146304"/>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57200" y="1234440"/>
            <a:ext cx="2971800" cy="384048"/>
          </a:xfrm>
          <a:prstGeom prst="rect">
            <a:avLst/>
          </a:prstGeom>
          <a:solidFill>
            <a:srgbClr val="009999"/>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1150" b="1" i="0">
                <a:solidFill>
                  <a:srgbClr val="FFFFFF"/>
                </a:solidFill>
                <a:latin typeface="Arial"/>
              </a:rPr>
              <a:t>FUNCTIONAL REQUIREMENTS</a:t>
            </a:r>
          </a:p>
        </p:txBody>
      </p:sp>
      <p:sp>
        <p:nvSpPr>
          <p:cNvPr id="11" name="TextBox 10"/>
          <p:cNvSpPr txBox="1"/>
          <p:nvPr/>
        </p:nvSpPr>
        <p:spPr>
          <a:xfrm>
            <a:off x="457200" y="1645920"/>
            <a:ext cx="2971800" cy="274320"/>
          </a:xfrm>
          <a:prstGeom prst="rect">
            <a:avLst/>
          </a:prstGeom>
          <a:noFill/>
        </p:spPr>
        <p:txBody>
          <a:bodyPr wrap="square" anchor="t">
            <a:spAutoFit/>
          </a:bodyPr>
          <a:lstStyle/>
          <a:p>
            <a:r>
              <a:rPr sz="1050" i="1">
                <a:solidFill>
                  <a:srgbClr val="7F7F7F"/>
                </a:solidFill>
                <a:latin typeface="Arial"/>
              </a:rPr>
              <a:t>The design doing its job</a:t>
            </a:r>
          </a:p>
        </p:txBody>
      </p:sp>
      <p:sp>
        <p:nvSpPr>
          <p:cNvPr id="12" name="TextBox 11"/>
          <p:cNvSpPr txBox="1"/>
          <p:nvPr/>
        </p:nvSpPr>
        <p:spPr>
          <a:xfrm>
            <a:off x="457200" y="1965960"/>
            <a:ext cx="2971800" cy="1737360"/>
          </a:xfrm>
          <a:prstGeom prst="rect">
            <a:avLst/>
          </a:prstGeom>
          <a:noFill/>
        </p:spPr>
        <p:txBody>
          <a:bodyPr wrap="square" anchor="t">
            <a:spAutoFit/>
          </a:bodyPr>
          <a:lstStyle/>
          <a:p>
            <a:endParaRPr/>
          </a:p>
          <a:p>
            <a:pPr algn="l">
              <a:lnSpc>
                <a:spcPct val="105000"/>
              </a:lnSpc>
              <a:spcBef>
                <a:spcPts val="0"/>
              </a:spcBef>
              <a:spcAft>
                <a:spcPts val="900"/>
              </a:spcAft>
            </a:pPr>
            <a:r>
              <a:rPr sz="1200" b="0" i="0">
                <a:solidFill>
                  <a:srgbClr val="262626"/>
                </a:solidFill>
                <a:latin typeface="Arial"/>
              </a:rPr>
              <a:t>•  FR-01  Write succeeds when not full</a:t>
            </a:r>
          </a:p>
          <a:p>
            <a:pPr algn="l">
              <a:lnSpc>
                <a:spcPct val="105000"/>
              </a:lnSpc>
              <a:spcBef>
                <a:spcPts val="0"/>
              </a:spcBef>
              <a:spcAft>
                <a:spcPts val="900"/>
              </a:spcAft>
            </a:pPr>
            <a:r>
              <a:rPr sz="1200" b="0" i="0">
                <a:solidFill>
                  <a:srgbClr val="262626"/>
                </a:solidFill>
                <a:latin typeface="Arial"/>
              </a:rPr>
              <a:t>•  FR-02  Read succeeds when not empty</a:t>
            </a:r>
          </a:p>
          <a:p>
            <a:pPr algn="l">
              <a:lnSpc>
                <a:spcPct val="105000"/>
              </a:lnSpc>
              <a:spcBef>
                <a:spcPts val="0"/>
              </a:spcBef>
              <a:spcAft>
                <a:spcPts val="900"/>
              </a:spcAft>
            </a:pPr>
            <a:r>
              <a:rPr sz="1200" b="0" i="0">
                <a:solidFill>
                  <a:srgbClr val="262626"/>
                </a:solidFill>
                <a:latin typeface="Arial"/>
              </a:rPr>
              <a:t>•  FR-03  Ordering preserved</a:t>
            </a:r>
          </a:p>
          <a:p>
            <a:pPr algn="l">
              <a:lnSpc>
                <a:spcPct val="105000"/>
              </a:lnSpc>
              <a:spcBef>
                <a:spcPts val="0"/>
              </a:spcBef>
              <a:spcAft>
                <a:spcPts val="900"/>
              </a:spcAft>
            </a:pPr>
            <a:r>
              <a:rPr sz="1200" b="0" i="0">
                <a:solidFill>
                  <a:srgbClr val="262626"/>
                </a:solidFill>
                <a:latin typeface="Arial"/>
              </a:rPr>
              <a:t>•  FR-04  Reset clears the FIFO</a:t>
            </a:r>
          </a:p>
        </p:txBody>
      </p:sp>
      <p:sp>
        <p:nvSpPr>
          <p:cNvPr id="13" name="Rectangle 12"/>
          <p:cNvSpPr/>
          <p:nvPr/>
        </p:nvSpPr>
        <p:spPr>
          <a:xfrm>
            <a:off x="3611880" y="1234440"/>
            <a:ext cx="2971800" cy="384048"/>
          </a:xfrm>
          <a:prstGeom prst="rect">
            <a:avLst/>
          </a:prstGeom>
          <a:solidFill>
            <a:srgbClr val="E8792E"/>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1150" b="1" i="0">
                <a:solidFill>
                  <a:srgbClr val="FFFFFF"/>
                </a:solidFill>
                <a:latin typeface="Arial"/>
              </a:rPr>
              <a:t>CORNER CASES</a:t>
            </a:r>
          </a:p>
        </p:txBody>
      </p:sp>
      <p:sp>
        <p:nvSpPr>
          <p:cNvPr id="14" name="TextBox 13"/>
          <p:cNvSpPr txBox="1"/>
          <p:nvPr/>
        </p:nvSpPr>
        <p:spPr>
          <a:xfrm>
            <a:off x="3611880" y="1645920"/>
            <a:ext cx="2971800" cy="274320"/>
          </a:xfrm>
          <a:prstGeom prst="rect">
            <a:avLst/>
          </a:prstGeom>
          <a:noFill/>
        </p:spPr>
        <p:txBody>
          <a:bodyPr wrap="square" anchor="t">
            <a:spAutoFit/>
          </a:bodyPr>
          <a:lstStyle/>
          <a:p>
            <a:r>
              <a:rPr sz="1050" i="1" dirty="0">
                <a:solidFill>
                  <a:srgbClr val="7F7F7F"/>
                </a:solidFill>
                <a:latin typeface="Arial"/>
              </a:rPr>
              <a:t>The design pushed to its limits</a:t>
            </a:r>
          </a:p>
        </p:txBody>
      </p:sp>
      <p:sp>
        <p:nvSpPr>
          <p:cNvPr id="15" name="TextBox 14"/>
          <p:cNvSpPr txBox="1"/>
          <p:nvPr/>
        </p:nvSpPr>
        <p:spPr>
          <a:xfrm>
            <a:off x="3611880" y="1965960"/>
            <a:ext cx="2971800" cy="2011680"/>
          </a:xfrm>
          <a:prstGeom prst="rect">
            <a:avLst/>
          </a:prstGeom>
          <a:noFill/>
        </p:spPr>
        <p:txBody>
          <a:bodyPr wrap="square" anchor="t">
            <a:spAutoFit/>
          </a:bodyPr>
          <a:lstStyle/>
          <a:p>
            <a:endParaRPr dirty="0"/>
          </a:p>
          <a:p>
            <a:pPr algn="l">
              <a:lnSpc>
                <a:spcPct val="105000"/>
              </a:lnSpc>
              <a:spcBef>
                <a:spcPts val="0"/>
              </a:spcBef>
              <a:spcAft>
                <a:spcPts val="800"/>
              </a:spcAft>
            </a:pPr>
            <a:r>
              <a:rPr sz="1200" b="0" i="0" dirty="0">
                <a:solidFill>
                  <a:srgbClr val="262626"/>
                </a:solidFill>
                <a:latin typeface="Arial"/>
              </a:rPr>
              <a:t>•  CC-01  Write attempted when full</a:t>
            </a:r>
          </a:p>
          <a:p>
            <a:pPr algn="l">
              <a:lnSpc>
                <a:spcPct val="105000"/>
              </a:lnSpc>
              <a:spcBef>
                <a:spcPts val="0"/>
              </a:spcBef>
              <a:spcAft>
                <a:spcPts val="800"/>
              </a:spcAft>
            </a:pPr>
            <a:r>
              <a:rPr sz="1200" b="0" i="0" dirty="0">
                <a:solidFill>
                  <a:srgbClr val="262626"/>
                </a:solidFill>
                <a:latin typeface="Arial"/>
              </a:rPr>
              <a:t>•  CC-02  Read attempted when empty</a:t>
            </a:r>
          </a:p>
          <a:p>
            <a:pPr algn="l">
              <a:lnSpc>
                <a:spcPct val="105000"/>
              </a:lnSpc>
              <a:spcBef>
                <a:spcPts val="0"/>
              </a:spcBef>
              <a:spcAft>
                <a:spcPts val="800"/>
              </a:spcAft>
            </a:pPr>
            <a:r>
              <a:rPr sz="1200" b="0" i="0" dirty="0">
                <a:solidFill>
                  <a:srgbClr val="262626"/>
                </a:solidFill>
                <a:latin typeface="Arial"/>
              </a:rPr>
              <a:t>•  CC-03  </a:t>
            </a:r>
            <a:r>
              <a:rPr sz="1200" b="0" i="0" dirty="0" err="1">
                <a:solidFill>
                  <a:srgbClr val="262626"/>
                </a:solidFill>
                <a:latin typeface="Arial"/>
              </a:rPr>
              <a:t>Read+write</a:t>
            </a:r>
            <a:r>
              <a:rPr sz="1200" b="0" i="0" dirty="0">
                <a:solidFill>
                  <a:srgbClr val="262626"/>
                </a:solidFill>
                <a:latin typeface="Arial"/>
              </a:rPr>
              <a:t> same cycle, 1 entry</a:t>
            </a:r>
          </a:p>
          <a:p>
            <a:pPr algn="l">
              <a:lnSpc>
                <a:spcPct val="105000"/>
              </a:lnSpc>
              <a:spcBef>
                <a:spcPts val="0"/>
              </a:spcBef>
              <a:spcAft>
                <a:spcPts val="800"/>
              </a:spcAft>
            </a:pPr>
            <a:r>
              <a:rPr sz="1200" b="0" i="0" dirty="0">
                <a:solidFill>
                  <a:srgbClr val="262626"/>
                </a:solidFill>
                <a:latin typeface="Arial"/>
              </a:rPr>
              <a:t>•  CC-04  Reset asserted mid-write</a:t>
            </a:r>
          </a:p>
          <a:p>
            <a:pPr algn="l">
              <a:lnSpc>
                <a:spcPct val="105000"/>
              </a:lnSpc>
              <a:spcBef>
                <a:spcPts val="0"/>
              </a:spcBef>
              <a:spcAft>
                <a:spcPts val="800"/>
              </a:spcAft>
            </a:pPr>
            <a:r>
              <a:rPr sz="1200" b="0" i="0" dirty="0">
                <a:solidFill>
                  <a:srgbClr val="262626"/>
                </a:solidFill>
                <a:latin typeface="Arial"/>
              </a:rPr>
              <a:t>•  CC-05  Pointer wrap after 1000 cycles</a:t>
            </a:r>
          </a:p>
        </p:txBody>
      </p:sp>
      <p:sp>
        <p:nvSpPr>
          <p:cNvPr id="16" name="TextBox 15"/>
          <p:cNvSpPr txBox="1"/>
          <p:nvPr/>
        </p:nvSpPr>
        <p:spPr>
          <a:xfrm>
            <a:off x="457200" y="5074920"/>
            <a:ext cx="7055922" cy="592470"/>
          </a:xfrm>
          <a:prstGeom prst="rect">
            <a:avLst/>
          </a:prstGeom>
          <a:noFill/>
        </p:spPr>
        <p:txBody>
          <a:bodyPr wrap="square" anchor="t">
            <a:spAutoFit/>
          </a:bodyPr>
          <a:lstStyle/>
          <a:p>
            <a:endParaRPr dirty="0"/>
          </a:p>
          <a:p>
            <a:pPr algn="l">
              <a:spcBef>
                <a:spcPts val="0"/>
              </a:spcBef>
              <a:spcAft>
                <a:spcPts val="0"/>
              </a:spcAft>
            </a:pPr>
            <a:r>
              <a:rPr sz="1450" b="1" i="0" dirty="0">
                <a:solidFill>
                  <a:srgbClr val="262626"/>
                </a:solidFill>
                <a:latin typeface="Arial"/>
              </a:rPr>
              <a:t>Corner cases come from two places: boundaries and simultaneous events.</a:t>
            </a:r>
          </a:p>
        </p:txBody>
      </p:sp>
      <p:sp>
        <p:nvSpPr>
          <p:cNvPr id="17" name="Oval 16"/>
          <p:cNvSpPr/>
          <p:nvPr/>
        </p:nvSpPr>
        <p:spPr>
          <a:xfrm>
            <a:off x="7086600" y="1691640"/>
            <a:ext cx="2514600" cy="2514600"/>
          </a:xfrm>
          <a:prstGeom prst="ellipse">
            <a:avLst/>
          </a:prstGeom>
          <a:solidFill>
            <a:srgbClr val="009999">
              <a:alpha val="45000"/>
            </a:srgbClr>
          </a:solidFill>
          <a:ln w="12700">
            <a:solidFill>
              <a:srgbClr val="00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8641080" y="1691640"/>
            <a:ext cx="2514600" cy="2514600"/>
          </a:xfrm>
          <a:prstGeom prst="ellipse">
            <a:avLst/>
          </a:prstGeom>
          <a:solidFill>
            <a:srgbClr val="009999">
              <a:alpha val="45000"/>
            </a:srgbClr>
          </a:solidFill>
          <a:ln w="12700">
            <a:solidFill>
              <a:srgbClr val="00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8641080" y="2464308"/>
            <a:ext cx="960120" cy="960120"/>
          </a:xfrm>
          <a:prstGeom prst="ellipse">
            <a:avLst/>
          </a:prstGeom>
          <a:solidFill>
            <a:srgbClr val="E87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dirty="0">
                <a:solidFill>
                  <a:srgbClr val="FFFFFF"/>
                </a:solidFill>
                <a:latin typeface="Arial"/>
              </a:rPr>
              <a:t>CC-01</a:t>
            </a:r>
          </a:p>
        </p:txBody>
      </p:sp>
      <p:sp>
        <p:nvSpPr>
          <p:cNvPr id="20" name="TextBox 19"/>
          <p:cNvSpPr txBox="1"/>
          <p:nvPr/>
        </p:nvSpPr>
        <p:spPr>
          <a:xfrm>
            <a:off x="6949440" y="2811780"/>
            <a:ext cx="1417320" cy="365760"/>
          </a:xfrm>
          <a:prstGeom prst="rect">
            <a:avLst/>
          </a:prstGeom>
          <a:noFill/>
        </p:spPr>
        <p:txBody>
          <a:bodyPr wrap="square" anchor="t">
            <a:spAutoFit/>
          </a:bodyPr>
          <a:lstStyle/>
          <a:p>
            <a:pPr algn="ctr"/>
            <a:r>
              <a:rPr sz="1200" b="1">
                <a:solidFill>
                  <a:srgbClr val="006E6E"/>
                </a:solidFill>
                <a:latin typeface="Arial"/>
              </a:rPr>
              <a:t>wr_en = 1</a:t>
            </a:r>
          </a:p>
        </p:txBody>
      </p:sp>
      <p:sp>
        <p:nvSpPr>
          <p:cNvPr id="21" name="TextBox 20"/>
          <p:cNvSpPr txBox="1"/>
          <p:nvPr/>
        </p:nvSpPr>
        <p:spPr>
          <a:xfrm>
            <a:off x="9601200" y="2811780"/>
            <a:ext cx="1417320" cy="365760"/>
          </a:xfrm>
          <a:prstGeom prst="rect">
            <a:avLst/>
          </a:prstGeom>
          <a:noFill/>
        </p:spPr>
        <p:txBody>
          <a:bodyPr wrap="square" anchor="t">
            <a:spAutoFit/>
          </a:bodyPr>
          <a:lstStyle/>
          <a:p>
            <a:pPr algn="ctr"/>
            <a:r>
              <a:rPr sz="1200" b="1" dirty="0">
                <a:solidFill>
                  <a:srgbClr val="006E6E"/>
                </a:solidFill>
                <a:latin typeface="Arial"/>
              </a:rPr>
              <a:t>full = 1</a:t>
            </a:r>
          </a:p>
        </p:txBody>
      </p:sp>
      <p:sp>
        <p:nvSpPr>
          <p:cNvPr id="22" name="TextBox 21"/>
          <p:cNvSpPr txBox="1"/>
          <p:nvPr/>
        </p:nvSpPr>
        <p:spPr>
          <a:xfrm>
            <a:off x="6812280" y="4343400"/>
            <a:ext cx="4343400" cy="365760"/>
          </a:xfrm>
          <a:prstGeom prst="rect">
            <a:avLst/>
          </a:prstGeom>
          <a:noFill/>
        </p:spPr>
        <p:txBody>
          <a:bodyPr wrap="square" anchor="t">
            <a:spAutoFit/>
          </a:bodyPr>
          <a:lstStyle/>
          <a:p>
            <a:pPr algn="ctr"/>
            <a:r>
              <a:rPr sz="1300" b="1" i="1">
                <a:solidFill>
                  <a:srgbClr val="E8792E"/>
                </a:solidFill>
                <a:latin typeface="Arial"/>
              </a:rPr>
              <a:t>Bugs live in the overlap.</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84048"/>
            <a:ext cx="10607040" cy="685800"/>
          </a:xfrm>
          <a:prstGeom prst="rect">
            <a:avLst/>
          </a:prstGeom>
          <a:noFill/>
        </p:spPr>
        <p:txBody>
          <a:bodyPr wrap="square">
            <a:spAutoFit/>
          </a:bodyPr>
          <a:lstStyle/>
          <a:p>
            <a:r>
              <a:rPr sz="2800" b="1">
                <a:solidFill>
                  <a:srgbClr val="009999"/>
                </a:solidFill>
                <a:latin typeface="Arial"/>
              </a:rPr>
              <a:t>Verification Plan vs Test Plan</a:t>
            </a:r>
          </a:p>
        </p:txBody>
      </p:sp>
      <p:sp>
        <p:nvSpPr>
          <p:cNvPr id="3" name="TextBox 2"/>
          <p:cNvSpPr txBox="1"/>
          <p:nvPr/>
        </p:nvSpPr>
        <p:spPr>
          <a:xfrm>
            <a:off x="365760" y="6446520"/>
            <a:ext cx="11521440" cy="292608"/>
          </a:xfrm>
          <a:prstGeom prst="rect">
            <a:avLst/>
          </a:prstGeom>
          <a:noFill/>
        </p:spPr>
        <p:txBody>
          <a:bodyPr wrap="none">
            <a:spAutoFit/>
          </a:bodyPr>
          <a:lstStyle/>
          <a:p>
            <a:r>
              <a:rPr sz="900">
                <a:solidFill>
                  <a:srgbClr val="7F7F7F"/>
                </a:solidFill>
                <a:latin typeface="Arial"/>
              </a:rPr>
              <a:t>Restricted | (c) Siemens 2026 | Prajwal Matukumalli | DISW EDA | 2026-09-09</a:t>
            </a:r>
          </a:p>
        </p:txBody>
      </p:sp>
      <p:sp>
        <p:nvSpPr>
          <p:cNvPr id="4" name="Oval 3"/>
          <p:cNvSpPr/>
          <p:nvPr/>
        </p:nvSpPr>
        <p:spPr>
          <a:xfrm>
            <a:off x="10125151" y="256032"/>
            <a:ext cx="146304" cy="146304"/>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0417759" y="256032"/>
            <a:ext cx="146304" cy="146304"/>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0710367" y="256032"/>
            <a:ext cx="146304" cy="146304"/>
          </a:xfrm>
          <a:prstGeom prst="ellipse">
            <a:avLst/>
          </a:prstGeom>
          <a:solidFill>
            <a:srgbClr val="00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1002975" y="256032"/>
            <a:ext cx="146304" cy="146304"/>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1295583" y="256032"/>
            <a:ext cx="146304" cy="146304"/>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1588191" y="256032"/>
            <a:ext cx="146304" cy="146304"/>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457200" y="1188720"/>
            <a:ext cx="6126480" cy="1417320"/>
          </a:xfrm>
          <a:prstGeom prst="roundRect">
            <a:avLst/>
          </a:prstGeom>
          <a:solidFill>
            <a:srgbClr val="ECF7F7"/>
          </a:solidFill>
          <a:ln w="19050">
            <a:solidFill>
              <a:srgbClr val="009999"/>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endParaRPr dirty="0"/>
          </a:p>
          <a:p>
            <a:pPr algn="l">
              <a:spcBef>
                <a:spcPts val="0"/>
              </a:spcBef>
              <a:spcAft>
                <a:spcPts val="800"/>
              </a:spcAft>
            </a:pPr>
            <a:r>
              <a:rPr sz="1250" b="1" i="0" dirty="0">
                <a:solidFill>
                  <a:srgbClr val="006E6E"/>
                </a:solidFill>
                <a:latin typeface="Arial"/>
              </a:rPr>
              <a:t>Verification plan: </a:t>
            </a:r>
            <a:r>
              <a:rPr sz="1250" b="0" i="1" dirty="0">
                <a:solidFill>
                  <a:srgbClr val="262626"/>
                </a:solidFill>
                <a:latin typeface="Arial"/>
              </a:rPr>
              <a:t>"We will test the braking system."</a:t>
            </a:r>
          </a:p>
          <a:p>
            <a:pPr algn="l">
              <a:spcBef>
                <a:spcPts val="0"/>
              </a:spcBef>
              <a:spcAft>
                <a:spcPts val="0"/>
              </a:spcAft>
            </a:pPr>
            <a:r>
              <a:rPr sz="1250" b="1" i="0" dirty="0">
                <a:solidFill>
                  <a:srgbClr val="006E6E"/>
                </a:solidFill>
                <a:latin typeface="Arial"/>
              </a:rPr>
              <a:t>Test plan: </a:t>
            </a:r>
            <a:r>
              <a:rPr sz="1250" b="0" i="1" dirty="0">
                <a:solidFill>
                  <a:srgbClr val="262626"/>
                </a:solidFill>
                <a:latin typeface="Arial"/>
              </a:rPr>
              <a:t>"Brake at 60 km/h dry. Brake at 120 km/h wet, ABS off. Brake on ice at 40 km/h, loaded."</a:t>
            </a:r>
          </a:p>
        </p:txBody>
      </p:sp>
      <p:graphicFrame>
        <p:nvGraphicFramePr>
          <p:cNvPr id="11" name="Table 10"/>
          <p:cNvGraphicFramePr>
            <a:graphicFrameLocks noGrp="1"/>
          </p:cNvGraphicFramePr>
          <p:nvPr/>
        </p:nvGraphicFramePr>
        <p:xfrm>
          <a:off x="457200" y="2788920"/>
          <a:ext cx="6126480" cy="2304288"/>
        </p:xfrm>
        <a:graphic>
          <a:graphicData uri="http://schemas.openxmlformats.org/drawingml/2006/table">
            <a:tbl>
              <a:tblPr firstRow="1" bandRow="1">
                <a:tableStyleId>{5C22544A-7EE6-4342-B048-85BDC9FD1C3A}</a:tableStyleId>
              </a:tblPr>
              <a:tblGrid>
                <a:gridCol w="137160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tblGrid>
              <a:tr h="384048">
                <a:tc>
                  <a:txBody>
                    <a:bodyPr/>
                    <a:lstStyle/>
                    <a:p>
                      <a:pPr algn="l"/>
                      <a:endParaRPr/>
                    </a:p>
                  </a:txBody>
                  <a:tcPr marL="73152" marR="73152" marT="27432" marB="27432" anchor="ctr">
                    <a:solidFill>
                      <a:srgbClr val="009999"/>
                    </a:solidFill>
                  </a:tcPr>
                </a:tc>
                <a:tc>
                  <a:txBody>
                    <a:bodyPr/>
                    <a:lstStyle/>
                    <a:p>
                      <a:pPr algn="ctr"/>
                      <a:r>
                        <a:rPr sz="1200" b="1">
                          <a:solidFill>
                            <a:srgbClr val="FFFFFF"/>
                          </a:solidFill>
                          <a:latin typeface="Arial"/>
                        </a:rPr>
                        <a:t>Verification Plan</a:t>
                      </a:r>
                    </a:p>
                  </a:txBody>
                  <a:tcPr marL="73152" marR="73152" marT="27432" marB="27432" anchor="ctr">
                    <a:solidFill>
                      <a:srgbClr val="009999"/>
                    </a:solidFill>
                  </a:tcPr>
                </a:tc>
                <a:tc>
                  <a:txBody>
                    <a:bodyPr/>
                    <a:lstStyle/>
                    <a:p>
                      <a:pPr algn="ctr"/>
                      <a:r>
                        <a:rPr sz="1200" b="1">
                          <a:solidFill>
                            <a:srgbClr val="FFFFFF"/>
                          </a:solidFill>
                          <a:latin typeface="Arial"/>
                        </a:rPr>
                        <a:t>Test Plan</a:t>
                      </a:r>
                    </a:p>
                  </a:txBody>
                  <a:tcPr marL="73152" marR="73152" marT="27432" marB="27432" anchor="ctr">
                    <a:solidFill>
                      <a:srgbClr val="009999"/>
                    </a:solidFill>
                  </a:tcPr>
                </a:tc>
                <a:extLst>
                  <a:ext uri="{0D108BD9-81ED-4DB2-BD59-A6C34878D82A}">
                    <a16:rowId xmlns:a16="http://schemas.microsoft.com/office/drawing/2014/main" val="10000"/>
                  </a:ext>
                </a:extLst>
              </a:tr>
              <a:tr h="384048">
                <a:tc>
                  <a:txBody>
                    <a:bodyPr/>
                    <a:lstStyle/>
                    <a:p>
                      <a:pPr algn="l"/>
                      <a:r>
                        <a:rPr sz="1200" b="1">
                          <a:solidFill>
                            <a:srgbClr val="262626"/>
                          </a:solidFill>
                          <a:latin typeface="Arial"/>
                        </a:rPr>
                        <a:t>Level</a:t>
                      </a:r>
                    </a:p>
                  </a:txBody>
                  <a:tcPr marL="73152" marR="73152" marT="27432" marB="27432" anchor="ctr">
                    <a:solidFill>
                      <a:srgbClr val="F7F7F7"/>
                    </a:solidFill>
                  </a:tcPr>
                </a:tc>
                <a:tc>
                  <a:txBody>
                    <a:bodyPr/>
                    <a:lstStyle/>
                    <a:p>
                      <a:pPr algn="ctr"/>
                      <a:r>
                        <a:rPr sz="1200">
                          <a:latin typeface="Arial"/>
                        </a:rPr>
                        <a:t>Strategic - what and how</a:t>
                      </a:r>
                    </a:p>
                  </a:txBody>
                  <a:tcPr marL="73152" marR="73152" marT="27432" marB="27432" anchor="ctr">
                    <a:solidFill>
                      <a:srgbClr val="F7F7F7"/>
                    </a:solidFill>
                  </a:tcPr>
                </a:tc>
                <a:tc>
                  <a:txBody>
                    <a:bodyPr/>
                    <a:lstStyle/>
                    <a:p>
                      <a:pPr algn="ctr"/>
                      <a:r>
                        <a:rPr sz="1200">
                          <a:latin typeface="Arial"/>
                        </a:rPr>
                        <a:t>Tactical - specific cases</a:t>
                      </a:r>
                    </a:p>
                  </a:txBody>
                  <a:tcPr marL="73152" marR="73152" marT="27432" marB="27432" anchor="ctr">
                    <a:solidFill>
                      <a:srgbClr val="F7F7F7"/>
                    </a:solidFill>
                  </a:tcPr>
                </a:tc>
                <a:extLst>
                  <a:ext uri="{0D108BD9-81ED-4DB2-BD59-A6C34878D82A}">
                    <a16:rowId xmlns:a16="http://schemas.microsoft.com/office/drawing/2014/main" val="10001"/>
                  </a:ext>
                </a:extLst>
              </a:tr>
              <a:tr h="384048">
                <a:tc>
                  <a:txBody>
                    <a:bodyPr/>
                    <a:lstStyle/>
                    <a:p>
                      <a:pPr algn="l"/>
                      <a:r>
                        <a:rPr sz="1200" b="1">
                          <a:solidFill>
                            <a:srgbClr val="262626"/>
                          </a:solidFill>
                          <a:latin typeface="Arial"/>
                        </a:rPr>
                        <a:t>Granularity</a:t>
                      </a:r>
                    </a:p>
                  </a:txBody>
                  <a:tcPr marL="73152" marR="73152" marT="27432" marB="27432" anchor="ctr">
                    <a:solidFill>
                      <a:srgbClr val="FFFFFF"/>
                    </a:solidFill>
                  </a:tcPr>
                </a:tc>
                <a:tc>
                  <a:txBody>
                    <a:bodyPr/>
                    <a:lstStyle/>
                    <a:p>
                      <a:pPr algn="ctr"/>
                      <a:r>
                        <a:rPr sz="1200">
                          <a:latin typeface="Arial"/>
                        </a:rPr>
                        <a:t>Feature-level</a:t>
                      </a:r>
                    </a:p>
                  </a:txBody>
                  <a:tcPr marL="73152" marR="73152" marT="27432" marB="27432" anchor="ctr">
                    <a:solidFill>
                      <a:srgbClr val="FFFFFF"/>
                    </a:solidFill>
                  </a:tcPr>
                </a:tc>
                <a:tc>
                  <a:txBody>
                    <a:bodyPr/>
                    <a:lstStyle/>
                    <a:p>
                      <a:pPr algn="ctr"/>
                      <a:r>
                        <a:rPr sz="1200">
                          <a:latin typeface="Arial"/>
                        </a:rPr>
                        <a:t>Test-case-level</a:t>
                      </a:r>
                    </a:p>
                  </a:txBody>
                  <a:tcPr marL="73152" marR="73152" marT="27432" marB="27432" anchor="ctr">
                    <a:solidFill>
                      <a:srgbClr val="FFFFFF"/>
                    </a:solidFill>
                  </a:tcPr>
                </a:tc>
                <a:extLst>
                  <a:ext uri="{0D108BD9-81ED-4DB2-BD59-A6C34878D82A}">
                    <a16:rowId xmlns:a16="http://schemas.microsoft.com/office/drawing/2014/main" val="10002"/>
                  </a:ext>
                </a:extLst>
              </a:tr>
              <a:tr h="384048">
                <a:tc>
                  <a:txBody>
                    <a:bodyPr/>
                    <a:lstStyle/>
                    <a:p>
                      <a:pPr algn="l"/>
                      <a:r>
                        <a:rPr sz="1200" b="1">
                          <a:solidFill>
                            <a:srgbClr val="262626"/>
                          </a:solidFill>
                          <a:latin typeface="Arial"/>
                        </a:rPr>
                        <a:t>Author</a:t>
                      </a:r>
                    </a:p>
                  </a:txBody>
                  <a:tcPr marL="73152" marR="73152" marT="27432" marB="27432" anchor="ctr">
                    <a:solidFill>
                      <a:srgbClr val="F7F7F7"/>
                    </a:solidFill>
                  </a:tcPr>
                </a:tc>
                <a:tc>
                  <a:txBody>
                    <a:bodyPr/>
                    <a:lstStyle/>
                    <a:p>
                      <a:pPr algn="ctr"/>
                      <a:r>
                        <a:rPr sz="1200">
                          <a:latin typeface="Arial"/>
                        </a:rPr>
                        <a:t>Verification lead</a:t>
                      </a:r>
                    </a:p>
                  </a:txBody>
                  <a:tcPr marL="73152" marR="73152" marT="27432" marB="27432" anchor="ctr">
                    <a:solidFill>
                      <a:srgbClr val="F7F7F7"/>
                    </a:solidFill>
                  </a:tcPr>
                </a:tc>
                <a:tc>
                  <a:txBody>
                    <a:bodyPr/>
                    <a:lstStyle/>
                    <a:p>
                      <a:pPr algn="ctr"/>
                      <a:r>
                        <a:rPr sz="1200">
                          <a:latin typeface="Arial"/>
                        </a:rPr>
                        <a:t>Verification engineer</a:t>
                      </a:r>
                    </a:p>
                  </a:txBody>
                  <a:tcPr marL="73152" marR="73152" marT="27432" marB="27432" anchor="ctr">
                    <a:solidFill>
                      <a:srgbClr val="F7F7F7"/>
                    </a:solidFill>
                  </a:tcPr>
                </a:tc>
                <a:extLst>
                  <a:ext uri="{0D108BD9-81ED-4DB2-BD59-A6C34878D82A}">
                    <a16:rowId xmlns:a16="http://schemas.microsoft.com/office/drawing/2014/main" val="10003"/>
                  </a:ext>
                </a:extLst>
              </a:tr>
              <a:tr h="384048">
                <a:tc>
                  <a:txBody>
                    <a:bodyPr/>
                    <a:lstStyle/>
                    <a:p>
                      <a:pPr algn="l"/>
                      <a:r>
                        <a:rPr sz="1200" b="1">
                          <a:solidFill>
                            <a:srgbClr val="262626"/>
                          </a:solidFill>
                          <a:latin typeface="Arial"/>
                        </a:rPr>
                        <a:t>Changes</a:t>
                      </a:r>
                    </a:p>
                  </a:txBody>
                  <a:tcPr marL="73152" marR="73152" marT="27432" marB="27432" anchor="ctr">
                    <a:solidFill>
                      <a:srgbClr val="FFFFFF"/>
                    </a:solidFill>
                  </a:tcPr>
                </a:tc>
                <a:tc>
                  <a:txBody>
                    <a:bodyPr/>
                    <a:lstStyle/>
                    <a:p>
                      <a:pPr algn="ctr"/>
                      <a:r>
                        <a:rPr sz="1200">
                          <a:latin typeface="Arial"/>
                        </a:rPr>
                        <a:t>Rarely, after signoff</a:t>
                      </a:r>
                    </a:p>
                  </a:txBody>
                  <a:tcPr marL="73152" marR="73152" marT="27432" marB="27432" anchor="ctr">
                    <a:solidFill>
                      <a:srgbClr val="FFFFFF"/>
                    </a:solidFill>
                  </a:tcPr>
                </a:tc>
                <a:tc>
                  <a:txBody>
                    <a:bodyPr/>
                    <a:lstStyle/>
                    <a:p>
                      <a:pPr algn="ctr"/>
                      <a:r>
                        <a:rPr sz="1200">
                          <a:latin typeface="Arial"/>
                        </a:rPr>
                        <a:t>Constantly</a:t>
                      </a:r>
                    </a:p>
                  </a:txBody>
                  <a:tcPr marL="73152" marR="73152" marT="27432" marB="27432" anchor="ctr">
                    <a:solidFill>
                      <a:srgbClr val="FFFFFF"/>
                    </a:solidFill>
                  </a:tcPr>
                </a:tc>
                <a:extLst>
                  <a:ext uri="{0D108BD9-81ED-4DB2-BD59-A6C34878D82A}">
                    <a16:rowId xmlns:a16="http://schemas.microsoft.com/office/drawing/2014/main" val="10004"/>
                  </a:ext>
                </a:extLst>
              </a:tr>
              <a:tr h="384048">
                <a:tc>
                  <a:txBody>
                    <a:bodyPr/>
                    <a:lstStyle/>
                    <a:p>
                      <a:pPr algn="l"/>
                      <a:r>
                        <a:rPr sz="1200" b="1">
                          <a:solidFill>
                            <a:srgbClr val="262626"/>
                          </a:solidFill>
                          <a:latin typeface="Arial"/>
                        </a:rPr>
                        <a:t>Size</a:t>
                      </a:r>
                    </a:p>
                  </a:txBody>
                  <a:tcPr marL="73152" marR="73152" marT="27432" marB="27432" anchor="ctr">
                    <a:solidFill>
                      <a:srgbClr val="F7F7F7"/>
                    </a:solidFill>
                  </a:tcPr>
                </a:tc>
                <a:tc>
                  <a:txBody>
                    <a:bodyPr/>
                    <a:lstStyle/>
                    <a:p>
                      <a:pPr algn="ctr"/>
                      <a:r>
                        <a:rPr sz="1200">
                          <a:latin typeface="Arial"/>
                        </a:rPr>
                        <a:t>A thin booklet</a:t>
                      </a:r>
                    </a:p>
                  </a:txBody>
                  <a:tcPr marL="73152" marR="73152" marT="27432" marB="27432" anchor="ctr">
                    <a:solidFill>
                      <a:srgbClr val="F7F7F7"/>
                    </a:solidFill>
                  </a:tcPr>
                </a:tc>
                <a:tc>
                  <a:txBody>
                    <a:bodyPr/>
                    <a:lstStyle/>
                    <a:p>
                      <a:pPr algn="ctr"/>
                      <a:r>
                        <a:rPr sz="1200">
                          <a:latin typeface="Arial"/>
                        </a:rPr>
                        <a:t>A thick binder</a:t>
                      </a:r>
                    </a:p>
                  </a:txBody>
                  <a:tcPr marL="73152" marR="73152" marT="27432" marB="27432" anchor="ctr">
                    <a:solidFill>
                      <a:srgbClr val="F7F7F7"/>
                    </a:solidFill>
                  </a:tcPr>
                </a:tc>
                <a:extLst>
                  <a:ext uri="{0D108BD9-81ED-4DB2-BD59-A6C34878D82A}">
                    <a16:rowId xmlns:a16="http://schemas.microsoft.com/office/drawing/2014/main" val="10005"/>
                  </a:ext>
                </a:extLst>
              </a:tr>
            </a:tbl>
          </a:graphicData>
        </a:graphic>
      </p:graphicFrame>
      <p:sp>
        <p:nvSpPr>
          <p:cNvPr id="12" name="TextBox 11"/>
          <p:cNvSpPr txBox="1"/>
          <p:nvPr/>
        </p:nvSpPr>
        <p:spPr>
          <a:xfrm>
            <a:off x="457200" y="5285232"/>
            <a:ext cx="6126480" cy="457200"/>
          </a:xfrm>
          <a:prstGeom prst="rect">
            <a:avLst/>
          </a:prstGeom>
          <a:noFill/>
        </p:spPr>
        <p:txBody>
          <a:bodyPr wrap="square" anchor="t">
            <a:spAutoFit/>
          </a:bodyPr>
          <a:lstStyle/>
          <a:p>
            <a:endParaRPr dirty="0"/>
          </a:p>
          <a:p>
            <a:pPr algn="l">
              <a:spcBef>
                <a:spcPts val="0"/>
              </a:spcBef>
              <a:spcAft>
                <a:spcPts val="0"/>
              </a:spcAft>
            </a:pPr>
            <a:r>
              <a:rPr sz="1450" b="1" i="0" dirty="0">
                <a:solidFill>
                  <a:srgbClr val="006E6E"/>
                </a:solidFill>
                <a:latin typeface="Arial"/>
              </a:rPr>
              <a:t>Written BEFORE any testbench code - and updated forever after.</a:t>
            </a:r>
          </a:p>
        </p:txBody>
      </p:sp>
      <p:pic>
        <p:nvPicPr>
          <p:cNvPr id="13" name="Picture 12" descr="blueprint_clipboard.png"/>
          <p:cNvPicPr>
            <a:picLocks noChangeAspect="1"/>
          </p:cNvPicPr>
          <p:nvPr/>
        </p:nvPicPr>
        <p:blipFill>
          <a:blip r:embed="rId3"/>
          <a:stretch>
            <a:fillRect/>
          </a:stretch>
        </p:blipFill>
        <p:spPr>
          <a:xfrm>
            <a:off x="6972300" y="1188720"/>
            <a:ext cx="4526280" cy="5029200"/>
          </a:xfrm>
          <a:prstGeom prst="rect">
            <a:avLst/>
          </a:prstGeom>
        </p:spPr>
      </p:pic>
      <p:sp>
        <p:nvSpPr>
          <p:cNvPr id="14" name="TextBox 13"/>
          <p:cNvSpPr txBox="1"/>
          <p:nvPr/>
        </p:nvSpPr>
        <p:spPr>
          <a:xfrm>
            <a:off x="7109460" y="1280160"/>
            <a:ext cx="4251960" cy="320040"/>
          </a:xfrm>
          <a:prstGeom prst="rect">
            <a:avLst/>
          </a:prstGeom>
          <a:noFill/>
        </p:spPr>
        <p:txBody>
          <a:bodyPr wrap="square" anchor="t">
            <a:spAutoFit/>
          </a:bodyPr>
          <a:lstStyle/>
          <a:p>
            <a:r>
              <a:rPr sz="1300" b="1">
                <a:solidFill>
                  <a:srgbClr val="FFFFFF"/>
                </a:solidFill>
                <a:latin typeface="Arial"/>
              </a:rPr>
              <a:t>STRATEGY</a:t>
            </a:r>
          </a:p>
        </p:txBody>
      </p:sp>
      <p:sp>
        <p:nvSpPr>
          <p:cNvPr id="15" name="TextBox 14"/>
          <p:cNvSpPr txBox="1"/>
          <p:nvPr/>
        </p:nvSpPr>
        <p:spPr>
          <a:xfrm>
            <a:off x="7109460" y="3813048"/>
            <a:ext cx="4251960" cy="320040"/>
          </a:xfrm>
          <a:prstGeom prst="rect">
            <a:avLst/>
          </a:prstGeom>
          <a:noFill/>
        </p:spPr>
        <p:txBody>
          <a:bodyPr wrap="square" anchor="t">
            <a:spAutoFit/>
          </a:bodyPr>
          <a:lstStyle/>
          <a:p>
            <a:r>
              <a:rPr sz="1300" b="1">
                <a:solidFill>
                  <a:srgbClr val="006E6E"/>
                </a:solidFill>
                <a:latin typeface="Arial"/>
              </a:rPr>
              <a:t>ORDERS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84048"/>
            <a:ext cx="10607040" cy="685800"/>
          </a:xfrm>
          <a:prstGeom prst="rect">
            <a:avLst/>
          </a:prstGeom>
          <a:noFill/>
        </p:spPr>
        <p:txBody>
          <a:bodyPr wrap="square">
            <a:spAutoFit/>
          </a:bodyPr>
          <a:lstStyle/>
          <a:p>
            <a:r>
              <a:rPr sz="2800" b="1">
                <a:solidFill>
                  <a:srgbClr val="009999"/>
                </a:solidFill>
                <a:latin typeface="Arial"/>
              </a:rPr>
              <a:t>The FIFO Plans - Feature to Test</a:t>
            </a:r>
          </a:p>
        </p:txBody>
      </p:sp>
      <p:sp>
        <p:nvSpPr>
          <p:cNvPr id="3" name="TextBox 2"/>
          <p:cNvSpPr txBox="1"/>
          <p:nvPr/>
        </p:nvSpPr>
        <p:spPr>
          <a:xfrm>
            <a:off x="365760" y="6446520"/>
            <a:ext cx="11521440" cy="292608"/>
          </a:xfrm>
          <a:prstGeom prst="rect">
            <a:avLst/>
          </a:prstGeom>
          <a:noFill/>
        </p:spPr>
        <p:txBody>
          <a:bodyPr wrap="none">
            <a:spAutoFit/>
          </a:bodyPr>
          <a:lstStyle/>
          <a:p>
            <a:r>
              <a:rPr sz="900">
                <a:solidFill>
                  <a:srgbClr val="7F7F7F"/>
                </a:solidFill>
                <a:latin typeface="Arial"/>
              </a:rPr>
              <a:t>Restricted | (c) Siemens 2026 | Prajwal Matukumalli | DISW EDA | 2026-09-09</a:t>
            </a:r>
          </a:p>
        </p:txBody>
      </p:sp>
      <p:sp>
        <p:nvSpPr>
          <p:cNvPr id="4" name="Oval 3"/>
          <p:cNvSpPr/>
          <p:nvPr/>
        </p:nvSpPr>
        <p:spPr>
          <a:xfrm>
            <a:off x="10125151" y="256032"/>
            <a:ext cx="146304" cy="146304"/>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0417759" y="256032"/>
            <a:ext cx="146304" cy="146304"/>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0710367" y="256032"/>
            <a:ext cx="146304" cy="146304"/>
          </a:xfrm>
          <a:prstGeom prst="ellipse">
            <a:avLst/>
          </a:prstGeom>
          <a:solidFill>
            <a:srgbClr val="00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1002975" y="256032"/>
            <a:ext cx="146304" cy="146304"/>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1295583" y="256032"/>
            <a:ext cx="146304" cy="146304"/>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1588191" y="256032"/>
            <a:ext cx="146304" cy="146304"/>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1188720"/>
            <a:ext cx="6126480" cy="1600200"/>
          </a:xfrm>
          <a:prstGeom prst="rect">
            <a:avLst/>
          </a:prstGeom>
          <a:noFill/>
        </p:spPr>
        <p:txBody>
          <a:bodyPr wrap="square" anchor="t">
            <a:spAutoFit/>
          </a:bodyPr>
          <a:lstStyle/>
          <a:p>
            <a:endParaRPr dirty="0"/>
          </a:p>
          <a:p>
            <a:pPr algn="l">
              <a:spcBef>
                <a:spcPts val="0"/>
              </a:spcBef>
              <a:spcAft>
                <a:spcPts val="600"/>
              </a:spcAft>
            </a:pPr>
            <a:r>
              <a:rPr sz="1300" b="1" i="0" dirty="0">
                <a:solidFill>
                  <a:srgbClr val="009999"/>
                </a:solidFill>
                <a:latin typeface="Arial"/>
              </a:rPr>
              <a:t>VERIFICATION PLAN - FEATURES</a:t>
            </a:r>
          </a:p>
          <a:p>
            <a:pPr algn="l">
              <a:spcBef>
                <a:spcPts val="0"/>
              </a:spcBef>
              <a:spcAft>
                <a:spcPts val="300"/>
              </a:spcAft>
            </a:pPr>
            <a:r>
              <a:rPr sz="1100" b="0" i="0" dirty="0">
                <a:solidFill>
                  <a:srgbClr val="262626"/>
                </a:solidFill>
                <a:latin typeface="Arial"/>
              </a:rPr>
              <a:t>F1 Write   F2 Read   F3 Ordering   F4 Full flag   F5 Empty flag</a:t>
            </a:r>
          </a:p>
          <a:p>
            <a:pPr algn="l">
              <a:spcBef>
                <a:spcPts val="0"/>
              </a:spcBef>
              <a:spcAft>
                <a:spcPts val="300"/>
              </a:spcAft>
            </a:pPr>
            <a:r>
              <a:rPr sz="1100" b="0" i="0" dirty="0">
                <a:solidFill>
                  <a:srgbClr val="262626"/>
                </a:solidFill>
                <a:latin typeface="Arial"/>
              </a:rPr>
              <a:t>F6 Reset   F7 Write-when-full   F8 Read-when-empty</a:t>
            </a:r>
          </a:p>
          <a:p>
            <a:pPr algn="l">
              <a:spcBef>
                <a:spcPts val="0"/>
              </a:spcBef>
              <a:spcAft>
                <a:spcPts val="800"/>
              </a:spcAft>
            </a:pPr>
            <a:r>
              <a:rPr sz="1100" b="0" i="0" dirty="0">
                <a:solidFill>
                  <a:srgbClr val="262626"/>
                </a:solidFill>
                <a:latin typeface="Arial"/>
              </a:rPr>
              <a:t>F9 Simultaneous R/W   F10 Pointer wrap</a:t>
            </a:r>
          </a:p>
          <a:p>
            <a:pPr algn="l">
              <a:spcBef>
                <a:spcPts val="0"/>
              </a:spcBef>
              <a:spcAft>
                <a:spcPts val="300"/>
              </a:spcAft>
            </a:pPr>
            <a:r>
              <a:rPr sz="1200" b="1" i="0" dirty="0">
                <a:solidFill>
                  <a:srgbClr val="262626"/>
                </a:solidFill>
                <a:latin typeface="Arial"/>
              </a:rPr>
              <a:t>Approach: </a:t>
            </a:r>
            <a:r>
              <a:rPr sz="1200" b="0" i="0" dirty="0">
                <a:solidFill>
                  <a:srgbClr val="262626"/>
                </a:solidFill>
                <a:latin typeface="Arial"/>
              </a:rPr>
              <a:t>F1-F6 directed. F7-F10 constrained-random.</a:t>
            </a:r>
          </a:p>
          <a:p>
            <a:pPr algn="l">
              <a:spcBef>
                <a:spcPts val="0"/>
              </a:spcBef>
              <a:spcAft>
                <a:spcPts val="0"/>
              </a:spcAft>
            </a:pPr>
            <a:r>
              <a:rPr sz="1050" b="0" i="1" dirty="0">
                <a:solidFill>
                  <a:srgbClr val="7F7F7F"/>
                </a:solidFill>
                <a:latin typeface="Arial"/>
              </a:rPr>
              <a:t>Signoff: 100% functional coverage, &gt;95% code coverage, zero open bugs.</a:t>
            </a:r>
          </a:p>
        </p:txBody>
      </p:sp>
      <p:sp>
        <p:nvSpPr>
          <p:cNvPr id="11" name="TextBox 10"/>
          <p:cNvSpPr txBox="1"/>
          <p:nvPr/>
        </p:nvSpPr>
        <p:spPr>
          <a:xfrm>
            <a:off x="457200" y="2880360"/>
            <a:ext cx="6126480" cy="274320"/>
          </a:xfrm>
          <a:prstGeom prst="rect">
            <a:avLst/>
          </a:prstGeom>
          <a:noFill/>
        </p:spPr>
        <p:txBody>
          <a:bodyPr wrap="square" anchor="t">
            <a:spAutoFit/>
          </a:bodyPr>
          <a:lstStyle/>
          <a:p>
            <a:endParaRPr/>
          </a:p>
          <a:p>
            <a:pPr algn="l">
              <a:spcBef>
                <a:spcPts val="0"/>
              </a:spcBef>
              <a:spcAft>
                <a:spcPts val="0"/>
              </a:spcAft>
            </a:pPr>
            <a:r>
              <a:rPr sz="1300" b="1" i="0">
                <a:solidFill>
                  <a:srgbClr val="009999"/>
                </a:solidFill>
                <a:latin typeface="Arial"/>
              </a:rPr>
              <a:t>TEST PLAN - EXTRACT</a:t>
            </a:r>
          </a:p>
        </p:txBody>
      </p:sp>
      <p:graphicFrame>
        <p:nvGraphicFramePr>
          <p:cNvPr id="12" name="Table 11"/>
          <p:cNvGraphicFramePr>
            <a:graphicFrameLocks noGrp="1"/>
          </p:cNvGraphicFramePr>
          <p:nvPr/>
        </p:nvGraphicFramePr>
        <p:xfrm>
          <a:off x="457200" y="3246120"/>
          <a:ext cx="6126480" cy="2103120"/>
        </p:xfrm>
        <a:graphic>
          <a:graphicData uri="http://schemas.openxmlformats.org/drawingml/2006/table">
            <a:tbl>
              <a:tblPr firstRow="1" bandRow="1">
                <a:tableStyleId>{5C22544A-7EE6-4342-B048-85BDC9FD1C3A}</a:tableStyleId>
              </a:tblPr>
              <a:tblGrid>
                <a:gridCol w="640080">
                  <a:extLst>
                    <a:ext uri="{9D8B030D-6E8A-4147-A177-3AD203B41FA5}">
                      <a16:colId xmlns:a16="http://schemas.microsoft.com/office/drawing/2014/main" val="20000"/>
                    </a:ext>
                  </a:extLst>
                </a:gridCol>
                <a:gridCol w="640080">
                  <a:extLst>
                    <a:ext uri="{9D8B030D-6E8A-4147-A177-3AD203B41FA5}">
                      <a16:colId xmlns:a16="http://schemas.microsoft.com/office/drawing/2014/main" val="20001"/>
                    </a:ext>
                  </a:extLst>
                </a:gridCol>
                <a:gridCol w="3291840">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tblGrid>
              <a:tr h="365760">
                <a:tc>
                  <a:txBody>
                    <a:bodyPr/>
                    <a:lstStyle/>
                    <a:p>
                      <a:pPr algn="l"/>
                      <a:r>
                        <a:rPr sz="1050" b="1">
                          <a:solidFill>
                            <a:srgbClr val="FFFFFF"/>
                          </a:solidFill>
                          <a:latin typeface="Arial"/>
                        </a:rPr>
                        <a:t>ID</a:t>
                      </a:r>
                    </a:p>
                  </a:txBody>
                  <a:tcPr marL="73152" marR="73152" marT="27432" marB="27432" anchor="ctr">
                    <a:solidFill>
                      <a:srgbClr val="009999"/>
                    </a:solidFill>
                  </a:tcPr>
                </a:tc>
                <a:tc>
                  <a:txBody>
                    <a:bodyPr/>
                    <a:lstStyle/>
                    <a:p>
                      <a:pPr algn="ctr"/>
                      <a:r>
                        <a:rPr sz="1050" b="1">
                          <a:solidFill>
                            <a:srgbClr val="FFFFFF"/>
                          </a:solidFill>
                          <a:latin typeface="Arial"/>
                        </a:rPr>
                        <a:t>Feat.</a:t>
                      </a:r>
                    </a:p>
                  </a:txBody>
                  <a:tcPr marL="73152" marR="73152" marT="27432" marB="27432" anchor="ctr">
                    <a:solidFill>
                      <a:srgbClr val="009999"/>
                    </a:solidFill>
                  </a:tcPr>
                </a:tc>
                <a:tc>
                  <a:txBody>
                    <a:bodyPr/>
                    <a:lstStyle/>
                    <a:p>
                      <a:pPr algn="ctr"/>
                      <a:r>
                        <a:rPr sz="1050" b="1">
                          <a:solidFill>
                            <a:srgbClr val="FFFFFF"/>
                          </a:solidFill>
                          <a:latin typeface="Arial"/>
                        </a:rPr>
                        <a:t>Description</a:t>
                      </a:r>
                    </a:p>
                  </a:txBody>
                  <a:tcPr marL="73152" marR="73152" marT="27432" marB="27432" anchor="ctr">
                    <a:solidFill>
                      <a:srgbClr val="009999"/>
                    </a:solidFill>
                  </a:tcPr>
                </a:tc>
                <a:tc>
                  <a:txBody>
                    <a:bodyPr/>
                    <a:lstStyle/>
                    <a:p>
                      <a:pPr algn="ctr"/>
                      <a:r>
                        <a:rPr sz="1050" b="1">
                          <a:solidFill>
                            <a:srgbClr val="FFFFFF"/>
                          </a:solidFill>
                          <a:latin typeface="Arial"/>
                        </a:rPr>
                        <a:t>Type</a:t>
                      </a:r>
                    </a:p>
                  </a:txBody>
                  <a:tcPr marL="73152" marR="73152" marT="27432" marB="27432" anchor="ctr">
                    <a:solidFill>
                      <a:srgbClr val="009999"/>
                    </a:solidFill>
                  </a:tcPr>
                </a:tc>
                <a:extLst>
                  <a:ext uri="{0D108BD9-81ED-4DB2-BD59-A6C34878D82A}">
                    <a16:rowId xmlns:a16="http://schemas.microsoft.com/office/drawing/2014/main" val="10000"/>
                  </a:ext>
                </a:extLst>
              </a:tr>
              <a:tr h="347472">
                <a:tc>
                  <a:txBody>
                    <a:bodyPr/>
                    <a:lstStyle/>
                    <a:p>
                      <a:pPr algn="l"/>
                      <a:r>
                        <a:rPr sz="1050">
                          <a:latin typeface="Arial"/>
                        </a:rPr>
                        <a:t>T03</a:t>
                      </a:r>
                    </a:p>
                  </a:txBody>
                  <a:tcPr marL="73152" marR="73152" marT="27432" marB="27432" anchor="ctr">
                    <a:solidFill>
                      <a:srgbClr val="F7F7F7"/>
                    </a:solidFill>
                  </a:tcPr>
                </a:tc>
                <a:tc>
                  <a:txBody>
                    <a:bodyPr/>
                    <a:lstStyle/>
                    <a:p>
                      <a:pPr algn="ctr"/>
                      <a:r>
                        <a:rPr sz="1050">
                          <a:latin typeface="Arial"/>
                        </a:rPr>
                        <a:t>F3</a:t>
                      </a:r>
                    </a:p>
                  </a:txBody>
                  <a:tcPr marL="73152" marR="73152" marT="27432" marB="27432" anchor="ctr">
                    <a:solidFill>
                      <a:srgbClr val="F7F7F7"/>
                    </a:solidFill>
                  </a:tcPr>
                </a:tc>
                <a:tc>
                  <a:txBody>
                    <a:bodyPr/>
                    <a:lstStyle/>
                    <a:p>
                      <a:pPr algn="ctr"/>
                      <a:r>
                        <a:rPr sz="1050">
                          <a:latin typeface="Arial"/>
                        </a:rPr>
                        <a:t>Write 8, read 8, check order</a:t>
                      </a:r>
                    </a:p>
                  </a:txBody>
                  <a:tcPr marL="73152" marR="73152" marT="27432" marB="27432" anchor="ctr">
                    <a:solidFill>
                      <a:srgbClr val="F7F7F7"/>
                    </a:solidFill>
                  </a:tcPr>
                </a:tc>
                <a:tc>
                  <a:txBody>
                    <a:bodyPr/>
                    <a:lstStyle/>
                    <a:p>
                      <a:pPr algn="ctr"/>
                      <a:r>
                        <a:rPr sz="1050">
                          <a:latin typeface="Arial"/>
                        </a:rPr>
                        <a:t>Directed</a:t>
                      </a:r>
                    </a:p>
                  </a:txBody>
                  <a:tcPr marL="73152" marR="73152" marT="27432" marB="27432" anchor="ctr">
                    <a:solidFill>
                      <a:srgbClr val="BFE6E6"/>
                    </a:solidFill>
                  </a:tcPr>
                </a:tc>
                <a:extLst>
                  <a:ext uri="{0D108BD9-81ED-4DB2-BD59-A6C34878D82A}">
                    <a16:rowId xmlns:a16="http://schemas.microsoft.com/office/drawing/2014/main" val="10001"/>
                  </a:ext>
                </a:extLst>
              </a:tr>
              <a:tr h="347472">
                <a:tc>
                  <a:txBody>
                    <a:bodyPr/>
                    <a:lstStyle/>
                    <a:p>
                      <a:pPr algn="l"/>
                      <a:r>
                        <a:rPr sz="1050">
                          <a:latin typeface="Arial"/>
                        </a:rPr>
                        <a:t>T04</a:t>
                      </a:r>
                    </a:p>
                  </a:txBody>
                  <a:tcPr marL="73152" marR="73152" marT="27432" marB="27432" anchor="ctr">
                    <a:solidFill>
                      <a:srgbClr val="FFFFFF"/>
                    </a:solidFill>
                  </a:tcPr>
                </a:tc>
                <a:tc>
                  <a:txBody>
                    <a:bodyPr/>
                    <a:lstStyle/>
                    <a:p>
                      <a:pPr algn="ctr"/>
                      <a:r>
                        <a:rPr sz="1050">
                          <a:latin typeface="Arial"/>
                        </a:rPr>
                        <a:t>F4</a:t>
                      </a:r>
                    </a:p>
                  </a:txBody>
                  <a:tcPr marL="73152" marR="73152" marT="27432" marB="27432" anchor="ctr">
                    <a:solidFill>
                      <a:srgbClr val="FFFFFF"/>
                    </a:solidFill>
                  </a:tcPr>
                </a:tc>
                <a:tc>
                  <a:txBody>
                    <a:bodyPr/>
                    <a:lstStyle/>
                    <a:p>
                      <a:pPr algn="ctr"/>
                      <a:r>
                        <a:rPr sz="1050">
                          <a:latin typeface="Arial"/>
                        </a:rPr>
                        <a:t>Write 8, check full flag</a:t>
                      </a:r>
                    </a:p>
                  </a:txBody>
                  <a:tcPr marL="73152" marR="73152" marT="27432" marB="27432" anchor="ctr">
                    <a:solidFill>
                      <a:srgbClr val="FFFFFF"/>
                    </a:solidFill>
                  </a:tcPr>
                </a:tc>
                <a:tc>
                  <a:txBody>
                    <a:bodyPr/>
                    <a:lstStyle/>
                    <a:p>
                      <a:pPr algn="ctr"/>
                      <a:r>
                        <a:rPr sz="1050">
                          <a:latin typeface="Arial"/>
                        </a:rPr>
                        <a:t>Directed</a:t>
                      </a:r>
                    </a:p>
                  </a:txBody>
                  <a:tcPr marL="73152" marR="73152" marT="27432" marB="27432" anchor="ctr">
                    <a:solidFill>
                      <a:srgbClr val="BFE6E6"/>
                    </a:solidFill>
                  </a:tcPr>
                </a:tc>
                <a:extLst>
                  <a:ext uri="{0D108BD9-81ED-4DB2-BD59-A6C34878D82A}">
                    <a16:rowId xmlns:a16="http://schemas.microsoft.com/office/drawing/2014/main" val="10002"/>
                  </a:ext>
                </a:extLst>
              </a:tr>
              <a:tr h="347472">
                <a:tc>
                  <a:txBody>
                    <a:bodyPr/>
                    <a:lstStyle/>
                    <a:p>
                      <a:pPr algn="l"/>
                      <a:r>
                        <a:rPr sz="1050">
                          <a:latin typeface="Arial"/>
                        </a:rPr>
                        <a:t>T07</a:t>
                      </a:r>
                    </a:p>
                  </a:txBody>
                  <a:tcPr marL="73152" marR="73152" marT="27432" marB="27432" anchor="ctr">
                    <a:solidFill>
                      <a:srgbClr val="F7F7F7"/>
                    </a:solidFill>
                  </a:tcPr>
                </a:tc>
                <a:tc>
                  <a:txBody>
                    <a:bodyPr/>
                    <a:lstStyle/>
                    <a:p>
                      <a:pPr algn="ctr"/>
                      <a:r>
                        <a:rPr sz="1050">
                          <a:latin typeface="Arial"/>
                        </a:rPr>
                        <a:t>F7</a:t>
                      </a:r>
                    </a:p>
                  </a:txBody>
                  <a:tcPr marL="73152" marR="73152" marT="27432" marB="27432" anchor="ctr">
                    <a:solidFill>
                      <a:srgbClr val="F7F7F7"/>
                    </a:solidFill>
                  </a:tcPr>
                </a:tc>
                <a:tc>
                  <a:txBody>
                    <a:bodyPr/>
                    <a:lstStyle/>
                    <a:p>
                      <a:pPr algn="ctr"/>
                      <a:r>
                        <a:rPr sz="1050">
                          <a:latin typeface="Arial"/>
                        </a:rPr>
                        <a:t>Assert wr_en while full=1</a:t>
                      </a:r>
                    </a:p>
                  </a:txBody>
                  <a:tcPr marL="73152" marR="73152" marT="27432" marB="27432" anchor="ctr">
                    <a:solidFill>
                      <a:srgbClr val="F7F7F7"/>
                    </a:solidFill>
                  </a:tcPr>
                </a:tc>
                <a:tc>
                  <a:txBody>
                    <a:bodyPr/>
                    <a:lstStyle/>
                    <a:p>
                      <a:pPr algn="ctr"/>
                      <a:r>
                        <a:rPr sz="1050">
                          <a:latin typeface="Arial"/>
                        </a:rPr>
                        <a:t>Directed</a:t>
                      </a:r>
                    </a:p>
                  </a:txBody>
                  <a:tcPr marL="73152" marR="73152" marT="27432" marB="27432" anchor="ctr">
                    <a:solidFill>
                      <a:srgbClr val="BFE6E6"/>
                    </a:solidFill>
                  </a:tcPr>
                </a:tc>
                <a:extLst>
                  <a:ext uri="{0D108BD9-81ED-4DB2-BD59-A6C34878D82A}">
                    <a16:rowId xmlns:a16="http://schemas.microsoft.com/office/drawing/2014/main" val="10003"/>
                  </a:ext>
                </a:extLst>
              </a:tr>
              <a:tr h="347472">
                <a:tc>
                  <a:txBody>
                    <a:bodyPr/>
                    <a:lstStyle/>
                    <a:p>
                      <a:pPr algn="l"/>
                      <a:r>
                        <a:rPr sz="1050">
                          <a:latin typeface="Arial"/>
                        </a:rPr>
                        <a:t>T09</a:t>
                      </a:r>
                    </a:p>
                  </a:txBody>
                  <a:tcPr marL="73152" marR="73152" marT="27432" marB="27432" anchor="ctr">
                    <a:solidFill>
                      <a:srgbClr val="FFFFFF"/>
                    </a:solidFill>
                  </a:tcPr>
                </a:tc>
                <a:tc>
                  <a:txBody>
                    <a:bodyPr/>
                    <a:lstStyle/>
                    <a:p>
                      <a:pPr algn="ctr"/>
                      <a:r>
                        <a:rPr sz="1050">
                          <a:latin typeface="Arial"/>
                        </a:rPr>
                        <a:t>F9</a:t>
                      </a:r>
                    </a:p>
                  </a:txBody>
                  <a:tcPr marL="73152" marR="73152" marT="27432" marB="27432" anchor="ctr">
                    <a:solidFill>
                      <a:srgbClr val="FFFFFF"/>
                    </a:solidFill>
                  </a:tcPr>
                </a:tc>
                <a:tc>
                  <a:txBody>
                    <a:bodyPr/>
                    <a:lstStyle/>
                    <a:p>
                      <a:pPr algn="ctr"/>
                      <a:r>
                        <a:rPr sz="1050">
                          <a:latin typeface="Arial"/>
                        </a:rPr>
                        <a:t>Random R/W mix, 500 cycles</a:t>
                      </a:r>
                    </a:p>
                  </a:txBody>
                  <a:tcPr marL="73152" marR="73152" marT="27432" marB="27432" anchor="ctr">
                    <a:solidFill>
                      <a:srgbClr val="FFFFFF"/>
                    </a:solidFill>
                  </a:tcPr>
                </a:tc>
                <a:tc>
                  <a:txBody>
                    <a:bodyPr/>
                    <a:lstStyle/>
                    <a:p>
                      <a:pPr algn="ctr"/>
                      <a:r>
                        <a:rPr sz="1050">
                          <a:latin typeface="Arial"/>
                        </a:rPr>
                        <a:t>CR</a:t>
                      </a:r>
                    </a:p>
                  </a:txBody>
                  <a:tcPr marL="73152" marR="73152" marT="27432" marB="27432" anchor="ctr">
                    <a:solidFill>
                      <a:srgbClr val="FADDC4"/>
                    </a:solidFill>
                  </a:tcPr>
                </a:tc>
                <a:extLst>
                  <a:ext uri="{0D108BD9-81ED-4DB2-BD59-A6C34878D82A}">
                    <a16:rowId xmlns:a16="http://schemas.microsoft.com/office/drawing/2014/main" val="10004"/>
                  </a:ext>
                </a:extLst>
              </a:tr>
              <a:tr h="347472">
                <a:tc>
                  <a:txBody>
                    <a:bodyPr/>
                    <a:lstStyle/>
                    <a:p>
                      <a:pPr algn="l"/>
                      <a:r>
                        <a:rPr sz="1050">
                          <a:latin typeface="Arial"/>
                        </a:rPr>
                        <a:t>T10</a:t>
                      </a:r>
                    </a:p>
                  </a:txBody>
                  <a:tcPr marL="73152" marR="73152" marT="27432" marB="27432" anchor="ctr">
                    <a:solidFill>
                      <a:srgbClr val="F7F7F7"/>
                    </a:solidFill>
                  </a:tcPr>
                </a:tc>
                <a:tc>
                  <a:txBody>
                    <a:bodyPr/>
                    <a:lstStyle/>
                    <a:p>
                      <a:pPr algn="ctr"/>
                      <a:r>
                        <a:rPr sz="1050">
                          <a:latin typeface="Arial"/>
                        </a:rPr>
                        <a:t>F10</a:t>
                      </a:r>
                    </a:p>
                  </a:txBody>
                  <a:tcPr marL="73152" marR="73152" marT="27432" marB="27432" anchor="ctr">
                    <a:solidFill>
                      <a:srgbClr val="F7F7F7"/>
                    </a:solidFill>
                  </a:tcPr>
                </a:tc>
                <a:tc>
                  <a:txBody>
                    <a:bodyPr/>
                    <a:lstStyle/>
                    <a:p>
                      <a:pPr algn="ctr"/>
                      <a:r>
                        <a:rPr sz="1050">
                          <a:latin typeface="Arial"/>
                        </a:rPr>
                        <a:t>100 W/R, force wrap</a:t>
                      </a:r>
                    </a:p>
                  </a:txBody>
                  <a:tcPr marL="73152" marR="73152" marT="27432" marB="27432" anchor="ctr">
                    <a:solidFill>
                      <a:srgbClr val="F7F7F7"/>
                    </a:solidFill>
                  </a:tcPr>
                </a:tc>
                <a:tc>
                  <a:txBody>
                    <a:bodyPr/>
                    <a:lstStyle/>
                    <a:p>
                      <a:pPr algn="ctr"/>
                      <a:r>
                        <a:rPr sz="1050">
                          <a:latin typeface="Arial"/>
                        </a:rPr>
                        <a:t>CR</a:t>
                      </a:r>
                    </a:p>
                  </a:txBody>
                  <a:tcPr marL="73152" marR="73152" marT="27432" marB="27432" anchor="ctr">
                    <a:solidFill>
                      <a:srgbClr val="FADDC4"/>
                    </a:solidFill>
                  </a:tcPr>
                </a:tc>
                <a:extLst>
                  <a:ext uri="{0D108BD9-81ED-4DB2-BD59-A6C34878D82A}">
                    <a16:rowId xmlns:a16="http://schemas.microsoft.com/office/drawing/2014/main" val="10005"/>
                  </a:ext>
                </a:extLst>
              </a:tr>
            </a:tbl>
          </a:graphicData>
        </a:graphic>
      </p:graphicFrame>
      <p:sp>
        <p:nvSpPr>
          <p:cNvPr id="13" name="TextBox 12"/>
          <p:cNvSpPr txBox="1"/>
          <p:nvPr/>
        </p:nvSpPr>
        <p:spPr>
          <a:xfrm>
            <a:off x="6858000" y="1280160"/>
            <a:ext cx="1371600" cy="274320"/>
          </a:xfrm>
          <a:prstGeom prst="rect">
            <a:avLst/>
          </a:prstGeom>
          <a:noFill/>
        </p:spPr>
        <p:txBody>
          <a:bodyPr wrap="square" anchor="t">
            <a:spAutoFit/>
          </a:bodyPr>
          <a:lstStyle/>
          <a:p>
            <a:pPr algn="ctr"/>
            <a:r>
              <a:rPr sz="950" b="1">
                <a:solidFill>
                  <a:srgbClr val="7F7F7F"/>
                </a:solidFill>
                <a:latin typeface="Arial"/>
              </a:rPr>
              <a:t>REQUIREMENT</a:t>
            </a:r>
          </a:p>
        </p:txBody>
      </p:sp>
      <p:sp>
        <p:nvSpPr>
          <p:cNvPr id="14" name="TextBox 13"/>
          <p:cNvSpPr txBox="1"/>
          <p:nvPr/>
        </p:nvSpPr>
        <p:spPr>
          <a:xfrm>
            <a:off x="8366759" y="1280160"/>
            <a:ext cx="1371600" cy="274320"/>
          </a:xfrm>
          <a:prstGeom prst="rect">
            <a:avLst/>
          </a:prstGeom>
          <a:noFill/>
        </p:spPr>
        <p:txBody>
          <a:bodyPr wrap="square" anchor="t">
            <a:spAutoFit/>
          </a:bodyPr>
          <a:lstStyle/>
          <a:p>
            <a:pPr algn="ctr"/>
            <a:r>
              <a:rPr sz="950" b="1">
                <a:solidFill>
                  <a:srgbClr val="7F7F7F"/>
                </a:solidFill>
                <a:latin typeface="Arial"/>
              </a:rPr>
              <a:t>FEATURE</a:t>
            </a:r>
          </a:p>
        </p:txBody>
      </p:sp>
      <p:sp>
        <p:nvSpPr>
          <p:cNvPr id="15" name="TextBox 14"/>
          <p:cNvSpPr txBox="1"/>
          <p:nvPr/>
        </p:nvSpPr>
        <p:spPr>
          <a:xfrm>
            <a:off x="9875519" y="1280160"/>
            <a:ext cx="1371600" cy="274320"/>
          </a:xfrm>
          <a:prstGeom prst="rect">
            <a:avLst/>
          </a:prstGeom>
          <a:noFill/>
        </p:spPr>
        <p:txBody>
          <a:bodyPr wrap="square" anchor="t">
            <a:spAutoFit/>
          </a:bodyPr>
          <a:lstStyle/>
          <a:p>
            <a:pPr algn="ctr"/>
            <a:r>
              <a:rPr sz="950" b="1">
                <a:solidFill>
                  <a:srgbClr val="7F7F7F"/>
                </a:solidFill>
                <a:latin typeface="Arial"/>
              </a:rPr>
              <a:t>TEST</a:t>
            </a:r>
          </a:p>
        </p:txBody>
      </p:sp>
      <p:sp>
        <p:nvSpPr>
          <p:cNvPr id="16" name="Rounded Rectangle 15"/>
          <p:cNvSpPr/>
          <p:nvPr/>
        </p:nvSpPr>
        <p:spPr>
          <a:xfrm>
            <a:off x="6903720" y="1737360"/>
            <a:ext cx="1234440" cy="457200"/>
          </a:xfrm>
          <a:prstGeom prst="roundRect">
            <a:avLst/>
          </a:prstGeom>
          <a:solidFill>
            <a:srgbClr val="FFFFFF"/>
          </a:solidFill>
          <a:ln w="19050">
            <a:solidFill>
              <a:srgbClr val="009999"/>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1200" b="1" i="0">
                <a:solidFill>
                  <a:srgbClr val="006E6E"/>
                </a:solidFill>
                <a:latin typeface="Arial"/>
              </a:rPr>
              <a:t>FR-03</a:t>
            </a:r>
          </a:p>
        </p:txBody>
      </p:sp>
      <p:sp>
        <p:nvSpPr>
          <p:cNvPr id="17" name="Rounded Rectangle 16"/>
          <p:cNvSpPr/>
          <p:nvPr/>
        </p:nvSpPr>
        <p:spPr>
          <a:xfrm>
            <a:off x="8412480" y="1737360"/>
            <a:ext cx="1234440" cy="457200"/>
          </a:xfrm>
          <a:prstGeom prst="roundRect">
            <a:avLst/>
          </a:prstGeom>
          <a:solidFill>
            <a:srgbClr val="FFFFFF"/>
          </a:solidFill>
          <a:ln w="19050">
            <a:solidFill>
              <a:srgbClr val="009999"/>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1200" b="1" i="0">
                <a:solidFill>
                  <a:srgbClr val="006E6E"/>
                </a:solidFill>
                <a:latin typeface="Arial"/>
              </a:rPr>
              <a:t>F3</a:t>
            </a:r>
          </a:p>
        </p:txBody>
      </p:sp>
      <p:sp>
        <p:nvSpPr>
          <p:cNvPr id="18" name="Rounded Rectangle 17"/>
          <p:cNvSpPr/>
          <p:nvPr/>
        </p:nvSpPr>
        <p:spPr>
          <a:xfrm>
            <a:off x="9921240" y="1737360"/>
            <a:ext cx="1234440" cy="457200"/>
          </a:xfrm>
          <a:prstGeom prst="roundRect">
            <a:avLst/>
          </a:prstGeom>
          <a:solidFill>
            <a:srgbClr val="FFFFFF"/>
          </a:solidFill>
          <a:ln w="19050">
            <a:solidFill>
              <a:srgbClr val="009999"/>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1200" b="1" i="0">
                <a:solidFill>
                  <a:srgbClr val="006E6E"/>
                </a:solidFill>
                <a:latin typeface="Arial"/>
              </a:rPr>
              <a:t>T03</a:t>
            </a:r>
          </a:p>
        </p:txBody>
      </p:sp>
      <p:sp>
        <p:nvSpPr>
          <p:cNvPr id="19" name="Rounded Rectangle 18"/>
          <p:cNvSpPr/>
          <p:nvPr/>
        </p:nvSpPr>
        <p:spPr>
          <a:xfrm>
            <a:off x="6903720" y="3017520"/>
            <a:ext cx="1234440" cy="457200"/>
          </a:xfrm>
          <a:prstGeom prst="roundRect">
            <a:avLst/>
          </a:prstGeom>
          <a:solidFill>
            <a:srgbClr val="FFFFFF"/>
          </a:solidFill>
          <a:ln w="19050">
            <a:solidFill>
              <a:srgbClr val="E8792E"/>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1200" b="1" i="0">
                <a:solidFill>
                  <a:srgbClr val="E8792E"/>
                </a:solidFill>
                <a:latin typeface="Arial"/>
              </a:rPr>
              <a:t>CC-04</a:t>
            </a:r>
          </a:p>
        </p:txBody>
      </p:sp>
      <p:sp>
        <p:nvSpPr>
          <p:cNvPr id="20" name="Rounded Rectangle 19"/>
          <p:cNvSpPr/>
          <p:nvPr/>
        </p:nvSpPr>
        <p:spPr>
          <a:xfrm>
            <a:off x="8412480" y="3017520"/>
            <a:ext cx="1234440" cy="457200"/>
          </a:xfrm>
          <a:prstGeom prst="roundRect">
            <a:avLst/>
          </a:prstGeom>
          <a:solidFill>
            <a:srgbClr val="FFFFFF"/>
          </a:solidFill>
          <a:ln w="19050">
            <a:solidFill>
              <a:srgbClr val="E8792E"/>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1200" b="1" i="0">
                <a:solidFill>
                  <a:srgbClr val="E8792E"/>
                </a:solidFill>
                <a:latin typeface="Arial"/>
              </a:rPr>
              <a:t>F9</a:t>
            </a:r>
          </a:p>
        </p:txBody>
      </p:sp>
      <p:sp>
        <p:nvSpPr>
          <p:cNvPr id="21" name="Rounded Rectangle 20"/>
          <p:cNvSpPr/>
          <p:nvPr/>
        </p:nvSpPr>
        <p:spPr>
          <a:xfrm>
            <a:off x="9921240" y="3017520"/>
            <a:ext cx="1234440" cy="457200"/>
          </a:xfrm>
          <a:prstGeom prst="roundRect">
            <a:avLst/>
          </a:prstGeom>
          <a:solidFill>
            <a:srgbClr val="FFFFFF"/>
          </a:solidFill>
          <a:ln w="19050">
            <a:solidFill>
              <a:srgbClr val="E8792E"/>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1200" b="1" i="0">
                <a:solidFill>
                  <a:srgbClr val="E8792E"/>
                </a:solidFill>
                <a:latin typeface="Arial"/>
              </a:rPr>
              <a:t>T09</a:t>
            </a:r>
          </a:p>
        </p:txBody>
      </p:sp>
      <p:cxnSp>
        <p:nvCxnSpPr>
          <p:cNvPr id="22" name="Connector 21"/>
          <p:cNvCxnSpPr/>
          <p:nvPr/>
        </p:nvCxnSpPr>
        <p:spPr>
          <a:xfrm>
            <a:off x="8138160" y="1965960"/>
            <a:ext cx="274320" cy="0"/>
          </a:xfrm>
          <a:prstGeom prst="line">
            <a:avLst/>
          </a:prstGeom>
          <a:ln w="19050">
            <a:solidFill>
              <a:srgbClr val="009999"/>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8138160" y="3246120"/>
            <a:ext cx="274320" cy="0"/>
          </a:xfrm>
          <a:prstGeom prst="line">
            <a:avLst/>
          </a:prstGeom>
          <a:ln w="19050">
            <a:solidFill>
              <a:srgbClr val="E8792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9646919" y="1965960"/>
            <a:ext cx="274321" cy="0"/>
          </a:xfrm>
          <a:prstGeom prst="line">
            <a:avLst/>
          </a:prstGeom>
          <a:ln w="19050">
            <a:solidFill>
              <a:srgbClr val="009999"/>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9646919" y="3246120"/>
            <a:ext cx="274321" cy="0"/>
          </a:xfrm>
          <a:prstGeom prst="line">
            <a:avLst/>
          </a:prstGeom>
          <a:ln w="19050">
            <a:solidFill>
              <a:srgbClr val="E8792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6766560" y="3703320"/>
            <a:ext cx="4846320" cy="457200"/>
          </a:xfrm>
          <a:prstGeom prst="rect">
            <a:avLst/>
          </a:prstGeom>
          <a:noFill/>
        </p:spPr>
        <p:txBody>
          <a:bodyPr wrap="square" anchor="t">
            <a:spAutoFit/>
          </a:bodyPr>
          <a:lstStyle/>
          <a:p>
            <a:pPr algn="ctr"/>
            <a:r>
              <a:rPr sz="1050" i="1">
                <a:solidFill>
                  <a:srgbClr val="7F7F7F"/>
                </a:solidFill>
                <a:latin typeface="Arial"/>
              </a:rPr>
              <a:t>Every test traces back to a line in the spec. No orphan tests.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84048"/>
            <a:ext cx="10607040" cy="685800"/>
          </a:xfrm>
          <a:prstGeom prst="rect">
            <a:avLst/>
          </a:prstGeom>
          <a:noFill/>
        </p:spPr>
        <p:txBody>
          <a:bodyPr wrap="square">
            <a:spAutoFit/>
          </a:bodyPr>
          <a:lstStyle/>
          <a:p>
            <a:r>
              <a:rPr sz="2800" b="1" dirty="0">
                <a:solidFill>
                  <a:srgbClr val="009999"/>
                </a:solidFill>
                <a:latin typeface="Arial"/>
              </a:rPr>
              <a:t>Two Ways to Make Stimulus</a:t>
            </a:r>
          </a:p>
        </p:txBody>
      </p:sp>
      <p:sp>
        <p:nvSpPr>
          <p:cNvPr id="3" name="TextBox 2"/>
          <p:cNvSpPr txBox="1"/>
          <p:nvPr/>
        </p:nvSpPr>
        <p:spPr>
          <a:xfrm>
            <a:off x="365760" y="6446520"/>
            <a:ext cx="11521440" cy="292608"/>
          </a:xfrm>
          <a:prstGeom prst="rect">
            <a:avLst/>
          </a:prstGeom>
          <a:noFill/>
        </p:spPr>
        <p:txBody>
          <a:bodyPr wrap="none">
            <a:spAutoFit/>
          </a:bodyPr>
          <a:lstStyle/>
          <a:p>
            <a:r>
              <a:rPr sz="900">
                <a:solidFill>
                  <a:srgbClr val="7F7F7F"/>
                </a:solidFill>
                <a:latin typeface="Arial"/>
              </a:rPr>
              <a:t>Restricted | (c) Siemens 2026 | Prajwal Matukumalli | DISW EDA | 2026-09-09</a:t>
            </a:r>
          </a:p>
        </p:txBody>
      </p:sp>
      <p:sp>
        <p:nvSpPr>
          <p:cNvPr id="4" name="Oval 3"/>
          <p:cNvSpPr/>
          <p:nvPr/>
        </p:nvSpPr>
        <p:spPr>
          <a:xfrm>
            <a:off x="10125151" y="256032"/>
            <a:ext cx="146304" cy="146304"/>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0417759" y="256032"/>
            <a:ext cx="146304" cy="146304"/>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0710367" y="256032"/>
            <a:ext cx="146304" cy="146304"/>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1002975" y="256032"/>
            <a:ext cx="146304" cy="146304"/>
          </a:xfrm>
          <a:prstGeom prst="ellipse">
            <a:avLst/>
          </a:prstGeom>
          <a:solidFill>
            <a:srgbClr val="00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1295583" y="256032"/>
            <a:ext cx="146304" cy="146304"/>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1588191" y="256032"/>
            <a:ext cx="146304" cy="146304"/>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1371600"/>
            <a:ext cx="6126480" cy="2926080"/>
          </a:xfrm>
          <a:prstGeom prst="rect">
            <a:avLst/>
          </a:prstGeom>
          <a:noFill/>
        </p:spPr>
        <p:txBody>
          <a:bodyPr wrap="square" anchor="t">
            <a:spAutoFit/>
          </a:bodyPr>
          <a:lstStyle/>
          <a:p>
            <a:endParaRPr dirty="0"/>
          </a:p>
          <a:p>
            <a:pPr algn="l">
              <a:spcBef>
                <a:spcPts val="0"/>
              </a:spcBef>
              <a:spcAft>
                <a:spcPts val="1800"/>
              </a:spcAft>
            </a:pPr>
            <a:r>
              <a:rPr sz="1600" b="1" i="0" dirty="0">
                <a:solidFill>
                  <a:srgbClr val="009999"/>
                </a:solidFill>
                <a:latin typeface="Arial"/>
              </a:rPr>
              <a:t>DIRECTED</a:t>
            </a:r>
            <a:r>
              <a:rPr sz="1600" b="0" i="0" dirty="0">
                <a:solidFill>
                  <a:srgbClr val="262626"/>
                </a:solidFill>
                <a:latin typeface="Arial"/>
              </a:rPr>
              <a:t> - a human writes each case by hand</a:t>
            </a:r>
          </a:p>
          <a:p>
            <a:pPr algn="l">
              <a:spcBef>
                <a:spcPts val="0"/>
              </a:spcBef>
              <a:spcAft>
                <a:spcPts val="1800"/>
              </a:spcAft>
            </a:pPr>
            <a:r>
              <a:rPr sz="1600" b="1" i="0" dirty="0">
                <a:solidFill>
                  <a:srgbClr val="009999"/>
                </a:solidFill>
                <a:latin typeface="Arial"/>
              </a:rPr>
              <a:t>RANDOM</a:t>
            </a:r>
            <a:r>
              <a:rPr sz="1600" b="0" i="0" dirty="0">
                <a:solidFill>
                  <a:srgbClr val="262626"/>
                </a:solidFill>
                <a:latin typeface="Arial"/>
              </a:rPr>
              <a:t> - a tool generates cases automatically</a:t>
            </a:r>
          </a:p>
          <a:p>
            <a:pPr algn="l">
              <a:spcBef>
                <a:spcPts val="0"/>
              </a:spcBef>
              <a:spcAft>
                <a:spcPts val="1600"/>
              </a:spcAft>
            </a:pPr>
            <a:r>
              <a:rPr sz="1450" b="1" i="0" dirty="0">
                <a:solidFill>
                  <a:srgbClr val="262626"/>
                </a:solidFill>
                <a:latin typeface="Arial"/>
              </a:rPr>
              <a:t>Unconstrained: </a:t>
            </a:r>
            <a:r>
              <a:rPr sz="1450" b="0" i="0" dirty="0">
                <a:solidFill>
                  <a:srgbClr val="262626"/>
                </a:solidFill>
                <a:latin typeface="Arial"/>
              </a:rPr>
              <a:t>legal-looking noise, almost useless</a:t>
            </a:r>
          </a:p>
          <a:p>
            <a:pPr algn="l">
              <a:spcBef>
                <a:spcPts val="0"/>
              </a:spcBef>
              <a:spcAft>
                <a:spcPts val="0"/>
              </a:spcAft>
            </a:pPr>
            <a:r>
              <a:rPr sz="1450" b="1" i="0" dirty="0">
                <a:solidFill>
                  <a:srgbClr val="262626"/>
                </a:solidFill>
                <a:latin typeface="Arial"/>
              </a:rPr>
              <a:t>Constrained: </a:t>
            </a:r>
            <a:r>
              <a:rPr sz="1450" b="0" i="0" dirty="0">
                <a:solidFill>
                  <a:srgbClr val="262626"/>
                </a:solidFill>
                <a:latin typeface="Arial"/>
              </a:rPr>
              <a:t>random inside rules you define</a:t>
            </a:r>
          </a:p>
        </p:txBody>
      </p:sp>
      <p:sp>
        <p:nvSpPr>
          <p:cNvPr id="11" name="Rounded Rectangle 10"/>
          <p:cNvSpPr/>
          <p:nvPr/>
        </p:nvSpPr>
        <p:spPr>
          <a:xfrm>
            <a:off x="457200" y="5577840"/>
            <a:ext cx="11274552" cy="640080"/>
          </a:xfrm>
          <a:prstGeom prst="roundRect">
            <a:avLst/>
          </a:prstGeom>
          <a:solidFill>
            <a:srgbClr val="009999"/>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1450" b="1" i="0" dirty="0">
                <a:solidFill>
                  <a:srgbClr val="FFFFFF"/>
                </a:solidFill>
                <a:latin typeface="Arial"/>
              </a:rPr>
              <a:t>Real projects use both. Directed covers what you know. Constrained-random finds what you don't.</a:t>
            </a:r>
          </a:p>
        </p:txBody>
      </p:sp>
      <p:sp>
        <p:nvSpPr>
          <p:cNvPr id="12" name="Rounded Rectangle 11"/>
          <p:cNvSpPr/>
          <p:nvPr/>
        </p:nvSpPr>
        <p:spPr>
          <a:xfrm>
            <a:off x="7863840" y="1371600"/>
            <a:ext cx="2194560" cy="502920"/>
          </a:xfrm>
          <a:prstGeom prst="roundRect">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1200" b="1" i="0">
                <a:solidFill>
                  <a:srgbClr val="262626"/>
                </a:solidFill>
                <a:latin typeface="Arial"/>
              </a:rPr>
              <a:t>Testing Approaches</a:t>
            </a:r>
          </a:p>
        </p:txBody>
      </p:sp>
      <p:sp>
        <p:nvSpPr>
          <p:cNvPr id="13" name="Rounded Rectangle 12"/>
          <p:cNvSpPr/>
          <p:nvPr/>
        </p:nvSpPr>
        <p:spPr>
          <a:xfrm>
            <a:off x="6903720" y="2423160"/>
            <a:ext cx="1737360" cy="594360"/>
          </a:xfrm>
          <a:prstGeom prst="roundRect">
            <a:avLst/>
          </a:prstGeom>
          <a:solidFill>
            <a:srgbClr val="009999"/>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1300" b="1" i="0">
                <a:solidFill>
                  <a:srgbClr val="FFFFFF"/>
                </a:solidFill>
                <a:latin typeface="Arial"/>
              </a:rPr>
              <a:t>Directed</a:t>
            </a:r>
          </a:p>
        </p:txBody>
      </p:sp>
      <p:sp>
        <p:nvSpPr>
          <p:cNvPr id="14" name="Rounded Rectangle 13"/>
          <p:cNvSpPr/>
          <p:nvPr/>
        </p:nvSpPr>
        <p:spPr>
          <a:xfrm>
            <a:off x="9144000" y="2423160"/>
            <a:ext cx="1737360" cy="594360"/>
          </a:xfrm>
          <a:prstGeom prst="roundRect">
            <a:avLst/>
          </a:prstGeom>
          <a:solidFill>
            <a:srgbClr val="009999"/>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1300" b="1" i="0">
                <a:solidFill>
                  <a:srgbClr val="FFFFFF"/>
                </a:solidFill>
                <a:latin typeface="Arial"/>
              </a:rPr>
              <a:t>Random</a:t>
            </a:r>
          </a:p>
        </p:txBody>
      </p:sp>
      <p:cxnSp>
        <p:nvCxnSpPr>
          <p:cNvPr id="15" name="Connector 14"/>
          <p:cNvCxnSpPr/>
          <p:nvPr/>
        </p:nvCxnSpPr>
        <p:spPr>
          <a:xfrm flipH="1">
            <a:off x="7772400" y="1874519"/>
            <a:ext cx="731520" cy="530353"/>
          </a:xfrm>
          <a:prstGeom prst="line">
            <a:avLst/>
          </a:prstGeom>
          <a:ln w="19050">
            <a:solidFill>
              <a:srgbClr val="7F7F7F"/>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9509760" y="1874519"/>
            <a:ext cx="502920" cy="530353"/>
          </a:xfrm>
          <a:prstGeom prst="line">
            <a:avLst/>
          </a:prstGeom>
          <a:ln w="19050">
            <a:solidFill>
              <a:srgbClr val="7F7F7F"/>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7084771" y="2514600"/>
            <a:ext cx="140817" cy="140817"/>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6995160" y="2674620"/>
            <a:ext cx="320040" cy="224027"/>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8183879" y="3657600"/>
            <a:ext cx="1600200" cy="594360"/>
          </a:xfrm>
          <a:prstGeom prst="roundRect">
            <a:avLst/>
          </a:prstGeom>
          <a:solidFill>
            <a:srgbClr val="D9D9D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1150" b="1" i="0">
                <a:solidFill>
                  <a:srgbClr val="262626"/>
                </a:solidFill>
                <a:latin typeface="Arial"/>
              </a:rPr>
              <a:t>Unconstrained</a:t>
            </a:r>
          </a:p>
        </p:txBody>
      </p:sp>
      <p:sp>
        <p:nvSpPr>
          <p:cNvPr id="20" name="Rounded Rectangle 19"/>
          <p:cNvSpPr/>
          <p:nvPr/>
        </p:nvSpPr>
        <p:spPr>
          <a:xfrm>
            <a:off x="9966960" y="3657600"/>
            <a:ext cx="1600200" cy="594360"/>
          </a:xfrm>
          <a:prstGeom prst="roundRect">
            <a:avLst/>
          </a:prstGeom>
          <a:solidFill>
            <a:srgbClr val="009999"/>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1150" b="1" i="0">
                <a:solidFill>
                  <a:srgbClr val="FFFFFF"/>
                </a:solidFill>
                <a:latin typeface="Arial"/>
              </a:rPr>
              <a:t>Constrained</a:t>
            </a:r>
          </a:p>
        </p:txBody>
      </p:sp>
      <p:cxnSp>
        <p:nvCxnSpPr>
          <p:cNvPr id="21" name="Connector 20"/>
          <p:cNvCxnSpPr/>
          <p:nvPr/>
        </p:nvCxnSpPr>
        <p:spPr>
          <a:xfrm flipH="1">
            <a:off x="9006840" y="3035808"/>
            <a:ext cx="777240" cy="603504"/>
          </a:xfrm>
          <a:prstGeom prst="line">
            <a:avLst/>
          </a:prstGeom>
          <a:ln w="19050">
            <a:solidFill>
              <a:srgbClr val="7F7F7F"/>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0149840" y="3035808"/>
            <a:ext cx="594360" cy="603504"/>
          </a:xfrm>
          <a:prstGeom prst="line">
            <a:avLst/>
          </a:prstGeom>
          <a:ln w="19050">
            <a:solidFill>
              <a:srgbClr val="7F7F7F"/>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3" name="Cross 22"/>
          <p:cNvSpPr/>
          <p:nvPr/>
        </p:nvSpPr>
        <p:spPr>
          <a:xfrm rot="2700000">
            <a:off x="9646920" y="3794760"/>
            <a:ext cx="256032" cy="256032"/>
          </a:xfrm>
          <a:prstGeom prst="plus">
            <a:avLst/>
          </a:prstGeom>
          <a:solidFill>
            <a:srgbClr val="C030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84048"/>
            <a:ext cx="10607040" cy="685800"/>
          </a:xfrm>
          <a:prstGeom prst="rect">
            <a:avLst/>
          </a:prstGeom>
          <a:noFill/>
        </p:spPr>
        <p:txBody>
          <a:bodyPr wrap="square">
            <a:spAutoFit/>
          </a:bodyPr>
          <a:lstStyle/>
          <a:p>
            <a:r>
              <a:rPr sz="2800" b="1">
                <a:solidFill>
                  <a:srgbClr val="009999"/>
                </a:solidFill>
                <a:latin typeface="Arial"/>
              </a:rPr>
              <a:t>Directed Testing - You Write Every Case</a:t>
            </a:r>
          </a:p>
        </p:txBody>
      </p:sp>
      <p:sp>
        <p:nvSpPr>
          <p:cNvPr id="3" name="TextBox 2"/>
          <p:cNvSpPr txBox="1"/>
          <p:nvPr/>
        </p:nvSpPr>
        <p:spPr>
          <a:xfrm>
            <a:off x="365760" y="6446520"/>
            <a:ext cx="11521440" cy="292608"/>
          </a:xfrm>
          <a:prstGeom prst="rect">
            <a:avLst/>
          </a:prstGeom>
          <a:noFill/>
        </p:spPr>
        <p:txBody>
          <a:bodyPr wrap="none">
            <a:spAutoFit/>
          </a:bodyPr>
          <a:lstStyle/>
          <a:p>
            <a:r>
              <a:rPr sz="900">
                <a:solidFill>
                  <a:srgbClr val="7F7F7F"/>
                </a:solidFill>
                <a:latin typeface="Arial"/>
              </a:rPr>
              <a:t>Restricted | (c) Siemens 2026 | Prajwal Matukumalli | DISW EDA | 2026-09-09</a:t>
            </a:r>
          </a:p>
        </p:txBody>
      </p:sp>
      <p:sp>
        <p:nvSpPr>
          <p:cNvPr id="4" name="Oval 3"/>
          <p:cNvSpPr/>
          <p:nvPr/>
        </p:nvSpPr>
        <p:spPr>
          <a:xfrm>
            <a:off x="10125151" y="256032"/>
            <a:ext cx="146304" cy="146304"/>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0417759" y="256032"/>
            <a:ext cx="146304" cy="146304"/>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0710367" y="256032"/>
            <a:ext cx="146304" cy="146304"/>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1002975" y="256032"/>
            <a:ext cx="146304" cy="146304"/>
          </a:xfrm>
          <a:prstGeom prst="ellipse">
            <a:avLst/>
          </a:prstGeom>
          <a:solidFill>
            <a:srgbClr val="00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1295583" y="256032"/>
            <a:ext cx="146304" cy="146304"/>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1588191" y="256032"/>
            <a:ext cx="146304" cy="146304"/>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457200" y="1188720"/>
            <a:ext cx="6126480" cy="1417320"/>
          </a:xfrm>
          <a:prstGeom prst="roundRect">
            <a:avLst>
              <a:gd name="adj" fmla="val 3500"/>
            </a:avLst>
          </a:prstGeom>
          <a:solidFill>
            <a:srgbClr val="F4F4F4"/>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94360" y="1261872"/>
            <a:ext cx="5852160" cy="1271016"/>
          </a:xfrm>
          <a:prstGeom prst="rect">
            <a:avLst/>
          </a:prstGeom>
          <a:noFill/>
        </p:spPr>
        <p:txBody>
          <a:bodyPr wrap="square">
            <a:spAutoFit/>
          </a:bodyPr>
          <a:lstStyle/>
          <a:p>
            <a:pPr>
              <a:spcAft>
                <a:spcPts val="200"/>
              </a:spcAft>
            </a:pPr>
            <a:r>
              <a:rPr sz="1100" i="1" dirty="0">
                <a:solidFill>
                  <a:srgbClr val="4C8C4A"/>
                </a:solidFill>
                <a:latin typeface="Consolas"/>
              </a:rPr>
              <a:t>// T03: Write 8 values, read 8, verify order</a:t>
            </a:r>
          </a:p>
          <a:p>
            <a:pPr>
              <a:spcAft>
                <a:spcPts val="200"/>
              </a:spcAft>
            </a:pPr>
            <a:r>
              <a:rPr sz="1100" i="1" dirty="0">
                <a:solidFill>
                  <a:srgbClr val="4C8C4A"/>
                </a:solidFill>
                <a:latin typeface="Consolas"/>
              </a:rPr>
              <a:t>// 1. reset the FIFO</a:t>
            </a:r>
          </a:p>
          <a:p>
            <a:pPr>
              <a:spcAft>
                <a:spcPts val="200"/>
              </a:spcAft>
            </a:pPr>
            <a:r>
              <a:rPr sz="1100" i="1" dirty="0">
                <a:solidFill>
                  <a:srgbClr val="4C8C4A"/>
                </a:solidFill>
                <a:latin typeface="Consolas"/>
              </a:rPr>
              <a:t>// 2. write </a:t>
            </a:r>
            <a:r>
              <a:rPr sz="1100" i="1" dirty="0" err="1">
                <a:solidFill>
                  <a:srgbClr val="4C8C4A"/>
                </a:solidFill>
                <a:latin typeface="Consolas"/>
              </a:rPr>
              <a:t>data_in</a:t>
            </a:r>
            <a:r>
              <a:rPr sz="1100" i="1" dirty="0">
                <a:solidFill>
                  <a:srgbClr val="4C8C4A"/>
                </a:solidFill>
                <a:latin typeface="Consolas"/>
              </a:rPr>
              <a:t> = 0,10,20,30,40,50,60,70</a:t>
            </a:r>
          </a:p>
          <a:p>
            <a:pPr>
              <a:spcAft>
                <a:spcPts val="200"/>
              </a:spcAft>
            </a:pPr>
            <a:r>
              <a:rPr sz="1100" i="1" dirty="0">
                <a:solidFill>
                  <a:srgbClr val="4C8C4A"/>
                </a:solidFill>
                <a:latin typeface="Consolas"/>
              </a:rPr>
              <a:t>// 3. check full == 1</a:t>
            </a:r>
          </a:p>
          <a:p>
            <a:pPr>
              <a:spcAft>
                <a:spcPts val="200"/>
              </a:spcAft>
            </a:pPr>
            <a:r>
              <a:rPr sz="1100" i="1" dirty="0">
                <a:solidFill>
                  <a:srgbClr val="4C8C4A"/>
                </a:solidFill>
                <a:latin typeface="Consolas"/>
              </a:rPr>
              <a:t>// 4. read 8 values, expect 0,10,...,70 in order</a:t>
            </a:r>
          </a:p>
          <a:p>
            <a:pPr>
              <a:spcAft>
                <a:spcPts val="200"/>
              </a:spcAft>
            </a:pPr>
            <a:r>
              <a:rPr sz="1100" i="1" dirty="0">
                <a:solidFill>
                  <a:srgbClr val="4C8C4A"/>
                </a:solidFill>
                <a:latin typeface="Consolas"/>
              </a:rPr>
              <a:t>// 5. check empty == 1</a:t>
            </a:r>
          </a:p>
        </p:txBody>
      </p:sp>
      <p:sp>
        <p:nvSpPr>
          <p:cNvPr id="12" name="TextBox 11"/>
          <p:cNvSpPr txBox="1"/>
          <p:nvPr/>
        </p:nvSpPr>
        <p:spPr>
          <a:xfrm>
            <a:off x="457200" y="2743200"/>
            <a:ext cx="6126480" cy="457200"/>
          </a:xfrm>
          <a:prstGeom prst="rect">
            <a:avLst/>
          </a:prstGeom>
          <a:noFill/>
        </p:spPr>
        <p:txBody>
          <a:bodyPr wrap="square" anchor="t">
            <a:spAutoFit/>
          </a:bodyPr>
          <a:lstStyle/>
          <a:p>
            <a:endParaRPr/>
          </a:p>
          <a:p>
            <a:pPr algn="l">
              <a:spcBef>
                <a:spcPts val="0"/>
              </a:spcBef>
              <a:spcAft>
                <a:spcPts val="0"/>
              </a:spcAft>
            </a:pPr>
            <a:r>
              <a:rPr sz="1500" b="1" i="0">
                <a:solidFill>
                  <a:srgbClr val="262626"/>
                </a:solidFill>
                <a:latin typeface="Arial"/>
              </a:rPr>
              <a:t>How many directed tests cover every 8-byte sequence?</a:t>
            </a:r>
          </a:p>
        </p:txBody>
      </p:sp>
      <p:sp>
        <p:nvSpPr>
          <p:cNvPr id="13" name="TextBox 12"/>
          <p:cNvSpPr txBox="1"/>
          <p:nvPr/>
        </p:nvSpPr>
        <p:spPr>
          <a:xfrm>
            <a:off x="393865" y="3086100"/>
            <a:ext cx="6126480" cy="548640"/>
          </a:xfrm>
          <a:prstGeom prst="rect">
            <a:avLst/>
          </a:prstGeom>
          <a:noFill/>
        </p:spPr>
        <p:txBody>
          <a:bodyPr wrap="square" anchor="t">
            <a:spAutoFit/>
          </a:bodyPr>
          <a:lstStyle/>
          <a:p>
            <a:endParaRPr dirty="0"/>
          </a:p>
          <a:p>
            <a:pPr algn="l">
              <a:spcBef>
                <a:spcPts val="0"/>
              </a:spcBef>
              <a:spcAft>
                <a:spcPts val="0"/>
              </a:spcAft>
            </a:pPr>
            <a:r>
              <a:rPr sz="2800" b="1" i="0" dirty="0">
                <a:solidFill>
                  <a:srgbClr val="009999"/>
                </a:solidFill>
                <a:latin typeface="Arial"/>
              </a:rPr>
              <a:t>2^64  =  1.8 x 10^19</a:t>
            </a:r>
          </a:p>
        </p:txBody>
      </p:sp>
      <p:graphicFrame>
        <p:nvGraphicFramePr>
          <p:cNvPr id="14" name="Table 13"/>
          <p:cNvGraphicFramePr>
            <a:graphicFrameLocks noGrp="1"/>
          </p:cNvGraphicFramePr>
          <p:nvPr>
            <p:extLst>
              <p:ext uri="{D42A27DB-BD31-4B8C-83A1-F6EECF244321}">
                <p14:modId xmlns:p14="http://schemas.microsoft.com/office/powerpoint/2010/main" val="3311479777"/>
              </p:ext>
            </p:extLst>
          </p:nvPr>
        </p:nvGraphicFramePr>
        <p:xfrm>
          <a:off x="457200" y="3886200"/>
          <a:ext cx="6126480" cy="1234440"/>
        </p:xfrm>
        <a:graphic>
          <a:graphicData uri="http://schemas.openxmlformats.org/drawingml/2006/table">
            <a:tbl>
              <a:tblPr firstRow="1" bandRow="1">
                <a:tableStyleId>{5C22544A-7EE6-4342-B048-85BDC9FD1C3A}</a:tableStyleId>
              </a:tblPr>
              <a:tblGrid>
                <a:gridCol w="310896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tblGrid>
              <a:tr h="411480">
                <a:tc>
                  <a:txBody>
                    <a:bodyPr/>
                    <a:lstStyle/>
                    <a:p>
                      <a:pPr algn="l"/>
                      <a:r>
                        <a:rPr sz="1300" b="0" dirty="0">
                          <a:solidFill>
                            <a:schemeClr val="tx1"/>
                          </a:solidFill>
                          <a:latin typeface="Arial"/>
                        </a:rPr>
                        <a:t>1 test per millisecond</a:t>
                      </a:r>
                    </a:p>
                  </a:txBody>
                  <a:tcPr marL="73152" marR="73152" marT="27432" marB="27432" anchor="ctr">
                    <a:solidFill>
                      <a:srgbClr val="F7F7F7"/>
                    </a:solidFill>
                  </a:tcPr>
                </a:tc>
                <a:tc>
                  <a:txBody>
                    <a:bodyPr/>
                    <a:lstStyle/>
                    <a:p>
                      <a:pPr algn="l"/>
                      <a:r>
                        <a:rPr sz="1300" b="0" dirty="0">
                          <a:solidFill>
                            <a:schemeClr val="tx1"/>
                          </a:solidFill>
                          <a:latin typeface="Arial"/>
                        </a:rPr>
                        <a:t>585 million years</a:t>
                      </a:r>
                    </a:p>
                  </a:txBody>
                  <a:tcPr marL="73152" marR="73152" marT="27432" marB="27432" anchor="ctr">
                    <a:solidFill>
                      <a:srgbClr val="F7F7F7"/>
                    </a:solidFill>
                  </a:tcPr>
                </a:tc>
                <a:extLst>
                  <a:ext uri="{0D108BD9-81ED-4DB2-BD59-A6C34878D82A}">
                    <a16:rowId xmlns:a16="http://schemas.microsoft.com/office/drawing/2014/main" val="10000"/>
                  </a:ext>
                </a:extLst>
              </a:tr>
              <a:tr h="411480">
                <a:tc>
                  <a:txBody>
                    <a:bodyPr/>
                    <a:lstStyle/>
                    <a:p>
                      <a:pPr algn="l"/>
                      <a:r>
                        <a:rPr sz="1300">
                          <a:latin typeface="Arial"/>
                        </a:rPr>
                        <a:t>1 test per microsecond</a:t>
                      </a:r>
                    </a:p>
                  </a:txBody>
                  <a:tcPr marL="73152" marR="73152" marT="27432" marB="27432" anchor="ctr">
                    <a:solidFill>
                      <a:srgbClr val="FFFFFF"/>
                    </a:solidFill>
                  </a:tcPr>
                </a:tc>
                <a:tc>
                  <a:txBody>
                    <a:bodyPr/>
                    <a:lstStyle/>
                    <a:p>
                      <a:pPr algn="l"/>
                      <a:r>
                        <a:rPr sz="1300" dirty="0">
                          <a:latin typeface="Arial"/>
                        </a:rPr>
                        <a:t>585 thousand years</a:t>
                      </a:r>
                    </a:p>
                  </a:txBody>
                  <a:tcPr marL="73152" marR="73152" marT="27432" marB="27432" anchor="ctr">
                    <a:solidFill>
                      <a:srgbClr val="FFFFFF"/>
                    </a:solidFill>
                  </a:tcPr>
                </a:tc>
                <a:extLst>
                  <a:ext uri="{0D108BD9-81ED-4DB2-BD59-A6C34878D82A}">
                    <a16:rowId xmlns:a16="http://schemas.microsoft.com/office/drawing/2014/main" val="10001"/>
                  </a:ext>
                </a:extLst>
              </a:tr>
              <a:tr h="411480">
                <a:tc>
                  <a:txBody>
                    <a:bodyPr/>
                    <a:lstStyle/>
                    <a:p>
                      <a:pPr algn="l"/>
                      <a:r>
                        <a:rPr sz="1300" b="1" dirty="0">
                          <a:solidFill>
                            <a:srgbClr val="B04C14"/>
                          </a:solidFill>
                          <a:latin typeface="Arial"/>
                        </a:rPr>
                        <a:t>1 test per NANOSECOND</a:t>
                      </a:r>
                    </a:p>
                  </a:txBody>
                  <a:tcPr marL="73152" marR="73152" marT="27432" marB="27432" anchor="ctr">
                    <a:solidFill>
                      <a:srgbClr val="FADDC4"/>
                    </a:solidFill>
                  </a:tcPr>
                </a:tc>
                <a:tc>
                  <a:txBody>
                    <a:bodyPr/>
                    <a:lstStyle/>
                    <a:p>
                      <a:pPr algn="l"/>
                      <a:r>
                        <a:rPr sz="1300" b="1" dirty="0">
                          <a:solidFill>
                            <a:srgbClr val="B04C14"/>
                          </a:solidFill>
                          <a:latin typeface="Arial"/>
                        </a:rPr>
                        <a:t>585 years</a:t>
                      </a:r>
                    </a:p>
                  </a:txBody>
                  <a:tcPr marL="73152" marR="73152" marT="27432" marB="27432" anchor="ctr">
                    <a:solidFill>
                      <a:srgbClr val="FADDC4"/>
                    </a:solidFill>
                  </a:tcPr>
                </a:tc>
                <a:extLst>
                  <a:ext uri="{0D108BD9-81ED-4DB2-BD59-A6C34878D82A}">
                    <a16:rowId xmlns:a16="http://schemas.microsoft.com/office/drawing/2014/main" val="10002"/>
                  </a:ext>
                </a:extLst>
              </a:tr>
            </a:tbl>
          </a:graphicData>
        </a:graphic>
      </p:graphicFrame>
      <p:sp>
        <p:nvSpPr>
          <p:cNvPr id="15" name="TextBox 14"/>
          <p:cNvSpPr txBox="1"/>
          <p:nvPr/>
        </p:nvSpPr>
        <p:spPr>
          <a:xfrm>
            <a:off x="457200" y="5257800"/>
            <a:ext cx="6126480" cy="822960"/>
          </a:xfrm>
          <a:prstGeom prst="rect">
            <a:avLst/>
          </a:prstGeom>
          <a:noFill/>
        </p:spPr>
        <p:txBody>
          <a:bodyPr wrap="square" anchor="t">
            <a:spAutoFit/>
          </a:bodyPr>
          <a:lstStyle/>
          <a:p>
            <a:endParaRPr/>
          </a:p>
          <a:p>
            <a:pPr algn="l">
              <a:spcBef>
                <a:spcPts val="0"/>
              </a:spcBef>
              <a:spcAft>
                <a:spcPts val="300"/>
              </a:spcAft>
            </a:pPr>
            <a:r>
              <a:rPr sz="1300" b="1" i="0">
                <a:solidFill>
                  <a:srgbClr val="262626"/>
                </a:solidFill>
                <a:latin typeface="Arial"/>
              </a:rPr>
              <a:t>Even at a billion tests per second, you finish 585 years from now.</a:t>
            </a:r>
          </a:p>
          <a:p>
            <a:pPr algn="l">
              <a:spcBef>
                <a:spcPts val="0"/>
              </a:spcBef>
              <a:spcAft>
                <a:spcPts val="0"/>
              </a:spcAft>
            </a:pPr>
            <a:r>
              <a:rPr sz="1400" b="1" i="0">
                <a:solidFill>
                  <a:srgbClr val="E8792E"/>
                </a:solidFill>
                <a:latin typeface="Arial"/>
              </a:rPr>
              <a:t>Directed-only is not slow. It is impossible.</a:t>
            </a:r>
          </a:p>
        </p:txBody>
      </p:sp>
      <p:pic>
        <p:nvPicPr>
          <p:cNvPr id="16" name="Picture 15" descr="log_chart.png"/>
          <p:cNvPicPr>
            <a:picLocks noChangeAspect="1"/>
          </p:cNvPicPr>
          <p:nvPr/>
        </p:nvPicPr>
        <p:blipFill>
          <a:blip r:embed="rId3"/>
          <a:stretch>
            <a:fillRect/>
          </a:stretch>
        </p:blipFill>
        <p:spPr>
          <a:xfrm>
            <a:off x="6766560" y="1700266"/>
            <a:ext cx="4937760" cy="4006107"/>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84048"/>
            <a:ext cx="10607040" cy="685800"/>
          </a:xfrm>
          <a:prstGeom prst="rect">
            <a:avLst/>
          </a:prstGeom>
          <a:noFill/>
        </p:spPr>
        <p:txBody>
          <a:bodyPr wrap="square">
            <a:spAutoFit/>
          </a:bodyPr>
          <a:lstStyle/>
          <a:p>
            <a:r>
              <a:rPr sz="2800" b="1">
                <a:solidFill>
                  <a:srgbClr val="009999"/>
                </a:solidFill>
                <a:latin typeface="Arial"/>
              </a:rPr>
              <a:t>Constrained-Random - Let the Tool Explore</a:t>
            </a:r>
          </a:p>
        </p:txBody>
      </p:sp>
      <p:sp>
        <p:nvSpPr>
          <p:cNvPr id="3" name="TextBox 2"/>
          <p:cNvSpPr txBox="1"/>
          <p:nvPr/>
        </p:nvSpPr>
        <p:spPr>
          <a:xfrm>
            <a:off x="365760" y="6446520"/>
            <a:ext cx="11521440" cy="292608"/>
          </a:xfrm>
          <a:prstGeom prst="rect">
            <a:avLst/>
          </a:prstGeom>
          <a:noFill/>
        </p:spPr>
        <p:txBody>
          <a:bodyPr wrap="none">
            <a:spAutoFit/>
          </a:bodyPr>
          <a:lstStyle/>
          <a:p>
            <a:r>
              <a:rPr sz="900">
                <a:solidFill>
                  <a:srgbClr val="7F7F7F"/>
                </a:solidFill>
                <a:latin typeface="Arial"/>
              </a:rPr>
              <a:t>Restricted | (c) Siemens 2026 | Prajwal Matukumalli | DISW EDA | 2026-09-09</a:t>
            </a:r>
          </a:p>
        </p:txBody>
      </p:sp>
      <p:sp>
        <p:nvSpPr>
          <p:cNvPr id="4" name="Oval 3"/>
          <p:cNvSpPr/>
          <p:nvPr/>
        </p:nvSpPr>
        <p:spPr>
          <a:xfrm>
            <a:off x="10125151" y="256032"/>
            <a:ext cx="146304" cy="146304"/>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0417759" y="256032"/>
            <a:ext cx="146304" cy="146304"/>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0710367" y="256032"/>
            <a:ext cx="146304" cy="146304"/>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1002975" y="256032"/>
            <a:ext cx="146304" cy="146304"/>
          </a:xfrm>
          <a:prstGeom prst="ellipse">
            <a:avLst/>
          </a:prstGeom>
          <a:solidFill>
            <a:srgbClr val="00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1295583" y="256032"/>
            <a:ext cx="146304" cy="146304"/>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1588191" y="256032"/>
            <a:ext cx="146304" cy="146304"/>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1161288"/>
            <a:ext cx="6126480" cy="457200"/>
          </a:xfrm>
          <a:prstGeom prst="rect">
            <a:avLst/>
          </a:prstGeom>
          <a:noFill/>
        </p:spPr>
        <p:txBody>
          <a:bodyPr wrap="square" anchor="t">
            <a:spAutoFit/>
          </a:bodyPr>
          <a:lstStyle/>
          <a:p>
            <a:endParaRPr dirty="0"/>
          </a:p>
          <a:p>
            <a:pPr algn="l">
              <a:spcBef>
                <a:spcPts val="0"/>
              </a:spcBef>
              <a:spcAft>
                <a:spcPts val="0"/>
              </a:spcAft>
            </a:pPr>
            <a:r>
              <a:rPr sz="1500" b="0" i="1" dirty="0">
                <a:solidFill>
                  <a:srgbClr val="262626"/>
                </a:solidFill>
                <a:latin typeface="Arial"/>
              </a:rPr>
              <a:t>The tool generates stimulus randomly, but only inside rules you write.</a:t>
            </a:r>
          </a:p>
        </p:txBody>
      </p:sp>
      <p:sp>
        <p:nvSpPr>
          <p:cNvPr id="11" name="TextBox 10"/>
          <p:cNvSpPr txBox="1"/>
          <p:nvPr/>
        </p:nvSpPr>
        <p:spPr>
          <a:xfrm>
            <a:off x="457200" y="1710205"/>
            <a:ext cx="6126480" cy="1051560"/>
          </a:xfrm>
          <a:prstGeom prst="rect">
            <a:avLst/>
          </a:prstGeom>
          <a:noFill/>
        </p:spPr>
        <p:txBody>
          <a:bodyPr wrap="square" anchor="t">
            <a:spAutoFit/>
          </a:bodyPr>
          <a:lstStyle/>
          <a:p>
            <a:endParaRPr dirty="0"/>
          </a:p>
          <a:p>
            <a:pPr algn="l">
              <a:spcBef>
                <a:spcPts val="0"/>
              </a:spcBef>
              <a:spcAft>
                <a:spcPts val="800"/>
              </a:spcAft>
            </a:pPr>
            <a:r>
              <a:rPr sz="1400" b="1" i="0" dirty="0">
                <a:solidFill>
                  <a:srgbClr val="262626"/>
                </a:solidFill>
                <a:latin typeface="Arial"/>
              </a:rPr>
              <a:t>Why constrain it?</a:t>
            </a:r>
          </a:p>
          <a:p>
            <a:pPr algn="l">
              <a:spcBef>
                <a:spcPts val="0"/>
              </a:spcBef>
              <a:spcAft>
                <a:spcPts val="600"/>
              </a:spcAft>
            </a:pPr>
            <a:r>
              <a:rPr sz="1350" b="0" i="0" dirty="0">
                <a:solidFill>
                  <a:srgbClr val="262626"/>
                </a:solidFill>
                <a:latin typeface="Arial"/>
              </a:rPr>
              <a:t>•  Pure random is mostly illegal or uninteresting stimulus</a:t>
            </a:r>
          </a:p>
          <a:p>
            <a:pPr algn="l">
              <a:spcBef>
                <a:spcPts val="0"/>
              </a:spcBef>
              <a:spcAft>
                <a:spcPts val="0"/>
              </a:spcAft>
            </a:pPr>
            <a:r>
              <a:rPr sz="1350" b="0" i="0" dirty="0">
                <a:solidFill>
                  <a:srgbClr val="262626"/>
                </a:solidFill>
                <a:latin typeface="Arial"/>
              </a:rPr>
              <a:t>•  Constraints keep it legal and aim at interesting territory</a:t>
            </a:r>
          </a:p>
        </p:txBody>
      </p:sp>
      <p:sp>
        <p:nvSpPr>
          <p:cNvPr id="12" name="Rounded Rectangle 11"/>
          <p:cNvSpPr/>
          <p:nvPr/>
        </p:nvSpPr>
        <p:spPr>
          <a:xfrm>
            <a:off x="457200" y="3017520"/>
            <a:ext cx="6126480" cy="1508760"/>
          </a:xfrm>
          <a:prstGeom prst="roundRect">
            <a:avLst/>
          </a:prstGeom>
          <a:solidFill>
            <a:srgbClr val="ECF7F7"/>
          </a:solidFill>
          <a:ln w="19050">
            <a:solidFill>
              <a:srgbClr val="009999"/>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spcBef>
                <a:spcPts val="0"/>
              </a:spcBef>
              <a:spcAft>
                <a:spcPts val="800"/>
              </a:spcAft>
            </a:pPr>
            <a:r>
              <a:rPr sz="1200" b="1" i="0" dirty="0">
                <a:solidFill>
                  <a:srgbClr val="006E6E"/>
                </a:solidFill>
                <a:latin typeface="Arial"/>
              </a:rPr>
              <a:t>Directed </a:t>
            </a:r>
            <a:br>
              <a:rPr lang="en-IN" sz="1200" b="1" i="0" dirty="0">
                <a:solidFill>
                  <a:srgbClr val="006E6E"/>
                </a:solidFill>
                <a:latin typeface="Arial"/>
              </a:rPr>
            </a:br>
            <a:r>
              <a:rPr lang="en-IN" sz="1200" i="1" dirty="0">
                <a:solidFill>
                  <a:srgbClr val="262626"/>
                </a:solidFill>
                <a:latin typeface="Arial"/>
              </a:rPr>
              <a:t>D</a:t>
            </a:r>
            <a:r>
              <a:rPr sz="1200" b="0" i="1" dirty="0">
                <a:solidFill>
                  <a:srgbClr val="262626"/>
                </a:solidFill>
                <a:latin typeface="Arial"/>
              </a:rPr>
              <a:t>riving the same route to work daily. You know it perfectly, never see anything else.</a:t>
            </a:r>
          </a:p>
          <a:p>
            <a:pPr algn="ctr">
              <a:spcBef>
                <a:spcPts val="0"/>
              </a:spcBef>
              <a:spcAft>
                <a:spcPts val="0"/>
              </a:spcAft>
            </a:pPr>
            <a:r>
              <a:rPr sz="1200" b="1" i="0" dirty="0">
                <a:solidFill>
                  <a:srgbClr val="006E6E"/>
                </a:solidFill>
                <a:latin typeface="Arial"/>
              </a:rPr>
              <a:t>Constrained-random </a:t>
            </a:r>
            <a:br>
              <a:rPr lang="en-IN" sz="1200" b="1" dirty="0">
                <a:solidFill>
                  <a:srgbClr val="006E6E"/>
                </a:solidFill>
                <a:latin typeface="Arial"/>
              </a:rPr>
            </a:br>
            <a:r>
              <a:rPr lang="en-IN" sz="1200" b="0" i="1" dirty="0">
                <a:solidFill>
                  <a:srgbClr val="262626"/>
                </a:solidFill>
                <a:latin typeface="Arial"/>
              </a:rPr>
              <a:t>Ex</a:t>
            </a:r>
            <a:r>
              <a:rPr sz="1200" b="0" i="1" dirty="0" err="1">
                <a:solidFill>
                  <a:srgbClr val="262626"/>
                </a:solidFill>
                <a:latin typeface="Arial"/>
              </a:rPr>
              <a:t>ploring</a:t>
            </a:r>
            <a:r>
              <a:rPr sz="1200" b="0" i="1" dirty="0">
                <a:solidFill>
                  <a:srgbClr val="262626"/>
                </a:solidFill>
                <a:latin typeface="Arial"/>
              </a:rPr>
              <a:t> the city with one rule: stay inside the limits. You find roads you never knew existed.</a:t>
            </a:r>
          </a:p>
        </p:txBody>
      </p:sp>
      <p:sp>
        <p:nvSpPr>
          <p:cNvPr id="13" name="Rectangle 12"/>
          <p:cNvSpPr/>
          <p:nvPr/>
        </p:nvSpPr>
        <p:spPr>
          <a:xfrm>
            <a:off x="457200" y="4709160"/>
            <a:ext cx="6126480" cy="1417320"/>
          </a:xfrm>
          <a:prstGeom prst="rect">
            <a:avLst/>
          </a:prstGeom>
          <a:solidFill>
            <a:srgbClr val="FADDC4"/>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73152" rIns="137160" bIns="73152" rtlCol="0" anchor="ctr"/>
          <a:lstStyle/>
          <a:p>
            <a:pPr algn="ctr"/>
            <a:r>
              <a:rPr sz="1250" b="1" i="0">
                <a:solidFill>
                  <a:srgbClr val="262626"/>
                </a:solidFill>
                <a:latin typeface="Arial"/>
              </a:rPr>
              <a:t>The catch: you cannot predict the input, so you cannot hand-write the expected output. Constrained-random REQUIRES a self-checking testbench - a scoreboard. That is next week.</a:t>
            </a:r>
          </a:p>
        </p:txBody>
      </p:sp>
      <p:sp>
        <p:nvSpPr>
          <p:cNvPr id="14" name="Rectangle 13"/>
          <p:cNvSpPr/>
          <p:nvPr/>
        </p:nvSpPr>
        <p:spPr>
          <a:xfrm>
            <a:off x="457200" y="4709160"/>
            <a:ext cx="73152" cy="1417320"/>
          </a:xfrm>
          <a:prstGeom prst="rect">
            <a:avLst/>
          </a:prstGeom>
          <a:solidFill>
            <a:srgbClr val="E87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city_map.png"/>
          <p:cNvPicPr>
            <a:picLocks noChangeAspect="1"/>
          </p:cNvPicPr>
          <p:nvPr/>
        </p:nvPicPr>
        <p:blipFill>
          <a:blip r:embed="rId3"/>
          <a:stretch>
            <a:fillRect/>
          </a:stretch>
        </p:blipFill>
        <p:spPr>
          <a:xfrm>
            <a:off x="6766560" y="1653683"/>
            <a:ext cx="4937760" cy="4099272"/>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84048"/>
            <a:ext cx="10607040" cy="685800"/>
          </a:xfrm>
          <a:prstGeom prst="rect">
            <a:avLst/>
          </a:prstGeom>
          <a:noFill/>
        </p:spPr>
        <p:txBody>
          <a:bodyPr wrap="square">
            <a:spAutoFit/>
          </a:bodyPr>
          <a:lstStyle/>
          <a:p>
            <a:r>
              <a:rPr sz="2800" b="1" dirty="0">
                <a:solidFill>
                  <a:srgbClr val="009999"/>
                </a:solidFill>
                <a:latin typeface="Arial"/>
              </a:rPr>
              <a:t>Directed vs Constrained-Random</a:t>
            </a:r>
          </a:p>
        </p:txBody>
      </p:sp>
      <p:sp>
        <p:nvSpPr>
          <p:cNvPr id="3" name="TextBox 2"/>
          <p:cNvSpPr txBox="1"/>
          <p:nvPr/>
        </p:nvSpPr>
        <p:spPr>
          <a:xfrm>
            <a:off x="365760" y="6446520"/>
            <a:ext cx="11521440" cy="292608"/>
          </a:xfrm>
          <a:prstGeom prst="rect">
            <a:avLst/>
          </a:prstGeom>
          <a:noFill/>
        </p:spPr>
        <p:txBody>
          <a:bodyPr wrap="none">
            <a:spAutoFit/>
          </a:bodyPr>
          <a:lstStyle/>
          <a:p>
            <a:r>
              <a:rPr sz="900">
                <a:solidFill>
                  <a:srgbClr val="7F7F7F"/>
                </a:solidFill>
                <a:latin typeface="Arial"/>
              </a:rPr>
              <a:t>Restricted | (c) Siemens 2026 | Prajwal Matukumalli | DISW EDA | 2026-09-09</a:t>
            </a:r>
          </a:p>
        </p:txBody>
      </p:sp>
      <p:sp>
        <p:nvSpPr>
          <p:cNvPr id="4" name="Oval 3"/>
          <p:cNvSpPr/>
          <p:nvPr/>
        </p:nvSpPr>
        <p:spPr>
          <a:xfrm>
            <a:off x="10125151" y="256032"/>
            <a:ext cx="146304" cy="146304"/>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0417759" y="256032"/>
            <a:ext cx="146304" cy="146304"/>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0710367" y="256032"/>
            <a:ext cx="146304" cy="146304"/>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1002975" y="256032"/>
            <a:ext cx="146304" cy="146304"/>
          </a:xfrm>
          <a:prstGeom prst="ellipse">
            <a:avLst/>
          </a:prstGeom>
          <a:solidFill>
            <a:srgbClr val="00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1295583" y="256032"/>
            <a:ext cx="146304" cy="146304"/>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1588191" y="256032"/>
            <a:ext cx="146304" cy="146304"/>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10" name="Table 9"/>
          <p:cNvGraphicFramePr>
            <a:graphicFrameLocks noGrp="1"/>
          </p:cNvGraphicFramePr>
          <p:nvPr/>
        </p:nvGraphicFramePr>
        <p:xfrm>
          <a:off x="457200" y="1234440"/>
          <a:ext cx="6126480" cy="3712464"/>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2148840">
                  <a:extLst>
                    <a:ext uri="{9D8B030D-6E8A-4147-A177-3AD203B41FA5}">
                      <a16:colId xmlns:a16="http://schemas.microsoft.com/office/drawing/2014/main" val="20001"/>
                    </a:ext>
                  </a:extLst>
                </a:gridCol>
                <a:gridCol w="2148840">
                  <a:extLst>
                    <a:ext uri="{9D8B030D-6E8A-4147-A177-3AD203B41FA5}">
                      <a16:colId xmlns:a16="http://schemas.microsoft.com/office/drawing/2014/main" val="20002"/>
                    </a:ext>
                  </a:extLst>
                </a:gridCol>
              </a:tblGrid>
              <a:tr h="530352">
                <a:tc>
                  <a:txBody>
                    <a:bodyPr/>
                    <a:lstStyle/>
                    <a:p>
                      <a:pPr algn="l"/>
                      <a:r>
                        <a:rPr sz="1200" b="1">
                          <a:solidFill>
                            <a:srgbClr val="FFFFFF"/>
                          </a:solidFill>
                          <a:latin typeface="Arial"/>
                        </a:rPr>
                        <a:t>Aspect</a:t>
                      </a:r>
                    </a:p>
                  </a:txBody>
                  <a:tcPr marL="73152" marR="73152" marT="27432" marB="27432" anchor="ctr">
                    <a:solidFill>
                      <a:srgbClr val="009999"/>
                    </a:solidFill>
                  </a:tcPr>
                </a:tc>
                <a:tc>
                  <a:txBody>
                    <a:bodyPr/>
                    <a:lstStyle/>
                    <a:p>
                      <a:pPr algn="ctr"/>
                      <a:r>
                        <a:rPr sz="1200" b="1">
                          <a:solidFill>
                            <a:srgbClr val="FFFFFF"/>
                          </a:solidFill>
                          <a:latin typeface="Arial"/>
                        </a:rPr>
                        <a:t>Directed</a:t>
                      </a:r>
                    </a:p>
                  </a:txBody>
                  <a:tcPr marL="73152" marR="73152" marT="27432" marB="27432" anchor="ctr">
                    <a:solidFill>
                      <a:srgbClr val="009999"/>
                    </a:solidFill>
                  </a:tcPr>
                </a:tc>
                <a:tc>
                  <a:txBody>
                    <a:bodyPr/>
                    <a:lstStyle/>
                    <a:p>
                      <a:pPr algn="ctr"/>
                      <a:r>
                        <a:rPr sz="1200" b="1">
                          <a:solidFill>
                            <a:srgbClr val="FFFFFF"/>
                          </a:solidFill>
                          <a:latin typeface="Arial"/>
                        </a:rPr>
                        <a:t>Constrained-Random</a:t>
                      </a:r>
                    </a:p>
                  </a:txBody>
                  <a:tcPr marL="73152" marR="73152" marT="27432" marB="27432" anchor="ctr">
                    <a:solidFill>
                      <a:srgbClr val="009999"/>
                    </a:solidFill>
                  </a:tcPr>
                </a:tc>
                <a:extLst>
                  <a:ext uri="{0D108BD9-81ED-4DB2-BD59-A6C34878D82A}">
                    <a16:rowId xmlns:a16="http://schemas.microsoft.com/office/drawing/2014/main" val="10000"/>
                  </a:ext>
                </a:extLst>
              </a:tr>
              <a:tr h="530352">
                <a:tc>
                  <a:txBody>
                    <a:bodyPr/>
                    <a:lstStyle/>
                    <a:p>
                      <a:pPr algn="l"/>
                      <a:r>
                        <a:rPr sz="1200" b="1">
                          <a:latin typeface="Arial"/>
                        </a:rPr>
                        <a:t>Who makes stimulus</a:t>
                      </a:r>
                    </a:p>
                  </a:txBody>
                  <a:tcPr marL="73152" marR="73152" marT="27432" marB="27432" anchor="ctr">
                    <a:solidFill>
                      <a:srgbClr val="F7F7F7"/>
                    </a:solidFill>
                  </a:tcPr>
                </a:tc>
                <a:tc>
                  <a:txBody>
                    <a:bodyPr/>
                    <a:lstStyle/>
                    <a:p>
                      <a:pPr algn="ctr"/>
                      <a:r>
                        <a:rPr sz="1200" dirty="0">
                          <a:latin typeface="Arial"/>
                        </a:rPr>
                        <a:t>You</a:t>
                      </a:r>
                    </a:p>
                  </a:txBody>
                  <a:tcPr marL="73152" marR="73152" marT="27432" marB="27432" anchor="ctr">
                    <a:solidFill>
                      <a:srgbClr val="BFE6E6"/>
                    </a:solidFill>
                  </a:tcPr>
                </a:tc>
                <a:tc>
                  <a:txBody>
                    <a:bodyPr/>
                    <a:lstStyle/>
                    <a:p>
                      <a:pPr algn="ctr"/>
                      <a:r>
                        <a:rPr sz="1200" dirty="0">
                          <a:latin typeface="Arial"/>
                        </a:rPr>
                        <a:t>The constraint solver</a:t>
                      </a:r>
                    </a:p>
                  </a:txBody>
                  <a:tcPr marL="73152" marR="73152" marT="27432" marB="27432" anchor="ctr">
                    <a:solidFill>
                      <a:srgbClr val="FADDC4"/>
                    </a:solidFill>
                  </a:tcPr>
                </a:tc>
                <a:extLst>
                  <a:ext uri="{0D108BD9-81ED-4DB2-BD59-A6C34878D82A}">
                    <a16:rowId xmlns:a16="http://schemas.microsoft.com/office/drawing/2014/main" val="10001"/>
                  </a:ext>
                </a:extLst>
              </a:tr>
              <a:tr h="530352">
                <a:tc>
                  <a:txBody>
                    <a:bodyPr/>
                    <a:lstStyle/>
                    <a:p>
                      <a:pPr algn="l"/>
                      <a:r>
                        <a:rPr sz="1200" b="1">
                          <a:latin typeface="Arial"/>
                        </a:rPr>
                        <a:t>Finds</a:t>
                      </a:r>
                    </a:p>
                  </a:txBody>
                  <a:tcPr marL="73152" marR="73152" marT="27432" marB="27432" anchor="ctr">
                    <a:solidFill>
                      <a:srgbClr val="FFFFFF"/>
                    </a:solidFill>
                  </a:tcPr>
                </a:tc>
                <a:tc>
                  <a:txBody>
                    <a:bodyPr/>
                    <a:lstStyle/>
                    <a:p>
                      <a:pPr algn="ctr"/>
                      <a:r>
                        <a:rPr sz="1200">
                          <a:latin typeface="Arial"/>
                        </a:rPr>
                        <a:t>Bugs you thought of</a:t>
                      </a:r>
                    </a:p>
                  </a:txBody>
                  <a:tcPr marL="73152" marR="73152" marT="27432" marB="27432" anchor="ctr">
                    <a:solidFill>
                      <a:srgbClr val="BFE6E6"/>
                    </a:solidFill>
                  </a:tcPr>
                </a:tc>
                <a:tc>
                  <a:txBody>
                    <a:bodyPr/>
                    <a:lstStyle/>
                    <a:p>
                      <a:pPr algn="ctr"/>
                      <a:r>
                        <a:rPr sz="1200">
                          <a:latin typeface="Arial"/>
                        </a:rPr>
                        <a:t>Bugs you didn't</a:t>
                      </a:r>
                    </a:p>
                  </a:txBody>
                  <a:tcPr marL="73152" marR="73152" marT="27432" marB="27432" anchor="ctr">
                    <a:solidFill>
                      <a:srgbClr val="FADDC4"/>
                    </a:solidFill>
                  </a:tcPr>
                </a:tc>
                <a:extLst>
                  <a:ext uri="{0D108BD9-81ED-4DB2-BD59-A6C34878D82A}">
                    <a16:rowId xmlns:a16="http://schemas.microsoft.com/office/drawing/2014/main" val="10002"/>
                  </a:ext>
                </a:extLst>
              </a:tr>
              <a:tr h="530352">
                <a:tc>
                  <a:txBody>
                    <a:bodyPr/>
                    <a:lstStyle/>
                    <a:p>
                      <a:pPr algn="l"/>
                      <a:r>
                        <a:rPr sz="1200" b="1">
                          <a:latin typeface="Arial"/>
                        </a:rPr>
                        <a:t>Debug</a:t>
                      </a:r>
                    </a:p>
                  </a:txBody>
                  <a:tcPr marL="73152" marR="73152" marT="27432" marB="27432" anchor="ctr">
                    <a:solidFill>
                      <a:srgbClr val="F7F7F7"/>
                    </a:solidFill>
                  </a:tcPr>
                </a:tc>
                <a:tc>
                  <a:txBody>
                    <a:bodyPr/>
                    <a:lstStyle/>
                    <a:p>
                      <a:pPr algn="ctr"/>
                      <a:r>
                        <a:rPr sz="1200" dirty="0">
                          <a:latin typeface="Arial"/>
                        </a:rPr>
                        <a:t>Easy, deterministic</a:t>
                      </a:r>
                    </a:p>
                  </a:txBody>
                  <a:tcPr marL="73152" marR="73152" marT="27432" marB="27432" anchor="ctr">
                    <a:solidFill>
                      <a:srgbClr val="BFE6E6"/>
                    </a:solidFill>
                  </a:tcPr>
                </a:tc>
                <a:tc>
                  <a:txBody>
                    <a:bodyPr/>
                    <a:lstStyle/>
                    <a:p>
                      <a:pPr algn="ctr"/>
                      <a:r>
                        <a:rPr sz="1200">
                          <a:latin typeface="Arial"/>
                        </a:rPr>
                        <a:t>Harder, needs seed replay</a:t>
                      </a:r>
                    </a:p>
                  </a:txBody>
                  <a:tcPr marL="73152" marR="73152" marT="27432" marB="27432" anchor="ctr">
                    <a:solidFill>
                      <a:srgbClr val="FADDC4"/>
                    </a:solidFill>
                  </a:tcPr>
                </a:tc>
                <a:extLst>
                  <a:ext uri="{0D108BD9-81ED-4DB2-BD59-A6C34878D82A}">
                    <a16:rowId xmlns:a16="http://schemas.microsoft.com/office/drawing/2014/main" val="10003"/>
                  </a:ext>
                </a:extLst>
              </a:tr>
              <a:tr h="530352">
                <a:tc>
                  <a:txBody>
                    <a:bodyPr/>
                    <a:lstStyle/>
                    <a:p>
                      <a:pPr algn="l"/>
                      <a:r>
                        <a:rPr sz="1200" b="1">
                          <a:latin typeface="Arial"/>
                        </a:rPr>
                        <a:t>Self-checking</a:t>
                      </a:r>
                    </a:p>
                  </a:txBody>
                  <a:tcPr marL="73152" marR="73152" marT="27432" marB="27432" anchor="ctr">
                    <a:solidFill>
                      <a:srgbClr val="FFFFFF"/>
                    </a:solidFill>
                  </a:tcPr>
                </a:tc>
                <a:tc>
                  <a:txBody>
                    <a:bodyPr/>
                    <a:lstStyle/>
                    <a:p>
                      <a:pPr algn="ctr"/>
                      <a:r>
                        <a:rPr sz="1200" dirty="0">
                          <a:latin typeface="Arial"/>
                        </a:rPr>
                        <a:t>Optional</a:t>
                      </a:r>
                    </a:p>
                  </a:txBody>
                  <a:tcPr marL="73152" marR="73152" marT="27432" marB="27432" anchor="ctr">
                    <a:solidFill>
                      <a:srgbClr val="BFE6E6"/>
                    </a:solidFill>
                  </a:tcPr>
                </a:tc>
                <a:tc>
                  <a:txBody>
                    <a:bodyPr/>
                    <a:lstStyle/>
                    <a:p>
                      <a:pPr algn="ctr"/>
                      <a:r>
                        <a:rPr sz="1200">
                          <a:latin typeface="Arial"/>
                        </a:rPr>
                        <a:t>Mandatory</a:t>
                      </a:r>
                    </a:p>
                  </a:txBody>
                  <a:tcPr marL="73152" marR="73152" marT="27432" marB="27432" anchor="ctr">
                    <a:solidFill>
                      <a:srgbClr val="FADDC4"/>
                    </a:solidFill>
                  </a:tcPr>
                </a:tc>
                <a:extLst>
                  <a:ext uri="{0D108BD9-81ED-4DB2-BD59-A6C34878D82A}">
                    <a16:rowId xmlns:a16="http://schemas.microsoft.com/office/drawing/2014/main" val="10004"/>
                  </a:ext>
                </a:extLst>
              </a:tr>
              <a:tr h="530352">
                <a:tc>
                  <a:txBody>
                    <a:bodyPr/>
                    <a:lstStyle/>
                    <a:p>
                      <a:pPr algn="l"/>
                      <a:r>
                        <a:rPr sz="1200" b="1">
                          <a:latin typeface="Arial"/>
                        </a:rPr>
                        <a:t>Scales to SoC</a:t>
                      </a:r>
                    </a:p>
                  </a:txBody>
                  <a:tcPr marL="73152" marR="73152" marT="27432" marB="27432" anchor="ctr">
                    <a:solidFill>
                      <a:srgbClr val="F7F7F7"/>
                    </a:solidFill>
                  </a:tcPr>
                </a:tc>
                <a:tc>
                  <a:txBody>
                    <a:bodyPr/>
                    <a:lstStyle/>
                    <a:p>
                      <a:pPr algn="ctr"/>
                      <a:r>
                        <a:rPr sz="1200">
                          <a:latin typeface="Arial"/>
                        </a:rPr>
                        <a:t>No</a:t>
                      </a:r>
                    </a:p>
                  </a:txBody>
                  <a:tcPr marL="73152" marR="73152" marT="27432" marB="27432" anchor="ctr">
                    <a:solidFill>
                      <a:srgbClr val="BFE6E6"/>
                    </a:solidFill>
                  </a:tcPr>
                </a:tc>
                <a:tc>
                  <a:txBody>
                    <a:bodyPr/>
                    <a:lstStyle/>
                    <a:p>
                      <a:pPr algn="ctr"/>
                      <a:r>
                        <a:rPr sz="1200">
                          <a:latin typeface="Arial"/>
                        </a:rPr>
                        <a:t>Yes</a:t>
                      </a:r>
                    </a:p>
                  </a:txBody>
                  <a:tcPr marL="73152" marR="73152" marT="27432" marB="27432" anchor="ctr">
                    <a:solidFill>
                      <a:srgbClr val="FADDC4"/>
                    </a:solidFill>
                  </a:tcPr>
                </a:tc>
                <a:extLst>
                  <a:ext uri="{0D108BD9-81ED-4DB2-BD59-A6C34878D82A}">
                    <a16:rowId xmlns:a16="http://schemas.microsoft.com/office/drawing/2014/main" val="10005"/>
                  </a:ext>
                </a:extLst>
              </a:tr>
              <a:tr h="530352">
                <a:tc>
                  <a:txBody>
                    <a:bodyPr/>
                    <a:lstStyle/>
                    <a:p>
                      <a:pPr algn="l"/>
                      <a:r>
                        <a:rPr sz="1200" b="1">
                          <a:latin typeface="Arial"/>
                        </a:rPr>
                        <a:t>Typical usage mix</a:t>
                      </a:r>
                    </a:p>
                  </a:txBody>
                  <a:tcPr marL="73152" marR="73152" marT="27432" marB="27432" anchor="ctr">
                    <a:solidFill>
                      <a:srgbClr val="FFFFFF"/>
                    </a:solidFill>
                  </a:tcPr>
                </a:tc>
                <a:tc>
                  <a:txBody>
                    <a:bodyPr/>
                    <a:lstStyle/>
                    <a:p>
                      <a:pPr algn="ctr"/>
                      <a:r>
                        <a:rPr sz="1200">
                          <a:latin typeface="Arial"/>
                        </a:rPr>
                        <a:t>~20% of tests</a:t>
                      </a:r>
                    </a:p>
                  </a:txBody>
                  <a:tcPr marL="73152" marR="73152" marT="27432" marB="27432" anchor="ctr">
                    <a:solidFill>
                      <a:srgbClr val="BFE6E6"/>
                    </a:solidFill>
                  </a:tcPr>
                </a:tc>
                <a:tc>
                  <a:txBody>
                    <a:bodyPr/>
                    <a:lstStyle/>
                    <a:p>
                      <a:pPr algn="ctr"/>
                      <a:r>
                        <a:rPr sz="1200" dirty="0">
                          <a:latin typeface="Arial"/>
                        </a:rPr>
                        <a:t>~80% of tests</a:t>
                      </a:r>
                    </a:p>
                  </a:txBody>
                  <a:tcPr marL="73152" marR="73152" marT="27432" marB="27432" anchor="ctr">
                    <a:solidFill>
                      <a:srgbClr val="FADDC4"/>
                    </a:solidFill>
                  </a:tcPr>
                </a:tc>
                <a:extLst>
                  <a:ext uri="{0D108BD9-81ED-4DB2-BD59-A6C34878D82A}">
                    <a16:rowId xmlns:a16="http://schemas.microsoft.com/office/drawing/2014/main" val="10006"/>
                  </a:ext>
                </a:extLst>
              </a:tr>
            </a:tbl>
          </a:graphicData>
        </a:graphic>
      </p:graphicFrame>
      <p:sp>
        <p:nvSpPr>
          <p:cNvPr id="11" name="Rounded Rectangle 10"/>
          <p:cNvSpPr/>
          <p:nvPr/>
        </p:nvSpPr>
        <p:spPr>
          <a:xfrm>
            <a:off x="457200" y="5349240"/>
            <a:ext cx="6126480" cy="777240"/>
          </a:xfrm>
          <a:prstGeom prst="roundRect">
            <a:avLst/>
          </a:prstGeom>
          <a:solidFill>
            <a:srgbClr val="009999"/>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1500" b="1" i="0">
                <a:solidFill>
                  <a:srgbClr val="FFFFFF"/>
                </a:solidFill>
                <a:latin typeface="Arial"/>
              </a:rPr>
              <a:t>GOLDEN RULE - Start directed to build confidence. Move to constrained-random to build coverage.</a:t>
            </a:r>
          </a:p>
        </p:txBody>
      </p:sp>
      <p:pic>
        <p:nvPicPr>
          <p:cNvPr id="12" name="Picture 11" descr="craftsman_smt.png"/>
          <p:cNvPicPr>
            <a:picLocks noChangeAspect="1"/>
          </p:cNvPicPr>
          <p:nvPr/>
        </p:nvPicPr>
        <p:blipFill>
          <a:blip r:embed="rId3"/>
          <a:stretch>
            <a:fillRect/>
          </a:stretch>
        </p:blipFill>
        <p:spPr>
          <a:xfrm>
            <a:off x="7155180" y="1234440"/>
            <a:ext cx="4160520" cy="4160520"/>
          </a:xfrm>
          <a:prstGeom prst="rect">
            <a:avLst/>
          </a:prstGeom>
        </p:spPr>
      </p:pic>
      <p:sp>
        <p:nvSpPr>
          <p:cNvPr id="13" name="TextBox 12"/>
          <p:cNvSpPr txBox="1"/>
          <p:nvPr/>
        </p:nvSpPr>
        <p:spPr>
          <a:xfrm>
            <a:off x="7155180" y="5486400"/>
            <a:ext cx="2080260" cy="640080"/>
          </a:xfrm>
          <a:prstGeom prst="rect">
            <a:avLst/>
          </a:prstGeom>
          <a:noFill/>
        </p:spPr>
        <p:txBody>
          <a:bodyPr wrap="square" anchor="t">
            <a:spAutoFit/>
          </a:bodyPr>
          <a:lstStyle/>
          <a:p>
            <a:pPr algn="ctr"/>
            <a:r>
              <a:rPr sz="1050" i="1">
                <a:solidFill>
                  <a:srgbClr val="262626"/>
                </a:solidFill>
                <a:latin typeface="Arial"/>
              </a:rPr>
              <a:t>Directed - one at a time, total control.</a:t>
            </a:r>
          </a:p>
        </p:txBody>
      </p:sp>
      <p:sp>
        <p:nvSpPr>
          <p:cNvPr id="14" name="TextBox 13"/>
          <p:cNvSpPr txBox="1"/>
          <p:nvPr/>
        </p:nvSpPr>
        <p:spPr>
          <a:xfrm>
            <a:off x="9235440" y="5486400"/>
            <a:ext cx="2080260" cy="640080"/>
          </a:xfrm>
          <a:prstGeom prst="rect">
            <a:avLst/>
          </a:prstGeom>
          <a:noFill/>
        </p:spPr>
        <p:txBody>
          <a:bodyPr wrap="square" anchor="t">
            <a:spAutoFit/>
          </a:bodyPr>
          <a:lstStyle/>
          <a:p>
            <a:pPr algn="ctr"/>
            <a:r>
              <a:rPr sz="1050" i="1">
                <a:solidFill>
                  <a:srgbClr val="262626"/>
                </a:solidFill>
                <a:latin typeface="Arial"/>
              </a:rPr>
              <a:t>Constrained-random - thousands, automatic checker.</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84048"/>
            <a:ext cx="10607040" cy="685800"/>
          </a:xfrm>
          <a:prstGeom prst="rect">
            <a:avLst/>
          </a:prstGeom>
          <a:noFill/>
        </p:spPr>
        <p:txBody>
          <a:bodyPr wrap="square">
            <a:spAutoFit/>
          </a:bodyPr>
          <a:lstStyle/>
          <a:p>
            <a:r>
              <a:rPr sz="2800" b="1">
                <a:solidFill>
                  <a:srgbClr val="009999"/>
                </a:solidFill>
                <a:latin typeface="Arial"/>
              </a:rPr>
              <a:t>Stimulus Generation in SystemVerilog</a:t>
            </a:r>
          </a:p>
        </p:txBody>
      </p:sp>
      <p:sp>
        <p:nvSpPr>
          <p:cNvPr id="3" name="TextBox 2"/>
          <p:cNvSpPr txBox="1"/>
          <p:nvPr/>
        </p:nvSpPr>
        <p:spPr>
          <a:xfrm>
            <a:off x="365760" y="6446520"/>
            <a:ext cx="11521440" cy="292608"/>
          </a:xfrm>
          <a:prstGeom prst="rect">
            <a:avLst/>
          </a:prstGeom>
          <a:noFill/>
        </p:spPr>
        <p:txBody>
          <a:bodyPr wrap="none">
            <a:spAutoFit/>
          </a:bodyPr>
          <a:lstStyle/>
          <a:p>
            <a:r>
              <a:rPr sz="900">
                <a:solidFill>
                  <a:srgbClr val="7F7F7F"/>
                </a:solidFill>
                <a:latin typeface="Arial"/>
              </a:rPr>
              <a:t>Restricted | (c) Siemens 2026 | Prajwal Matukumalli | DISW EDA | 2026-09-09</a:t>
            </a:r>
          </a:p>
        </p:txBody>
      </p:sp>
      <p:sp>
        <p:nvSpPr>
          <p:cNvPr id="4" name="Oval 3"/>
          <p:cNvSpPr/>
          <p:nvPr/>
        </p:nvSpPr>
        <p:spPr>
          <a:xfrm>
            <a:off x="10125151" y="256032"/>
            <a:ext cx="146304" cy="146304"/>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0417759" y="256032"/>
            <a:ext cx="146304" cy="146304"/>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0710367" y="256032"/>
            <a:ext cx="146304" cy="146304"/>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1002975" y="256032"/>
            <a:ext cx="146304" cy="146304"/>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1295583" y="256032"/>
            <a:ext cx="146304" cy="146304"/>
          </a:xfrm>
          <a:prstGeom prst="ellipse">
            <a:avLst/>
          </a:prstGeom>
          <a:solidFill>
            <a:srgbClr val="00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1588191" y="256032"/>
            <a:ext cx="146304" cy="146304"/>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1188720"/>
            <a:ext cx="6126480" cy="365760"/>
          </a:xfrm>
          <a:prstGeom prst="rect">
            <a:avLst/>
          </a:prstGeom>
          <a:noFill/>
        </p:spPr>
        <p:txBody>
          <a:bodyPr wrap="square" anchor="t">
            <a:spAutoFit/>
          </a:bodyPr>
          <a:lstStyle/>
          <a:p>
            <a:endParaRPr/>
          </a:p>
          <a:p>
            <a:pPr algn="l">
              <a:spcBef>
                <a:spcPts val="0"/>
              </a:spcBef>
              <a:spcAft>
                <a:spcPts val="0"/>
              </a:spcAft>
            </a:pPr>
            <a:r>
              <a:rPr sz="1400" b="0" i="1">
                <a:solidFill>
                  <a:srgbClr val="262626"/>
                </a:solidFill>
                <a:latin typeface="Arial"/>
              </a:rPr>
              <a:t>Creating the inputs applied to the DUT to exercise its behaviour.</a:t>
            </a:r>
          </a:p>
        </p:txBody>
      </p:sp>
      <p:sp>
        <p:nvSpPr>
          <p:cNvPr id="11" name="TextBox 10"/>
          <p:cNvSpPr txBox="1"/>
          <p:nvPr/>
        </p:nvSpPr>
        <p:spPr>
          <a:xfrm>
            <a:off x="457200" y="1600200"/>
            <a:ext cx="6126480" cy="1280160"/>
          </a:xfrm>
          <a:prstGeom prst="rect">
            <a:avLst/>
          </a:prstGeom>
          <a:noFill/>
        </p:spPr>
        <p:txBody>
          <a:bodyPr wrap="square" anchor="t">
            <a:spAutoFit/>
          </a:bodyPr>
          <a:lstStyle/>
          <a:p>
            <a:endParaRPr/>
          </a:p>
          <a:p>
            <a:pPr algn="l">
              <a:spcBef>
                <a:spcPts val="0"/>
              </a:spcBef>
              <a:spcAft>
                <a:spcPts val="600"/>
              </a:spcAft>
            </a:pPr>
            <a:r>
              <a:rPr sz="1250" b="0" i="0">
                <a:solidFill>
                  <a:srgbClr val="262626"/>
                </a:solidFill>
                <a:latin typeface="Arial"/>
              </a:rPr>
              <a:t>•  Hardcoded values - directed tests</a:t>
            </a:r>
          </a:p>
          <a:p>
            <a:pPr algn="l">
              <a:spcBef>
                <a:spcPts val="0"/>
              </a:spcBef>
              <a:spcAft>
                <a:spcPts val="600"/>
              </a:spcAft>
            </a:pPr>
            <a:r>
              <a:rPr sz="1250" b="1" i="0">
                <a:solidFill>
                  <a:srgbClr val="009999"/>
                </a:solidFill>
                <a:latin typeface="Arial"/>
              </a:rPr>
              <a:t>•  Randomised values - constrained-random  </a:t>
            </a:r>
            <a:r>
              <a:rPr sz="1250" b="1" i="0">
                <a:solidFill>
                  <a:srgbClr val="E8792E"/>
                </a:solidFill>
                <a:latin typeface="Arial"/>
              </a:rPr>
              <a:t>&lt;- today</a:t>
            </a:r>
          </a:p>
          <a:p>
            <a:pPr algn="l">
              <a:spcBef>
                <a:spcPts val="0"/>
              </a:spcBef>
              <a:spcAft>
                <a:spcPts val="600"/>
              </a:spcAft>
            </a:pPr>
            <a:r>
              <a:rPr sz="1250" b="0" i="0">
                <a:solidFill>
                  <a:srgbClr val="262626"/>
                </a:solidFill>
                <a:latin typeface="Arial"/>
              </a:rPr>
              <a:t>•  File-driven values</a:t>
            </a:r>
          </a:p>
          <a:p>
            <a:pPr algn="l">
              <a:spcBef>
                <a:spcPts val="0"/>
              </a:spcBef>
              <a:spcAft>
                <a:spcPts val="0"/>
              </a:spcAft>
            </a:pPr>
            <a:r>
              <a:rPr sz="1250" b="0" i="0">
                <a:solidFill>
                  <a:srgbClr val="262626"/>
                </a:solidFill>
                <a:latin typeface="Arial"/>
              </a:rPr>
              <a:t>•  UVM sequences - a later session</a:t>
            </a:r>
          </a:p>
        </p:txBody>
      </p:sp>
      <p:sp>
        <p:nvSpPr>
          <p:cNvPr id="12" name="Rounded Rectangle 11"/>
          <p:cNvSpPr/>
          <p:nvPr/>
        </p:nvSpPr>
        <p:spPr>
          <a:xfrm>
            <a:off x="457200" y="2971800"/>
            <a:ext cx="6126480" cy="1828800"/>
          </a:xfrm>
          <a:prstGeom prst="roundRect">
            <a:avLst>
              <a:gd name="adj" fmla="val 3500"/>
            </a:avLst>
          </a:prstGeom>
          <a:solidFill>
            <a:srgbClr val="F4F4F4"/>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94360" y="3044952"/>
            <a:ext cx="5852160" cy="1682496"/>
          </a:xfrm>
          <a:prstGeom prst="rect">
            <a:avLst/>
          </a:prstGeom>
          <a:noFill/>
        </p:spPr>
        <p:txBody>
          <a:bodyPr wrap="square">
            <a:spAutoFit/>
          </a:bodyPr>
          <a:lstStyle/>
          <a:p>
            <a:pPr>
              <a:spcAft>
                <a:spcPts val="200"/>
              </a:spcAft>
            </a:pPr>
            <a:r>
              <a:rPr sz="1000" b="1">
                <a:solidFill>
                  <a:srgbClr val="009999"/>
                </a:solidFill>
                <a:latin typeface="Consolas"/>
              </a:rPr>
              <a:t>class</a:t>
            </a:r>
            <a:r>
              <a:rPr sz="1000">
                <a:solidFill>
                  <a:srgbClr val="262626"/>
                </a:solidFill>
                <a:latin typeface="Consolas"/>
              </a:rPr>
              <a:t> FifoTransaction;</a:t>
            </a:r>
          </a:p>
          <a:p>
            <a:pPr>
              <a:spcAft>
                <a:spcPts val="200"/>
              </a:spcAft>
            </a:pPr>
            <a:r>
              <a:rPr sz="1000">
                <a:solidFill>
                  <a:srgbClr val="262626"/>
                </a:solidFill>
                <a:latin typeface="Consolas"/>
              </a:rPr>
              <a:t>  </a:t>
            </a:r>
            <a:r>
              <a:rPr sz="1000" b="1">
                <a:solidFill>
                  <a:srgbClr val="009999"/>
                </a:solidFill>
                <a:latin typeface="Consolas"/>
              </a:rPr>
              <a:t>rand</a:t>
            </a:r>
            <a:r>
              <a:rPr sz="1000">
                <a:solidFill>
                  <a:srgbClr val="262626"/>
                </a:solidFill>
                <a:latin typeface="Consolas"/>
              </a:rPr>
              <a:t> </a:t>
            </a:r>
            <a:r>
              <a:rPr sz="1000" b="1">
                <a:solidFill>
                  <a:srgbClr val="009999"/>
                </a:solidFill>
                <a:latin typeface="Consolas"/>
              </a:rPr>
              <a:t>bit</a:t>
            </a:r>
            <a:r>
              <a:rPr sz="1000">
                <a:solidFill>
                  <a:srgbClr val="262626"/>
                </a:solidFill>
                <a:latin typeface="Consolas"/>
              </a:rPr>
              <a:t> [7:0] data;</a:t>
            </a:r>
          </a:p>
          <a:p>
            <a:pPr>
              <a:spcAft>
                <a:spcPts val="200"/>
              </a:spcAft>
            </a:pPr>
            <a:r>
              <a:rPr sz="1000">
                <a:solidFill>
                  <a:srgbClr val="262626"/>
                </a:solidFill>
                <a:latin typeface="Consolas"/>
              </a:rPr>
              <a:t>  </a:t>
            </a:r>
            <a:r>
              <a:rPr sz="1000" b="1">
                <a:solidFill>
                  <a:srgbClr val="009999"/>
                </a:solidFill>
                <a:latin typeface="Consolas"/>
              </a:rPr>
              <a:t>rand</a:t>
            </a:r>
            <a:r>
              <a:rPr sz="1000">
                <a:solidFill>
                  <a:srgbClr val="262626"/>
                </a:solidFill>
                <a:latin typeface="Consolas"/>
              </a:rPr>
              <a:t> </a:t>
            </a:r>
            <a:r>
              <a:rPr sz="1000" b="1">
                <a:solidFill>
                  <a:srgbClr val="009999"/>
                </a:solidFill>
                <a:latin typeface="Consolas"/>
              </a:rPr>
              <a:t>bit</a:t>
            </a:r>
            <a:r>
              <a:rPr sz="1000">
                <a:solidFill>
                  <a:srgbClr val="262626"/>
                </a:solidFill>
                <a:latin typeface="Consolas"/>
              </a:rPr>
              <a:t> wr_en;</a:t>
            </a:r>
          </a:p>
          <a:p>
            <a:pPr>
              <a:spcAft>
                <a:spcPts val="200"/>
              </a:spcAft>
            </a:pPr>
            <a:r>
              <a:rPr sz="1000">
                <a:solidFill>
                  <a:srgbClr val="262626"/>
                </a:solidFill>
                <a:latin typeface="Consolas"/>
              </a:rPr>
              <a:t>  </a:t>
            </a:r>
            <a:r>
              <a:rPr sz="1000" b="1">
                <a:solidFill>
                  <a:srgbClr val="009999"/>
                </a:solidFill>
                <a:latin typeface="Consolas"/>
              </a:rPr>
              <a:t>rand</a:t>
            </a:r>
            <a:r>
              <a:rPr sz="1000">
                <a:solidFill>
                  <a:srgbClr val="262626"/>
                </a:solidFill>
                <a:latin typeface="Consolas"/>
              </a:rPr>
              <a:t> </a:t>
            </a:r>
            <a:r>
              <a:rPr sz="1000" b="1">
                <a:solidFill>
                  <a:srgbClr val="009999"/>
                </a:solidFill>
                <a:latin typeface="Consolas"/>
              </a:rPr>
              <a:t>bit</a:t>
            </a:r>
            <a:r>
              <a:rPr sz="1000">
                <a:solidFill>
                  <a:srgbClr val="262626"/>
                </a:solidFill>
                <a:latin typeface="Consolas"/>
              </a:rPr>
              <a:t> rd_en;</a:t>
            </a:r>
          </a:p>
          <a:p>
            <a:pPr>
              <a:spcAft>
                <a:spcPts val="200"/>
              </a:spcAft>
            </a:pPr>
            <a:r>
              <a:rPr sz="1000"/>
              <a:t> </a:t>
            </a:r>
          </a:p>
          <a:p>
            <a:pPr>
              <a:spcAft>
                <a:spcPts val="200"/>
              </a:spcAft>
            </a:pPr>
            <a:r>
              <a:rPr sz="1000" i="1">
                <a:solidFill>
                  <a:srgbClr val="4C8C4A"/>
                </a:solidFill>
                <a:latin typeface="Consolas"/>
              </a:rPr>
              <a:t>  // don't waste a cycle doing nothing</a:t>
            </a:r>
          </a:p>
          <a:p>
            <a:pPr>
              <a:spcAft>
                <a:spcPts val="200"/>
              </a:spcAft>
            </a:pPr>
            <a:r>
              <a:rPr sz="1000">
                <a:solidFill>
                  <a:srgbClr val="262626"/>
                </a:solidFill>
                <a:latin typeface="Consolas"/>
              </a:rPr>
              <a:t>  </a:t>
            </a:r>
            <a:r>
              <a:rPr sz="1000" b="1">
                <a:solidFill>
                  <a:srgbClr val="009999"/>
                </a:solidFill>
                <a:latin typeface="Consolas"/>
              </a:rPr>
              <a:t>constraint</a:t>
            </a:r>
            <a:r>
              <a:rPr sz="1000">
                <a:solidFill>
                  <a:srgbClr val="262626"/>
                </a:solidFill>
                <a:latin typeface="Consolas"/>
              </a:rPr>
              <a:t> activity_c { wr_en || rd_en; }</a:t>
            </a:r>
          </a:p>
          <a:p>
            <a:pPr>
              <a:spcAft>
                <a:spcPts val="200"/>
              </a:spcAft>
            </a:pPr>
            <a:r>
              <a:rPr sz="1000" i="1">
                <a:solidFill>
                  <a:srgbClr val="4C8C4A"/>
                </a:solidFill>
                <a:latin typeface="Consolas"/>
              </a:rPr>
              <a:t>  // aim at the boundaries, where bugs hide</a:t>
            </a:r>
          </a:p>
          <a:p>
            <a:pPr>
              <a:spcAft>
                <a:spcPts val="200"/>
              </a:spcAft>
            </a:pPr>
            <a:r>
              <a:rPr sz="1000">
                <a:solidFill>
                  <a:srgbClr val="262626"/>
                </a:solidFill>
                <a:latin typeface="Consolas"/>
              </a:rPr>
              <a:t>  </a:t>
            </a:r>
            <a:r>
              <a:rPr sz="1000" b="1">
                <a:solidFill>
                  <a:srgbClr val="009999"/>
                </a:solidFill>
                <a:latin typeface="Consolas"/>
              </a:rPr>
              <a:t>constraint</a:t>
            </a:r>
            <a:r>
              <a:rPr sz="1000">
                <a:solidFill>
                  <a:srgbClr val="262626"/>
                </a:solidFill>
                <a:latin typeface="Consolas"/>
              </a:rPr>
              <a:t> data_c { data </a:t>
            </a:r>
            <a:r>
              <a:rPr sz="1000" b="1">
                <a:solidFill>
                  <a:srgbClr val="009999"/>
                </a:solidFill>
                <a:latin typeface="Consolas"/>
              </a:rPr>
              <a:t>inside</a:t>
            </a:r>
            <a:r>
              <a:rPr sz="1000">
                <a:solidFill>
                  <a:srgbClr val="262626"/>
                </a:solidFill>
                <a:latin typeface="Consolas"/>
              </a:rPr>
              <a:t> {[8'h00:8'h0F], [8'hF0:8'hFF]}; }</a:t>
            </a:r>
          </a:p>
          <a:p>
            <a:pPr>
              <a:spcAft>
                <a:spcPts val="200"/>
              </a:spcAft>
            </a:pPr>
            <a:r>
              <a:rPr sz="1000" b="1">
                <a:solidFill>
                  <a:srgbClr val="009999"/>
                </a:solidFill>
                <a:latin typeface="Consolas"/>
              </a:rPr>
              <a:t>endclass</a:t>
            </a:r>
          </a:p>
        </p:txBody>
      </p:sp>
      <p:sp>
        <p:nvSpPr>
          <p:cNvPr id="14" name="Rounded Rectangle 13"/>
          <p:cNvSpPr/>
          <p:nvPr/>
        </p:nvSpPr>
        <p:spPr>
          <a:xfrm>
            <a:off x="457200" y="4892040"/>
            <a:ext cx="6126480" cy="594360"/>
          </a:xfrm>
          <a:prstGeom prst="roundRect">
            <a:avLst>
              <a:gd name="adj" fmla="val 3500"/>
            </a:avLst>
          </a:prstGeom>
          <a:solidFill>
            <a:srgbClr val="F4F4F4"/>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94360" y="4965192"/>
            <a:ext cx="5852160" cy="448056"/>
          </a:xfrm>
          <a:prstGeom prst="rect">
            <a:avLst/>
          </a:prstGeom>
          <a:noFill/>
        </p:spPr>
        <p:txBody>
          <a:bodyPr wrap="square">
            <a:spAutoFit/>
          </a:bodyPr>
          <a:lstStyle/>
          <a:p>
            <a:pPr>
              <a:spcAft>
                <a:spcPts val="200"/>
              </a:spcAft>
            </a:pPr>
            <a:r>
              <a:rPr sz="1000">
                <a:solidFill>
                  <a:srgbClr val="262626"/>
                </a:solidFill>
                <a:latin typeface="Consolas"/>
              </a:rPr>
              <a:t>FifoTransaction txn = </a:t>
            </a:r>
            <a:r>
              <a:rPr sz="1000" b="1">
                <a:solidFill>
                  <a:srgbClr val="009999"/>
                </a:solidFill>
                <a:latin typeface="Consolas"/>
              </a:rPr>
              <a:t>new</a:t>
            </a:r>
            <a:r>
              <a:rPr sz="1000">
                <a:solidFill>
                  <a:srgbClr val="262626"/>
                </a:solidFill>
                <a:latin typeface="Consolas"/>
              </a:rPr>
              <a:t>();</a:t>
            </a:r>
          </a:p>
          <a:p>
            <a:pPr>
              <a:spcAft>
                <a:spcPts val="200"/>
              </a:spcAft>
            </a:pPr>
            <a:r>
              <a:rPr sz="1000" b="1">
                <a:solidFill>
                  <a:srgbClr val="009999"/>
                </a:solidFill>
                <a:latin typeface="Consolas"/>
              </a:rPr>
              <a:t>if</a:t>
            </a:r>
            <a:r>
              <a:rPr sz="1000">
                <a:solidFill>
                  <a:srgbClr val="262626"/>
                </a:solidFill>
                <a:latin typeface="Consolas"/>
              </a:rPr>
              <a:t> (!txn.randomize()) $fatal(1, "Randomization failed");</a:t>
            </a:r>
          </a:p>
        </p:txBody>
      </p:sp>
      <p:sp>
        <p:nvSpPr>
          <p:cNvPr id="16" name="Rectangle 15"/>
          <p:cNvSpPr/>
          <p:nvPr/>
        </p:nvSpPr>
        <p:spPr>
          <a:xfrm>
            <a:off x="457200" y="5577840"/>
            <a:ext cx="6126480" cy="749808"/>
          </a:xfrm>
          <a:prstGeom prst="rect">
            <a:avLst/>
          </a:prstGeom>
          <a:solidFill>
            <a:srgbClr val="FADDC4"/>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73152" rIns="137160" bIns="73152" rtlCol="0" anchor="ctr"/>
          <a:lstStyle/>
          <a:p>
            <a:pPr algn="ctr"/>
            <a:r>
              <a:rPr sz="1150" b="1" i="0">
                <a:solidFill>
                  <a:srgbClr val="262626"/>
                </a:solidFill>
                <a:latin typeface="Arial"/>
              </a:rPr>
              <a:t>ALWAYS check the return value of randomize(). A silent failure gives you a test that tests nothing.</a:t>
            </a:r>
          </a:p>
        </p:txBody>
      </p:sp>
      <p:sp>
        <p:nvSpPr>
          <p:cNvPr id="17" name="Rectangle 16"/>
          <p:cNvSpPr/>
          <p:nvPr/>
        </p:nvSpPr>
        <p:spPr>
          <a:xfrm>
            <a:off x="457200" y="5577840"/>
            <a:ext cx="73152" cy="749808"/>
          </a:xfrm>
          <a:prstGeom prst="rect">
            <a:avLst/>
          </a:prstGeom>
          <a:solidFill>
            <a:srgbClr val="E87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rapezoid 17"/>
          <p:cNvSpPr/>
          <p:nvPr/>
        </p:nvSpPr>
        <p:spPr>
          <a:xfrm rot="10800000">
            <a:off x="7086600" y="1371600"/>
            <a:ext cx="4206240" cy="1097280"/>
          </a:xfrm>
          <a:prstGeom prst="trapezoid">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178040" y="1600200"/>
            <a:ext cx="4023359" cy="548640"/>
          </a:xfrm>
          <a:prstGeom prst="rect">
            <a:avLst/>
          </a:prstGeom>
          <a:noFill/>
        </p:spPr>
        <p:txBody>
          <a:bodyPr wrap="square" anchor="ctr">
            <a:spAutoFit/>
          </a:bodyPr>
          <a:lstStyle/>
          <a:p>
            <a:pPr algn="ctr"/>
            <a:r>
              <a:rPr sz="1200" b="1" dirty="0">
                <a:solidFill>
                  <a:srgbClr val="262626"/>
                </a:solidFill>
                <a:latin typeface="Arial"/>
              </a:rPr>
              <a:t>2^24 possible stimulus values</a:t>
            </a:r>
          </a:p>
        </p:txBody>
      </p:sp>
      <p:sp>
        <p:nvSpPr>
          <p:cNvPr id="20" name="Rounded Rectangle 19"/>
          <p:cNvSpPr/>
          <p:nvPr/>
        </p:nvSpPr>
        <p:spPr>
          <a:xfrm>
            <a:off x="7726679" y="2606040"/>
            <a:ext cx="2926079" cy="457200"/>
          </a:xfrm>
          <a:prstGeom prst="roundRect">
            <a:avLst/>
          </a:prstGeom>
          <a:solidFill>
            <a:srgbClr val="FFFFFF"/>
          </a:solidFill>
          <a:ln w="25400">
            <a:solidFill>
              <a:srgbClr val="009999"/>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1200" b="1" i="0">
                <a:solidFill>
                  <a:srgbClr val="006E6E"/>
                </a:solidFill>
                <a:latin typeface="Arial"/>
              </a:rPr>
              <a:t>CONSTRAINTS</a:t>
            </a:r>
          </a:p>
        </p:txBody>
      </p:sp>
      <p:sp>
        <p:nvSpPr>
          <p:cNvPr id="21" name="Rectangle 20"/>
          <p:cNvSpPr/>
          <p:nvPr/>
        </p:nvSpPr>
        <p:spPr>
          <a:xfrm>
            <a:off x="8458200" y="3246120"/>
            <a:ext cx="1463039" cy="914400"/>
          </a:xfrm>
          <a:prstGeom prst="rect">
            <a:avLst/>
          </a:prstGeom>
          <a:solidFill>
            <a:srgbClr val="009999"/>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1100" b="1" dirty="0">
                <a:solidFill>
                  <a:srgbClr val="FFFFFF"/>
                </a:solidFill>
                <a:latin typeface="Arial"/>
              </a:rPr>
              <a:t>legal AND</a:t>
            </a:r>
          </a:p>
          <a:p>
            <a:pPr algn="ctr"/>
            <a:r>
              <a:rPr sz="1100" b="1" dirty="0">
                <a:solidFill>
                  <a:srgbClr val="FFFFFF"/>
                </a:solidFill>
                <a:latin typeface="Arial"/>
              </a:rPr>
              <a:t>interesting</a:t>
            </a:r>
          </a:p>
        </p:txBody>
      </p:sp>
      <p:sp>
        <p:nvSpPr>
          <p:cNvPr id="22" name="Oval 21"/>
          <p:cNvSpPr/>
          <p:nvPr/>
        </p:nvSpPr>
        <p:spPr>
          <a:xfrm>
            <a:off x="7360920" y="1508760"/>
            <a:ext cx="128016" cy="128016"/>
          </a:xfrm>
          <a:prstGeom prst="ellipse">
            <a:avLst/>
          </a:prstGeom>
          <a:solidFill>
            <a:srgbClr val="7F7F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7543800" y="2057400"/>
            <a:ext cx="128016" cy="128016"/>
          </a:xfrm>
          <a:prstGeom prst="ellipse">
            <a:avLst/>
          </a:prstGeom>
          <a:solidFill>
            <a:srgbClr val="7F7F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11018519" y="1554480"/>
            <a:ext cx="128016" cy="128016"/>
          </a:xfrm>
          <a:prstGeom prst="ellipse">
            <a:avLst/>
          </a:prstGeom>
          <a:solidFill>
            <a:srgbClr val="7F7F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10835640" y="2103120"/>
            <a:ext cx="128016" cy="128016"/>
          </a:xfrm>
          <a:prstGeom prst="ellipse">
            <a:avLst/>
          </a:prstGeom>
          <a:solidFill>
            <a:srgbClr val="7F7F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7909560" y="2286000"/>
            <a:ext cx="128016" cy="128016"/>
          </a:xfrm>
          <a:prstGeom prst="ellipse">
            <a:avLst/>
          </a:prstGeom>
          <a:solidFill>
            <a:srgbClr val="7F7F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8823960" y="1783080"/>
            <a:ext cx="128016" cy="128016"/>
          </a:xfrm>
          <a:prstGeom prst="ellipse">
            <a:avLst/>
          </a:prstGeom>
          <a:solidFill>
            <a:srgbClr val="00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9372600" y="2194560"/>
            <a:ext cx="128016" cy="128016"/>
          </a:xfrm>
          <a:prstGeom prst="ellipse">
            <a:avLst/>
          </a:prstGeom>
          <a:solidFill>
            <a:srgbClr val="00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9006840" y="2743200"/>
            <a:ext cx="128016" cy="128016"/>
          </a:xfrm>
          <a:prstGeom prst="ellipse">
            <a:avLst/>
          </a:prstGeom>
          <a:solidFill>
            <a:srgbClr val="00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9464040" y="3383280"/>
            <a:ext cx="128016" cy="128016"/>
          </a:xfrm>
          <a:prstGeom prst="ellipse">
            <a:avLst/>
          </a:prstGeom>
          <a:solidFill>
            <a:srgbClr val="00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8915400" y="3657600"/>
            <a:ext cx="128016" cy="128016"/>
          </a:xfrm>
          <a:prstGeom prst="ellipse">
            <a:avLst/>
          </a:prstGeom>
          <a:solidFill>
            <a:srgbClr val="00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903720" y="4343400"/>
            <a:ext cx="4572000" cy="457200"/>
          </a:xfrm>
          <a:prstGeom prst="rect">
            <a:avLst/>
          </a:prstGeom>
          <a:noFill/>
        </p:spPr>
        <p:txBody>
          <a:bodyPr wrap="square" anchor="t">
            <a:spAutoFit/>
          </a:bodyPr>
          <a:lstStyle/>
          <a:p>
            <a:pPr algn="ctr"/>
            <a:r>
              <a:rPr sz="950" i="1">
                <a:solidFill>
                  <a:srgbClr val="7F7F7F"/>
                </a:solidFill>
                <a:latin typeface="Arial"/>
              </a:rPr>
              <a:t>Wide input space, narrowed by constraints to legal and interesting stimulus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84048"/>
            <a:ext cx="10607040" cy="685800"/>
          </a:xfrm>
          <a:prstGeom prst="rect">
            <a:avLst/>
          </a:prstGeom>
          <a:noFill/>
        </p:spPr>
        <p:txBody>
          <a:bodyPr wrap="square">
            <a:spAutoFit/>
          </a:bodyPr>
          <a:lstStyle/>
          <a:p>
            <a:r>
              <a:rPr sz="2800" b="1">
                <a:solidFill>
                  <a:srgbClr val="009999"/>
                </a:solidFill>
                <a:latin typeface="Arial"/>
              </a:rPr>
              <a:t>rand and randc</a:t>
            </a:r>
          </a:p>
        </p:txBody>
      </p:sp>
      <p:sp>
        <p:nvSpPr>
          <p:cNvPr id="3" name="TextBox 2"/>
          <p:cNvSpPr txBox="1"/>
          <p:nvPr/>
        </p:nvSpPr>
        <p:spPr>
          <a:xfrm>
            <a:off x="365760" y="6446520"/>
            <a:ext cx="11521440" cy="292608"/>
          </a:xfrm>
          <a:prstGeom prst="rect">
            <a:avLst/>
          </a:prstGeom>
          <a:noFill/>
        </p:spPr>
        <p:txBody>
          <a:bodyPr wrap="none">
            <a:spAutoFit/>
          </a:bodyPr>
          <a:lstStyle/>
          <a:p>
            <a:r>
              <a:rPr sz="900">
                <a:solidFill>
                  <a:srgbClr val="7F7F7F"/>
                </a:solidFill>
                <a:latin typeface="Arial"/>
              </a:rPr>
              <a:t>Restricted | (c) Siemens 2026 | Prajwal Matukumalli | DISW EDA | 2026-09-09</a:t>
            </a:r>
          </a:p>
        </p:txBody>
      </p:sp>
      <p:sp>
        <p:nvSpPr>
          <p:cNvPr id="4" name="Oval 3"/>
          <p:cNvSpPr/>
          <p:nvPr/>
        </p:nvSpPr>
        <p:spPr>
          <a:xfrm>
            <a:off x="10125151" y="256032"/>
            <a:ext cx="146304" cy="146304"/>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0417759" y="256032"/>
            <a:ext cx="146304" cy="146304"/>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0710367" y="256032"/>
            <a:ext cx="146304" cy="146304"/>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1002975" y="256032"/>
            <a:ext cx="146304" cy="146304"/>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1295583" y="256032"/>
            <a:ext cx="146304" cy="146304"/>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1588191" y="256032"/>
            <a:ext cx="146304" cy="146304"/>
          </a:xfrm>
          <a:prstGeom prst="ellipse">
            <a:avLst/>
          </a:prstGeom>
          <a:solidFill>
            <a:srgbClr val="00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457200" y="1188720"/>
            <a:ext cx="2926080" cy="777240"/>
          </a:xfrm>
          <a:prstGeom prst="roundRect">
            <a:avLst>
              <a:gd name="adj" fmla="val 3500"/>
            </a:avLst>
          </a:prstGeom>
          <a:solidFill>
            <a:srgbClr val="F4F4F4"/>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94360" y="1261872"/>
            <a:ext cx="2651760" cy="630936"/>
          </a:xfrm>
          <a:prstGeom prst="rect">
            <a:avLst/>
          </a:prstGeom>
          <a:noFill/>
        </p:spPr>
        <p:txBody>
          <a:bodyPr wrap="square">
            <a:spAutoFit/>
          </a:bodyPr>
          <a:lstStyle/>
          <a:p>
            <a:pPr>
              <a:spcAft>
                <a:spcPts val="200"/>
              </a:spcAft>
            </a:pPr>
            <a:r>
              <a:rPr sz="1050" b="1">
                <a:solidFill>
                  <a:srgbClr val="009999"/>
                </a:solidFill>
                <a:latin typeface="Consolas"/>
              </a:rPr>
              <a:t>rand</a:t>
            </a:r>
            <a:r>
              <a:rPr sz="1050">
                <a:solidFill>
                  <a:srgbClr val="262626"/>
                </a:solidFill>
                <a:latin typeface="Consolas"/>
              </a:rPr>
              <a:t> </a:t>
            </a:r>
            <a:r>
              <a:rPr sz="1050" b="1">
                <a:solidFill>
                  <a:srgbClr val="009999"/>
                </a:solidFill>
                <a:latin typeface="Consolas"/>
              </a:rPr>
              <a:t>bit</a:t>
            </a:r>
            <a:r>
              <a:rPr sz="1050">
                <a:solidFill>
                  <a:srgbClr val="262626"/>
                </a:solidFill>
                <a:latin typeface="Consolas"/>
              </a:rPr>
              <a:t> [2:0] addr;</a:t>
            </a:r>
          </a:p>
          <a:p>
            <a:pPr>
              <a:spcAft>
                <a:spcPts val="200"/>
              </a:spcAft>
            </a:pPr>
            <a:r>
              <a:rPr sz="1050" i="1">
                <a:solidFill>
                  <a:srgbClr val="4C8C4A"/>
                </a:solidFill>
                <a:latin typeface="Consolas"/>
              </a:rPr>
              <a:t>// uniform, repeats allowed</a:t>
            </a:r>
          </a:p>
        </p:txBody>
      </p:sp>
      <p:sp>
        <p:nvSpPr>
          <p:cNvPr id="12" name="Rounded Rectangle 11"/>
          <p:cNvSpPr/>
          <p:nvPr/>
        </p:nvSpPr>
        <p:spPr>
          <a:xfrm>
            <a:off x="3566160" y="1188720"/>
            <a:ext cx="3017520" cy="777240"/>
          </a:xfrm>
          <a:prstGeom prst="roundRect">
            <a:avLst>
              <a:gd name="adj" fmla="val 3500"/>
            </a:avLst>
          </a:prstGeom>
          <a:solidFill>
            <a:srgbClr val="F4F4F4"/>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703320" y="1261872"/>
            <a:ext cx="2743200" cy="630936"/>
          </a:xfrm>
          <a:prstGeom prst="rect">
            <a:avLst/>
          </a:prstGeom>
          <a:noFill/>
        </p:spPr>
        <p:txBody>
          <a:bodyPr wrap="square">
            <a:spAutoFit/>
          </a:bodyPr>
          <a:lstStyle/>
          <a:p>
            <a:pPr>
              <a:spcAft>
                <a:spcPts val="200"/>
              </a:spcAft>
            </a:pPr>
            <a:r>
              <a:rPr sz="1050" b="1">
                <a:solidFill>
                  <a:srgbClr val="009999"/>
                </a:solidFill>
                <a:latin typeface="Consolas"/>
              </a:rPr>
              <a:t>randc</a:t>
            </a:r>
            <a:r>
              <a:rPr sz="1050">
                <a:solidFill>
                  <a:srgbClr val="262626"/>
                </a:solidFill>
                <a:latin typeface="Consolas"/>
              </a:rPr>
              <a:t> </a:t>
            </a:r>
            <a:r>
              <a:rPr sz="1050" b="1">
                <a:solidFill>
                  <a:srgbClr val="009999"/>
                </a:solidFill>
                <a:latin typeface="Consolas"/>
              </a:rPr>
              <a:t>bit</a:t>
            </a:r>
            <a:r>
              <a:rPr sz="1050">
                <a:solidFill>
                  <a:srgbClr val="262626"/>
                </a:solidFill>
                <a:latin typeface="Consolas"/>
              </a:rPr>
              <a:t> [2:0] addr;</a:t>
            </a:r>
          </a:p>
          <a:p>
            <a:pPr>
              <a:spcAft>
                <a:spcPts val="200"/>
              </a:spcAft>
            </a:pPr>
            <a:r>
              <a:rPr sz="1050" i="1">
                <a:solidFill>
                  <a:srgbClr val="4C8C4A"/>
                </a:solidFill>
                <a:latin typeface="Consolas"/>
              </a:rPr>
              <a:t>// permutation, no repeats until all seen</a:t>
            </a:r>
          </a:p>
        </p:txBody>
      </p:sp>
      <p:graphicFrame>
        <p:nvGraphicFramePr>
          <p:cNvPr id="14" name="Table 13"/>
          <p:cNvGraphicFramePr>
            <a:graphicFrameLocks noGrp="1"/>
          </p:cNvGraphicFramePr>
          <p:nvPr/>
        </p:nvGraphicFramePr>
        <p:xfrm>
          <a:off x="457200" y="2148840"/>
          <a:ext cx="6126480" cy="1965960"/>
        </p:xfrm>
        <a:graphic>
          <a:graphicData uri="http://schemas.openxmlformats.org/drawingml/2006/table">
            <a:tbl>
              <a:tblPr firstRow="1" bandRow="1">
                <a:tableStyleId>{5C22544A-7EE6-4342-B048-85BDC9FD1C3A}</a:tableStyleId>
              </a:tblPr>
              <a:tblGrid>
                <a:gridCol w="137160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tblGrid>
              <a:tr h="393192">
                <a:tc>
                  <a:txBody>
                    <a:bodyPr/>
                    <a:lstStyle/>
                    <a:p>
                      <a:pPr algn="l"/>
                      <a:endParaRPr/>
                    </a:p>
                  </a:txBody>
                  <a:tcPr marL="73152" marR="73152" marT="27432" marB="27432" anchor="ctr">
                    <a:solidFill>
                      <a:srgbClr val="009999"/>
                    </a:solidFill>
                  </a:tcPr>
                </a:tc>
                <a:tc>
                  <a:txBody>
                    <a:bodyPr/>
                    <a:lstStyle/>
                    <a:p>
                      <a:pPr algn="ctr"/>
                      <a:r>
                        <a:rPr sz="1100" b="1">
                          <a:solidFill>
                            <a:srgbClr val="FFFFFF"/>
                          </a:solidFill>
                          <a:latin typeface="Arial"/>
                        </a:rPr>
                        <a:t>rand</a:t>
                      </a:r>
                    </a:p>
                  </a:txBody>
                  <a:tcPr marL="73152" marR="73152" marT="27432" marB="27432" anchor="ctr">
                    <a:solidFill>
                      <a:srgbClr val="009999"/>
                    </a:solidFill>
                  </a:tcPr>
                </a:tc>
                <a:tc>
                  <a:txBody>
                    <a:bodyPr/>
                    <a:lstStyle/>
                    <a:p>
                      <a:pPr algn="ctr"/>
                      <a:r>
                        <a:rPr sz="1100" b="1">
                          <a:solidFill>
                            <a:srgbClr val="FFFFFF"/>
                          </a:solidFill>
                          <a:latin typeface="Arial"/>
                        </a:rPr>
                        <a:t>randc</a:t>
                      </a:r>
                    </a:p>
                  </a:txBody>
                  <a:tcPr marL="73152" marR="73152" marT="27432" marB="27432" anchor="ctr">
                    <a:solidFill>
                      <a:srgbClr val="009999"/>
                    </a:solidFill>
                  </a:tcPr>
                </a:tc>
                <a:extLst>
                  <a:ext uri="{0D108BD9-81ED-4DB2-BD59-A6C34878D82A}">
                    <a16:rowId xmlns:a16="http://schemas.microsoft.com/office/drawing/2014/main" val="10000"/>
                  </a:ext>
                </a:extLst>
              </a:tr>
              <a:tr h="393192">
                <a:tc>
                  <a:txBody>
                    <a:bodyPr/>
                    <a:lstStyle/>
                    <a:p>
                      <a:pPr algn="l"/>
                      <a:r>
                        <a:rPr sz="1100" b="1" dirty="0">
                          <a:latin typeface="Arial"/>
                        </a:rPr>
                        <a:t>Distribution</a:t>
                      </a:r>
                    </a:p>
                  </a:txBody>
                  <a:tcPr marL="73152" marR="73152" marT="27432" marB="27432" anchor="ctr">
                    <a:solidFill>
                      <a:srgbClr val="F7F7F7"/>
                    </a:solidFill>
                  </a:tcPr>
                </a:tc>
                <a:tc>
                  <a:txBody>
                    <a:bodyPr/>
                    <a:lstStyle/>
                    <a:p>
                      <a:pPr algn="ctr"/>
                      <a:r>
                        <a:rPr sz="1100">
                          <a:latin typeface="Arial"/>
                        </a:rPr>
                        <a:t>Uniform, repeats OK</a:t>
                      </a:r>
                    </a:p>
                  </a:txBody>
                  <a:tcPr marL="73152" marR="73152" marT="27432" marB="27432" anchor="ctr">
                    <a:solidFill>
                      <a:srgbClr val="F7F7F7"/>
                    </a:solidFill>
                  </a:tcPr>
                </a:tc>
                <a:tc>
                  <a:txBody>
                    <a:bodyPr/>
                    <a:lstStyle/>
                    <a:p>
                      <a:pPr algn="ctr"/>
                      <a:r>
                        <a:rPr sz="1100">
                          <a:latin typeface="Arial"/>
                        </a:rPr>
                        <a:t>Permutation, no repeats</a:t>
                      </a:r>
                    </a:p>
                  </a:txBody>
                  <a:tcPr marL="73152" marR="73152" marT="27432" marB="27432" anchor="ctr">
                    <a:solidFill>
                      <a:srgbClr val="F7F7F7"/>
                    </a:solidFill>
                  </a:tcPr>
                </a:tc>
                <a:extLst>
                  <a:ext uri="{0D108BD9-81ED-4DB2-BD59-A6C34878D82A}">
                    <a16:rowId xmlns:a16="http://schemas.microsoft.com/office/drawing/2014/main" val="10001"/>
                  </a:ext>
                </a:extLst>
              </a:tr>
              <a:tr h="393192">
                <a:tc>
                  <a:txBody>
                    <a:bodyPr/>
                    <a:lstStyle/>
                    <a:p>
                      <a:pPr algn="l"/>
                      <a:r>
                        <a:rPr sz="1100" b="1">
                          <a:latin typeface="Arial"/>
                        </a:rPr>
                        <a:t>Analogy</a:t>
                      </a:r>
                    </a:p>
                  </a:txBody>
                  <a:tcPr marL="73152" marR="73152" marT="27432" marB="27432" anchor="ctr">
                    <a:solidFill>
                      <a:srgbClr val="FFFFFF"/>
                    </a:solidFill>
                  </a:tcPr>
                </a:tc>
                <a:tc>
                  <a:txBody>
                    <a:bodyPr/>
                    <a:lstStyle/>
                    <a:p>
                      <a:pPr algn="ctr"/>
                      <a:r>
                        <a:rPr sz="1100">
                          <a:latin typeface="Arial"/>
                        </a:rPr>
                        <a:t>Rolling a die</a:t>
                      </a:r>
                    </a:p>
                  </a:txBody>
                  <a:tcPr marL="73152" marR="73152" marT="27432" marB="27432" anchor="ctr">
                    <a:solidFill>
                      <a:srgbClr val="FFFFFF"/>
                    </a:solidFill>
                  </a:tcPr>
                </a:tc>
                <a:tc>
                  <a:txBody>
                    <a:bodyPr/>
                    <a:lstStyle/>
                    <a:p>
                      <a:pPr algn="ctr"/>
                      <a:r>
                        <a:rPr sz="1100">
                          <a:latin typeface="Arial"/>
                        </a:rPr>
                        <a:t>Shuffling a deck</a:t>
                      </a:r>
                    </a:p>
                  </a:txBody>
                  <a:tcPr marL="73152" marR="73152" marT="27432" marB="27432" anchor="ctr">
                    <a:solidFill>
                      <a:srgbClr val="FFFFFF"/>
                    </a:solidFill>
                  </a:tcPr>
                </a:tc>
                <a:extLst>
                  <a:ext uri="{0D108BD9-81ED-4DB2-BD59-A6C34878D82A}">
                    <a16:rowId xmlns:a16="http://schemas.microsoft.com/office/drawing/2014/main" val="10002"/>
                  </a:ext>
                </a:extLst>
              </a:tr>
              <a:tr h="393192">
                <a:tc>
                  <a:txBody>
                    <a:bodyPr/>
                    <a:lstStyle/>
                    <a:p>
                      <a:pPr algn="l"/>
                      <a:r>
                        <a:rPr sz="1100" b="1">
                          <a:latin typeface="Arial"/>
                        </a:rPr>
                        <a:t>Sample run</a:t>
                      </a:r>
                    </a:p>
                  </a:txBody>
                  <a:tcPr marL="73152" marR="73152" marT="27432" marB="27432" anchor="ctr">
                    <a:solidFill>
                      <a:srgbClr val="F7F7F7"/>
                    </a:solidFill>
                  </a:tcPr>
                </a:tc>
                <a:tc>
                  <a:txBody>
                    <a:bodyPr/>
                    <a:lstStyle/>
                    <a:p>
                      <a:pPr algn="ctr"/>
                      <a:r>
                        <a:rPr sz="1100">
                          <a:latin typeface="Arial"/>
                        </a:rPr>
                        <a:t>3,7,3,1,7,0,3,5</a:t>
                      </a:r>
                    </a:p>
                  </a:txBody>
                  <a:tcPr marL="73152" marR="73152" marT="27432" marB="27432" anchor="ctr">
                    <a:solidFill>
                      <a:srgbClr val="F7F7F7"/>
                    </a:solidFill>
                  </a:tcPr>
                </a:tc>
                <a:tc>
                  <a:txBody>
                    <a:bodyPr/>
                    <a:lstStyle/>
                    <a:p>
                      <a:pPr algn="ctr"/>
                      <a:r>
                        <a:rPr sz="1100">
                          <a:latin typeface="Arial"/>
                        </a:rPr>
                        <a:t>3,7,1,0,5,2,6,4</a:t>
                      </a:r>
                    </a:p>
                  </a:txBody>
                  <a:tcPr marL="73152" marR="73152" marT="27432" marB="27432" anchor="ctr">
                    <a:solidFill>
                      <a:srgbClr val="F7F7F7"/>
                    </a:solidFill>
                  </a:tcPr>
                </a:tc>
                <a:extLst>
                  <a:ext uri="{0D108BD9-81ED-4DB2-BD59-A6C34878D82A}">
                    <a16:rowId xmlns:a16="http://schemas.microsoft.com/office/drawing/2014/main" val="10003"/>
                  </a:ext>
                </a:extLst>
              </a:tr>
              <a:tr h="393192">
                <a:tc>
                  <a:txBody>
                    <a:bodyPr/>
                    <a:lstStyle/>
                    <a:p>
                      <a:pPr algn="l"/>
                      <a:r>
                        <a:rPr sz="1100" b="1">
                          <a:latin typeface="Arial"/>
                        </a:rPr>
                        <a:t>Best for</a:t>
                      </a:r>
                    </a:p>
                  </a:txBody>
                  <a:tcPr marL="73152" marR="73152" marT="27432" marB="27432" anchor="ctr">
                    <a:solidFill>
                      <a:srgbClr val="FFFFFF"/>
                    </a:solidFill>
                  </a:tcPr>
                </a:tc>
                <a:tc>
                  <a:txBody>
                    <a:bodyPr/>
                    <a:lstStyle/>
                    <a:p>
                      <a:pPr algn="ctr"/>
                      <a:r>
                        <a:rPr sz="1100">
                          <a:latin typeface="Arial"/>
                        </a:rPr>
                        <a:t>Data, addresses</a:t>
                      </a:r>
                    </a:p>
                  </a:txBody>
                  <a:tcPr marL="73152" marR="73152" marT="27432" marB="27432" anchor="ctr">
                    <a:solidFill>
                      <a:srgbClr val="FFFFFF"/>
                    </a:solidFill>
                  </a:tcPr>
                </a:tc>
                <a:tc>
                  <a:txBody>
                    <a:bodyPr/>
                    <a:lstStyle/>
                    <a:p>
                      <a:pPr algn="ctr"/>
                      <a:r>
                        <a:rPr sz="1100" dirty="0">
                          <a:latin typeface="Arial"/>
                        </a:rPr>
                        <a:t>Exhausting a small set</a:t>
                      </a:r>
                    </a:p>
                  </a:txBody>
                  <a:tcPr marL="73152" marR="73152" marT="27432" marB="27432" anchor="ctr">
                    <a:solidFill>
                      <a:srgbClr val="FFFFFF"/>
                    </a:solidFill>
                  </a:tcPr>
                </a:tc>
                <a:extLst>
                  <a:ext uri="{0D108BD9-81ED-4DB2-BD59-A6C34878D82A}">
                    <a16:rowId xmlns:a16="http://schemas.microsoft.com/office/drawing/2014/main" val="10004"/>
                  </a:ext>
                </a:extLst>
              </a:tr>
            </a:tbl>
          </a:graphicData>
        </a:graphic>
      </p:graphicFrame>
      <p:sp>
        <p:nvSpPr>
          <p:cNvPr id="15" name="Rectangle 14"/>
          <p:cNvSpPr/>
          <p:nvPr/>
        </p:nvSpPr>
        <p:spPr>
          <a:xfrm>
            <a:off x="457200" y="4251960"/>
            <a:ext cx="6126480" cy="914400"/>
          </a:xfrm>
          <a:prstGeom prst="rect">
            <a:avLst/>
          </a:prstGeom>
          <a:solidFill>
            <a:srgbClr val="E3F5F5"/>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73152" rIns="137160" bIns="73152" rtlCol="0" anchor="ctr"/>
          <a:lstStyle/>
          <a:p>
            <a:pPr algn="ctr"/>
            <a:r>
              <a:rPr sz="1150" b="1" i="0" dirty="0">
                <a:solidFill>
                  <a:srgbClr val="262626"/>
                </a:solidFill>
                <a:latin typeface="Arial"/>
              </a:rPr>
              <a:t>Why </a:t>
            </a:r>
            <a:r>
              <a:rPr sz="1150" b="1" i="0" dirty="0" err="1">
                <a:solidFill>
                  <a:srgbClr val="262626"/>
                </a:solidFill>
                <a:latin typeface="Arial"/>
              </a:rPr>
              <a:t>randc</a:t>
            </a:r>
            <a:r>
              <a:rPr sz="1150" b="1" i="0" dirty="0">
                <a:solidFill>
                  <a:srgbClr val="262626"/>
                </a:solidFill>
                <a:latin typeface="Arial"/>
              </a:rPr>
              <a:t>? To hit all 8 opcodes, rand needs ~22 draws on average. </a:t>
            </a:r>
            <a:r>
              <a:rPr sz="1150" b="1" i="0" dirty="0" err="1">
                <a:solidFill>
                  <a:srgbClr val="262626"/>
                </a:solidFill>
                <a:latin typeface="Arial"/>
              </a:rPr>
              <a:t>randc</a:t>
            </a:r>
            <a:r>
              <a:rPr sz="1150" b="1" i="0" dirty="0">
                <a:solidFill>
                  <a:srgbClr val="262626"/>
                </a:solidFill>
                <a:latin typeface="Arial"/>
              </a:rPr>
              <a:t> guarantees it in exactly 8.</a:t>
            </a:r>
          </a:p>
        </p:txBody>
      </p:sp>
      <p:sp>
        <p:nvSpPr>
          <p:cNvPr id="16" name="Rectangle 15"/>
          <p:cNvSpPr/>
          <p:nvPr/>
        </p:nvSpPr>
        <p:spPr>
          <a:xfrm>
            <a:off x="457200" y="4251960"/>
            <a:ext cx="73152" cy="914400"/>
          </a:xfrm>
          <a:prstGeom prst="rect">
            <a:avLst/>
          </a:prstGeom>
          <a:solidFill>
            <a:srgbClr val="00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57200" y="5285232"/>
            <a:ext cx="6126480" cy="1051560"/>
          </a:xfrm>
          <a:prstGeom prst="rect">
            <a:avLst/>
          </a:prstGeom>
          <a:solidFill>
            <a:srgbClr val="FADDC4"/>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73152" rIns="137160" bIns="73152" rtlCol="0" anchor="ctr"/>
          <a:lstStyle/>
          <a:p>
            <a:pPr algn="ctr"/>
            <a:r>
              <a:rPr sz="1050" b="1" i="0" dirty="0">
                <a:solidFill>
                  <a:srgbClr val="262626"/>
                </a:solidFill>
                <a:latin typeface="Arial"/>
              </a:rPr>
              <a:t>IEEE 1800 only guarantees </a:t>
            </a:r>
            <a:r>
              <a:rPr sz="1050" b="1" i="0" dirty="0" err="1">
                <a:solidFill>
                  <a:srgbClr val="262626"/>
                </a:solidFill>
                <a:latin typeface="Arial"/>
              </a:rPr>
              <a:t>randc</a:t>
            </a:r>
            <a:r>
              <a:rPr sz="1050" b="1" i="0" dirty="0">
                <a:solidFill>
                  <a:srgbClr val="262626"/>
                </a:solidFill>
                <a:latin typeface="Arial"/>
              </a:rPr>
              <a:t> support up to 8 bits (256 values). Keep </a:t>
            </a:r>
            <a:r>
              <a:rPr sz="1050" b="1" i="0" dirty="0" err="1">
                <a:solidFill>
                  <a:srgbClr val="262626"/>
                </a:solidFill>
                <a:latin typeface="Arial"/>
              </a:rPr>
              <a:t>randc</a:t>
            </a:r>
            <a:r>
              <a:rPr sz="1050" b="1" i="0" dirty="0">
                <a:solidFill>
                  <a:srgbClr val="262626"/>
                </a:solidFill>
                <a:latin typeface="Arial"/>
              </a:rPr>
              <a:t> small - </a:t>
            </a:r>
            <a:r>
              <a:rPr sz="1050" b="1" i="0" dirty="0" err="1">
                <a:solidFill>
                  <a:srgbClr val="262626"/>
                </a:solidFill>
                <a:latin typeface="Arial"/>
              </a:rPr>
              <a:t>randc</a:t>
            </a:r>
            <a:r>
              <a:rPr sz="1050" b="1" i="0" dirty="0">
                <a:solidFill>
                  <a:srgbClr val="262626"/>
                </a:solidFill>
                <a:latin typeface="Arial"/>
              </a:rPr>
              <a:t> bit [15:0] will bring the solver to its knees.</a:t>
            </a:r>
          </a:p>
        </p:txBody>
      </p:sp>
      <p:sp>
        <p:nvSpPr>
          <p:cNvPr id="18" name="Rectangle 17"/>
          <p:cNvSpPr/>
          <p:nvPr/>
        </p:nvSpPr>
        <p:spPr>
          <a:xfrm>
            <a:off x="457200" y="5285232"/>
            <a:ext cx="73152" cy="1051560"/>
          </a:xfrm>
          <a:prstGeom prst="rect">
            <a:avLst/>
          </a:prstGeom>
          <a:solidFill>
            <a:srgbClr val="E87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858000" y="1188720"/>
            <a:ext cx="2103120" cy="274320"/>
          </a:xfrm>
          <a:prstGeom prst="rect">
            <a:avLst/>
          </a:prstGeom>
          <a:noFill/>
        </p:spPr>
        <p:txBody>
          <a:bodyPr wrap="square" anchor="t">
            <a:spAutoFit/>
          </a:bodyPr>
          <a:lstStyle/>
          <a:p>
            <a:r>
              <a:rPr sz="1200" b="1">
                <a:solidFill>
                  <a:srgbClr val="262626"/>
                </a:solidFill>
                <a:latin typeface="Arial"/>
              </a:rPr>
              <a:t>rand - 8 draws</a:t>
            </a:r>
          </a:p>
        </p:txBody>
      </p:sp>
      <p:sp>
        <p:nvSpPr>
          <p:cNvPr id="20" name="TextBox 19"/>
          <p:cNvSpPr txBox="1"/>
          <p:nvPr/>
        </p:nvSpPr>
        <p:spPr>
          <a:xfrm>
            <a:off x="9235440" y="1188720"/>
            <a:ext cx="2194560" cy="274320"/>
          </a:xfrm>
          <a:prstGeom prst="rect">
            <a:avLst/>
          </a:prstGeom>
          <a:noFill/>
        </p:spPr>
        <p:txBody>
          <a:bodyPr wrap="square" anchor="t">
            <a:spAutoFit/>
          </a:bodyPr>
          <a:lstStyle/>
          <a:p>
            <a:r>
              <a:rPr sz="1200" b="1">
                <a:solidFill>
                  <a:srgbClr val="262626"/>
                </a:solidFill>
                <a:latin typeface="Arial"/>
              </a:rPr>
              <a:t>randc - 8 draws</a:t>
            </a:r>
          </a:p>
        </p:txBody>
      </p:sp>
      <p:cxnSp>
        <p:nvCxnSpPr>
          <p:cNvPr id="21" name="Connector 20"/>
          <p:cNvCxnSpPr/>
          <p:nvPr/>
        </p:nvCxnSpPr>
        <p:spPr>
          <a:xfrm>
            <a:off x="6949440" y="3291840"/>
            <a:ext cx="1920240" cy="0"/>
          </a:xfrm>
          <a:prstGeom prst="line">
            <a:avLst/>
          </a:prstGeom>
          <a:ln w="15875">
            <a:solidFill>
              <a:srgbClr val="7F7F7F"/>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9281160" y="3291840"/>
            <a:ext cx="2240280" cy="0"/>
          </a:xfrm>
          <a:prstGeom prst="line">
            <a:avLst/>
          </a:prstGeom>
          <a:ln w="15875">
            <a:solidFill>
              <a:srgbClr val="7F7F7F"/>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6949440" y="3246120"/>
            <a:ext cx="0" cy="91440"/>
          </a:xfrm>
          <a:prstGeom prst="line">
            <a:avLst/>
          </a:prstGeom>
          <a:ln w="12700">
            <a:solidFill>
              <a:srgbClr val="7F7F7F"/>
            </a:solidFill>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6812279" y="3364992"/>
            <a:ext cx="274320" cy="201168"/>
          </a:xfrm>
          <a:prstGeom prst="rect">
            <a:avLst/>
          </a:prstGeom>
          <a:noFill/>
        </p:spPr>
        <p:txBody>
          <a:bodyPr wrap="square" anchor="t">
            <a:spAutoFit/>
          </a:bodyPr>
          <a:lstStyle/>
          <a:p>
            <a:pPr algn="ctr"/>
            <a:r>
              <a:rPr sz="900">
                <a:solidFill>
                  <a:srgbClr val="262626"/>
                </a:solidFill>
                <a:latin typeface="Arial"/>
              </a:rPr>
              <a:t>0</a:t>
            </a:r>
          </a:p>
        </p:txBody>
      </p:sp>
      <p:sp>
        <p:nvSpPr>
          <p:cNvPr id="25" name="Oval 24"/>
          <p:cNvSpPr/>
          <p:nvPr/>
        </p:nvSpPr>
        <p:spPr>
          <a:xfrm>
            <a:off x="6876288" y="2953512"/>
            <a:ext cx="146304" cy="146304"/>
          </a:xfrm>
          <a:prstGeom prst="ellipse">
            <a:avLst/>
          </a:prstGeom>
          <a:solidFill>
            <a:srgbClr val="00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6" name="Connector 25"/>
          <p:cNvCxnSpPr/>
          <p:nvPr/>
        </p:nvCxnSpPr>
        <p:spPr>
          <a:xfrm>
            <a:off x="9281160" y="3246120"/>
            <a:ext cx="0" cy="91440"/>
          </a:xfrm>
          <a:prstGeom prst="line">
            <a:avLst/>
          </a:prstGeom>
          <a:ln w="12700">
            <a:solidFill>
              <a:srgbClr val="7F7F7F"/>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9144000" y="3364992"/>
            <a:ext cx="274320" cy="201168"/>
          </a:xfrm>
          <a:prstGeom prst="rect">
            <a:avLst/>
          </a:prstGeom>
          <a:noFill/>
        </p:spPr>
        <p:txBody>
          <a:bodyPr wrap="square" anchor="t">
            <a:spAutoFit/>
          </a:bodyPr>
          <a:lstStyle/>
          <a:p>
            <a:pPr algn="ctr"/>
            <a:r>
              <a:rPr sz="900">
                <a:solidFill>
                  <a:srgbClr val="262626"/>
                </a:solidFill>
                <a:latin typeface="Arial"/>
              </a:rPr>
              <a:t>0</a:t>
            </a:r>
          </a:p>
        </p:txBody>
      </p:sp>
      <p:sp>
        <p:nvSpPr>
          <p:cNvPr id="28" name="Oval 27"/>
          <p:cNvSpPr/>
          <p:nvPr/>
        </p:nvSpPr>
        <p:spPr>
          <a:xfrm>
            <a:off x="9171432" y="2843784"/>
            <a:ext cx="219456" cy="219456"/>
          </a:xfrm>
          <a:prstGeom prst="ellipse">
            <a:avLst/>
          </a:prstGeom>
          <a:solidFill>
            <a:srgbClr val="00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750" b="1">
                <a:solidFill>
                  <a:srgbClr val="FFFFFF"/>
                </a:solidFill>
                <a:latin typeface="Arial"/>
              </a:rPr>
              <a:t>4</a:t>
            </a:r>
          </a:p>
        </p:txBody>
      </p:sp>
      <p:cxnSp>
        <p:nvCxnSpPr>
          <p:cNvPr id="29" name="Connector 28"/>
          <p:cNvCxnSpPr/>
          <p:nvPr/>
        </p:nvCxnSpPr>
        <p:spPr>
          <a:xfrm>
            <a:off x="7223759" y="3246120"/>
            <a:ext cx="0" cy="91440"/>
          </a:xfrm>
          <a:prstGeom prst="line">
            <a:avLst/>
          </a:prstGeom>
          <a:ln w="12700">
            <a:solidFill>
              <a:srgbClr val="7F7F7F"/>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7086599" y="3364992"/>
            <a:ext cx="274320" cy="201168"/>
          </a:xfrm>
          <a:prstGeom prst="rect">
            <a:avLst/>
          </a:prstGeom>
          <a:noFill/>
        </p:spPr>
        <p:txBody>
          <a:bodyPr wrap="square" anchor="t">
            <a:spAutoFit/>
          </a:bodyPr>
          <a:lstStyle/>
          <a:p>
            <a:pPr algn="ctr"/>
            <a:r>
              <a:rPr sz="900">
                <a:solidFill>
                  <a:srgbClr val="262626"/>
                </a:solidFill>
                <a:latin typeface="Arial"/>
              </a:rPr>
              <a:t>1</a:t>
            </a:r>
          </a:p>
        </p:txBody>
      </p:sp>
      <p:sp>
        <p:nvSpPr>
          <p:cNvPr id="31" name="Oval 30"/>
          <p:cNvSpPr/>
          <p:nvPr/>
        </p:nvSpPr>
        <p:spPr>
          <a:xfrm>
            <a:off x="7150607" y="2953512"/>
            <a:ext cx="146304" cy="146304"/>
          </a:xfrm>
          <a:prstGeom prst="ellipse">
            <a:avLst/>
          </a:prstGeom>
          <a:solidFill>
            <a:srgbClr val="00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2" name="Connector 31"/>
          <p:cNvCxnSpPr/>
          <p:nvPr/>
        </p:nvCxnSpPr>
        <p:spPr>
          <a:xfrm>
            <a:off x="9601200" y="3246120"/>
            <a:ext cx="0" cy="91440"/>
          </a:xfrm>
          <a:prstGeom prst="line">
            <a:avLst/>
          </a:prstGeom>
          <a:ln w="12700">
            <a:solidFill>
              <a:srgbClr val="7F7F7F"/>
            </a:solidFill>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9464040" y="3364992"/>
            <a:ext cx="274320" cy="201168"/>
          </a:xfrm>
          <a:prstGeom prst="rect">
            <a:avLst/>
          </a:prstGeom>
          <a:noFill/>
        </p:spPr>
        <p:txBody>
          <a:bodyPr wrap="square" anchor="t">
            <a:spAutoFit/>
          </a:bodyPr>
          <a:lstStyle/>
          <a:p>
            <a:pPr algn="ctr"/>
            <a:r>
              <a:rPr sz="900">
                <a:solidFill>
                  <a:srgbClr val="262626"/>
                </a:solidFill>
                <a:latin typeface="Arial"/>
              </a:rPr>
              <a:t>1</a:t>
            </a:r>
          </a:p>
        </p:txBody>
      </p:sp>
      <p:sp>
        <p:nvSpPr>
          <p:cNvPr id="34" name="Oval 33"/>
          <p:cNvSpPr/>
          <p:nvPr/>
        </p:nvSpPr>
        <p:spPr>
          <a:xfrm>
            <a:off x="9491472" y="2843784"/>
            <a:ext cx="219456" cy="219456"/>
          </a:xfrm>
          <a:prstGeom prst="ellipse">
            <a:avLst/>
          </a:prstGeom>
          <a:solidFill>
            <a:srgbClr val="00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750" b="1">
                <a:solidFill>
                  <a:srgbClr val="FFFFFF"/>
                </a:solidFill>
                <a:latin typeface="Arial"/>
              </a:rPr>
              <a:t>3</a:t>
            </a:r>
          </a:p>
        </p:txBody>
      </p:sp>
      <p:cxnSp>
        <p:nvCxnSpPr>
          <p:cNvPr id="35" name="Connector 34"/>
          <p:cNvCxnSpPr/>
          <p:nvPr/>
        </p:nvCxnSpPr>
        <p:spPr>
          <a:xfrm>
            <a:off x="7498079" y="3246120"/>
            <a:ext cx="0" cy="91440"/>
          </a:xfrm>
          <a:prstGeom prst="line">
            <a:avLst/>
          </a:prstGeom>
          <a:ln w="12700">
            <a:solidFill>
              <a:srgbClr val="7F7F7F"/>
            </a:solidFill>
          </a:ln>
          <a:effectLst/>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7360919" y="3364992"/>
            <a:ext cx="274320" cy="201168"/>
          </a:xfrm>
          <a:prstGeom prst="rect">
            <a:avLst/>
          </a:prstGeom>
          <a:noFill/>
        </p:spPr>
        <p:txBody>
          <a:bodyPr wrap="square" anchor="t">
            <a:spAutoFit/>
          </a:bodyPr>
          <a:lstStyle/>
          <a:p>
            <a:pPr algn="ctr"/>
            <a:r>
              <a:rPr sz="900">
                <a:solidFill>
                  <a:srgbClr val="262626"/>
                </a:solidFill>
                <a:latin typeface="Arial"/>
              </a:rPr>
              <a:t>2</a:t>
            </a:r>
          </a:p>
        </p:txBody>
      </p:sp>
      <p:cxnSp>
        <p:nvCxnSpPr>
          <p:cNvPr id="37" name="Connector 36"/>
          <p:cNvCxnSpPr/>
          <p:nvPr/>
        </p:nvCxnSpPr>
        <p:spPr>
          <a:xfrm>
            <a:off x="9921240" y="3246120"/>
            <a:ext cx="0" cy="91440"/>
          </a:xfrm>
          <a:prstGeom prst="line">
            <a:avLst/>
          </a:prstGeom>
          <a:ln w="12700">
            <a:solidFill>
              <a:srgbClr val="7F7F7F"/>
            </a:solidFill>
          </a:ln>
          <a:effectLst/>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9784080" y="3364992"/>
            <a:ext cx="274320" cy="201168"/>
          </a:xfrm>
          <a:prstGeom prst="rect">
            <a:avLst/>
          </a:prstGeom>
          <a:noFill/>
        </p:spPr>
        <p:txBody>
          <a:bodyPr wrap="square" anchor="t">
            <a:spAutoFit/>
          </a:bodyPr>
          <a:lstStyle/>
          <a:p>
            <a:pPr algn="ctr"/>
            <a:r>
              <a:rPr sz="900">
                <a:solidFill>
                  <a:srgbClr val="262626"/>
                </a:solidFill>
                <a:latin typeface="Arial"/>
              </a:rPr>
              <a:t>2</a:t>
            </a:r>
          </a:p>
        </p:txBody>
      </p:sp>
      <p:sp>
        <p:nvSpPr>
          <p:cNvPr id="39" name="Oval 38"/>
          <p:cNvSpPr/>
          <p:nvPr/>
        </p:nvSpPr>
        <p:spPr>
          <a:xfrm>
            <a:off x="9811512" y="2843784"/>
            <a:ext cx="219456" cy="219456"/>
          </a:xfrm>
          <a:prstGeom prst="ellipse">
            <a:avLst/>
          </a:prstGeom>
          <a:solidFill>
            <a:srgbClr val="00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750" b="1">
                <a:solidFill>
                  <a:srgbClr val="FFFFFF"/>
                </a:solidFill>
                <a:latin typeface="Arial"/>
              </a:rPr>
              <a:t>6</a:t>
            </a:r>
          </a:p>
        </p:txBody>
      </p:sp>
      <p:cxnSp>
        <p:nvCxnSpPr>
          <p:cNvPr id="40" name="Connector 39"/>
          <p:cNvCxnSpPr/>
          <p:nvPr/>
        </p:nvCxnSpPr>
        <p:spPr>
          <a:xfrm>
            <a:off x="7772400" y="3246120"/>
            <a:ext cx="0" cy="91440"/>
          </a:xfrm>
          <a:prstGeom prst="line">
            <a:avLst/>
          </a:prstGeom>
          <a:ln w="12700">
            <a:solidFill>
              <a:srgbClr val="7F7F7F"/>
            </a:solidFill>
          </a:ln>
          <a:effectLst/>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7635240" y="3364992"/>
            <a:ext cx="274320" cy="201168"/>
          </a:xfrm>
          <a:prstGeom prst="rect">
            <a:avLst/>
          </a:prstGeom>
          <a:noFill/>
        </p:spPr>
        <p:txBody>
          <a:bodyPr wrap="square" anchor="t">
            <a:spAutoFit/>
          </a:bodyPr>
          <a:lstStyle/>
          <a:p>
            <a:pPr algn="ctr"/>
            <a:r>
              <a:rPr sz="900">
                <a:solidFill>
                  <a:srgbClr val="262626"/>
                </a:solidFill>
                <a:latin typeface="Arial"/>
              </a:rPr>
              <a:t>3</a:t>
            </a:r>
          </a:p>
        </p:txBody>
      </p:sp>
      <p:sp>
        <p:nvSpPr>
          <p:cNvPr id="42" name="Oval 41"/>
          <p:cNvSpPr/>
          <p:nvPr/>
        </p:nvSpPr>
        <p:spPr>
          <a:xfrm>
            <a:off x="7699248" y="2953512"/>
            <a:ext cx="146304" cy="146304"/>
          </a:xfrm>
          <a:prstGeom prst="ellipse">
            <a:avLst/>
          </a:prstGeom>
          <a:solidFill>
            <a:srgbClr val="00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val 42"/>
          <p:cNvSpPr/>
          <p:nvPr/>
        </p:nvSpPr>
        <p:spPr>
          <a:xfrm>
            <a:off x="7699248" y="2779776"/>
            <a:ext cx="146304" cy="146304"/>
          </a:xfrm>
          <a:prstGeom prst="ellipse">
            <a:avLst/>
          </a:prstGeom>
          <a:solidFill>
            <a:srgbClr val="00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p:nvPr/>
        </p:nvSpPr>
        <p:spPr>
          <a:xfrm>
            <a:off x="7699248" y="2606040"/>
            <a:ext cx="146304" cy="146304"/>
          </a:xfrm>
          <a:prstGeom prst="ellipse">
            <a:avLst/>
          </a:prstGeom>
          <a:solidFill>
            <a:srgbClr val="00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5" name="Connector 44"/>
          <p:cNvCxnSpPr/>
          <p:nvPr/>
        </p:nvCxnSpPr>
        <p:spPr>
          <a:xfrm>
            <a:off x="10241280" y="3246120"/>
            <a:ext cx="0" cy="91440"/>
          </a:xfrm>
          <a:prstGeom prst="line">
            <a:avLst/>
          </a:prstGeom>
          <a:ln w="12700">
            <a:solidFill>
              <a:srgbClr val="7F7F7F"/>
            </a:solidFill>
          </a:ln>
          <a:effectLst/>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10104119" y="3364992"/>
            <a:ext cx="274320" cy="201168"/>
          </a:xfrm>
          <a:prstGeom prst="rect">
            <a:avLst/>
          </a:prstGeom>
          <a:noFill/>
        </p:spPr>
        <p:txBody>
          <a:bodyPr wrap="square" anchor="t">
            <a:spAutoFit/>
          </a:bodyPr>
          <a:lstStyle/>
          <a:p>
            <a:pPr algn="ctr"/>
            <a:r>
              <a:rPr sz="900">
                <a:solidFill>
                  <a:srgbClr val="262626"/>
                </a:solidFill>
                <a:latin typeface="Arial"/>
              </a:rPr>
              <a:t>3</a:t>
            </a:r>
          </a:p>
        </p:txBody>
      </p:sp>
      <p:sp>
        <p:nvSpPr>
          <p:cNvPr id="47" name="Oval 46"/>
          <p:cNvSpPr/>
          <p:nvPr/>
        </p:nvSpPr>
        <p:spPr>
          <a:xfrm>
            <a:off x="10131552" y="2843784"/>
            <a:ext cx="219456" cy="219456"/>
          </a:xfrm>
          <a:prstGeom prst="ellipse">
            <a:avLst/>
          </a:prstGeom>
          <a:solidFill>
            <a:srgbClr val="00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750" b="1">
                <a:solidFill>
                  <a:srgbClr val="FFFFFF"/>
                </a:solidFill>
                <a:latin typeface="Arial"/>
              </a:rPr>
              <a:t>1</a:t>
            </a:r>
          </a:p>
        </p:txBody>
      </p:sp>
      <p:cxnSp>
        <p:nvCxnSpPr>
          <p:cNvPr id="48" name="Connector 47"/>
          <p:cNvCxnSpPr/>
          <p:nvPr/>
        </p:nvCxnSpPr>
        <p:spPr>
          <a:xfrm>
            <a:off x="8046719" y="3246120"/>
            <a:ext cx="0" cy="91440"/>
          </a:xfrm>
          <a:prstGeom prst="line">
            <a:avLst/>
          </a:prstGeom>
          <a:ln w="12700">
            <a:solidFill>
              <a:srgbClr val="7F7F7F"/>
            </a:solidFill>
          </a:ln>
          <a:effectLst/>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7909559" y="3364992"/>
            <a:ext cx="274320" cy="201168"/>
          </a:xfrm>
          <a:prstGeom prst="rect">
            <a:avLst/>
          </a:prstGeom>
          <a:noFill/>
        </p:spPr>
        <p:txBody>
          <a:bodyPr wrap="square" anchor="t">
            <a:spAutoFit/>
          </a:bodyPr>
          <a:lstStyle/>
          <a:p>
            <a:pPr algn="ctr"/>
            <a:r>
              <a:rPr sz="900">
                <a:solidFill>
                  <a:srgbClr val="262626"/>
                </a:solidFill>
                <a:latin typeface="Arial"/>
              </a:rPr>
              <a:t>4</a:t>
            </a:r>
          </a:p>
        </p:txBody>
      </p:sp>
      <p:cxnSp>
        <p:nvCxnSpPr>
          <p:cNvPr id="50" name="Connector 49"/>
          <p:cNvCxnSpPr/>
          <p:nvPr/>
        </p:nvCxnSpPr>
        <p:spPr>
          <a:xfrm>
            <a:off x="10561320" y="3246120"/>
            <a:ext cx="0" cy="91440"/>
          </a:xfrm>
          <a:prstGeom prst="line">
            <a:avLst/>
          </a:prstGeom>
          <a:ln w="12700">
            <a:solidFill>
              <a:srgbClr val="7F7F7F"/>
            </a:solidFill>
          </a:ln>
          <a:effectLst/>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10424160" y="3364992"/>
            <a:ext cx="274320" cy="201168"/>
          </a:xfrm>
          <a:prstGeom prst="rect">
            <a:avLst/>
          </a:prstGeom>
          <a:noFill/>
        </p:spPr>
        <p:txBody>
          <a:bodyPr wrap="square" anchor="t">
            <a:spAutoFit/>
          </a:bodyPr>
          <a:lstStyle/>
          <a:p>
            <a:pPr algn="ctr"/>
            <a:r>
              <a:rPr sz="900">
                <a:solidFill>
                  <a:srgbClr val="262626"/>
                </a:solidFill>
                <a:latin typeface="Arial"/>
              </a:rPr>
              <a:t>4</a:t>
            </a:r>
          </a:p>
        </p:txBody>
      </p:sp>
      <p:sp>
        <p:nvSpPr>
          <p:cNvPr id="52" name="Oval 51"/>
          <p:cNvSpPr/>
          <p:nvPr/>
        </p:nvSpPr>
        <p:spPr>
          <a:xfrm>
            <a:off x="10451592" y="2843784"/>
            <a:ext cx="219456" cy="219456"/>
          </a:xfrm>
          <a:prstGeom prst="ellipse">
            <a:avLst/>
          </a:prstGeom>
          <a:solidFill>
            <a:srgbClr val="00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750" b="1">
                <a:solidFill>
                  <a:srgbClr val="FFFFFF"/>
                </a:solidFill>
                <a:latin typeface="Arial"/>
              </a:rPr>
              <a:t>8</a:t>
            </a:r>
          </a:p>
        </p:txBody>
      </p:sp>
      <p:cxnSp>
        <p:nvCxnSpPr>
          <p:cNvPr id="53" name="Connector 52"/>
          <p:cNvCxnSpPr/>
          <p:nvPr/>
        </p:nvCxnSpPr>
        <p:spPr>
          <a:xfrm>
            <a:off x="8321040" y="3246120"/>
            <a:ext cx="0" cy="91440"/>
          </a:xfrm>
          <a:prstGeom prst="line">
            <a:avLst/>
          </a:prstGeom>
          <a:ln w="12700">
            <a:solidFill>
              <a:srgbClr val="7F7F7F"/>
            </a:solidFill>
          </a:ln>
          <a:effectLst/>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8183879" y="3364992"/>
            <a:ext cx="274320" cy="201168"/>
          </a:xfrm>
          <a:prstGeom prst="rect">
            <a:avLst/>
          </a:prstGeom>
          <a:noFill/>
        </p:spPr>
        <p:txBody>
          <a:bodyPr wrap="square" anchor="t">
            <a:spAutoFit/>
          </a:bodyPr>
          <a:lstStyle/>
          <a:p>
            <a:pPr algn="ctr"/>
            <a:r>
              <a:rPr sz="900">
                <a:solidFill>
                  <a:srgbClr val="262626"/>
                </a:solidFill>
                <a:latin typeface="Arial"/>
              </a:rPr>
              <a:t>5</a:t>
            </a:r>
          </a:p>
        </p:txBody>
      </p:sp>
      <p:sp>
        <p:nvSpPr>
          <p:cNvPr id="55" name="Oval 54"/>
          <p:cNvSpPr/>
          <p:nvPr/>
        </p:nvSpPr>
        <p:spPr>
          <a:xfrm>
            <a:off x="8247888" y="2953512"/>
            <a:ext cx="146304" cy="146304"/>
          </a:xfrm>
          <a:prstGeom prst="ellipse">
            <a:avLst/>
          </a:prstGeom>
          <a:solidFill>
            <a:srgbClr val="00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6" name="Connector 55"/>
          <p:cNvCxnSpPr/>
          <p:nvPr/>
        </p:nvCxnSpPr>
        <p:spPr>
          <a:xfrm>
            <a:off x="10881360" y="3246120"/>
            <a:ext cx="0" cy="91440"/>
          </a:xfrm>
          <a:prstGeom prst="line">
            <a:avLst/>
          </a:prstGeom>
          <a:ln w="12700">
            <a:solidFill>
              <a:srgbClr val="7F7F7F"/>
            </a:solidFill>
          </a:ln>
          <a:effectLst/>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10744200" y="3364992"/>
            <a:ext cx="274320" cy="201168"/>
          </a:xfrm>
          <a:prstGeom prst="rect">
            <a:avLst/>
          </a:prstGeom>
          <a:noFill/>
        </p:spPr>
        <p:txBody>
          <a:bodyPr wrap="square" anchor="t">
            <a:spAutoFit/>
          </a:bodyPr>
          <a:lstStyle/>
          <a:p>
            <a:pPr algn="ctr"/>
            <a:r>
              <a:rPr sz="900">
                <a:solidFill>
                  <a:srgbClr val="262626"/>
                </a:solidFill>
                <a:latin typeface="Arial"/>
              </a:rPr>
              <a:t>5</a:t>
            </a:r>
          </a:p>
        </p:txBody>
      </p:sp>
      <p:sp>
        <p:nvSpPr>
          <p:cNvPr id="58" name="Oval 57"/>
          <p:cNvSpPr/>
          <p:nvPr/>
        </p:nvSpPr>
        <p:spPr>
          <a:xfrm>
            <a:off x="10771632" y="2843784"/>
            <a:ext cx="219456" cy="219456"/>
          </a:xfrm>
          <a:prstGeom prst="ellipse">
            <a:avLst/>
          </a:prstGeom>
          <a:solidFill>
            <a:srgbClr val="00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750" b="1">
                <a:solidFill>
                  <a:srgbClr val="FFFFFF"/>
                </a:solidFill>
                <a:latin typeface="Arial"/>
              </a:rPr>
              <a:t>5</a:t>
            </a:r>
          </a:p>
        </p:txBody>
      </p:sp>
      <p:cxnSp>
        <p:nvCxnSpPr>
          <p:cNvPr id="59" name="Connector 58"/>
          <p:cNvCxnSpPr/>
          <p:nvPr/>
        </p:nvCxnSpPr>
        <p:spPr>
          <a:xfrm>
            <a:off x="8595359" y="3246120"/>
            <a:ext cx="0" cy="91440"/>
          </a:xfrm>
          <a:prstGeom prst="line">
            <a:avLst/>
          </a:prstGeom>
          <a:ln w="12700">
            <a:solidFill>
              <a:srgbClr val="7F7F7F"/>
            </a:solidFill>
          </a:ln>
          <a:effectLst/>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8458199" y="3364992"/>
            <a:ext cx="274320" cy="201168"/>
          </a:xfrm>
          <a:prstGeom prst="rect">
            <a:avLst/>
          </a:prstGeom>
          <a:noFill/>
        </p:spPr>
        <p:txBody>
          <a:bodyPr wrap="square" anchor="t">
            <a:spAutoFit/>
          </a:bodyPr>
          <a:lstStyle/>
          <a:p>
            <a:pPr algn="ctr"/>
            <a:r>
              <a:rPr sz="900">
                <a:solidFill>
                  <a:srgbClr val="262626"/>
                </a:solidFill>
                <a:latin typeface="Arial"/>
              </a:rPr>
              <a:t>6</a:t>
            </a:r>
          </a:p>
        </p:txBody>
      </p:sp>
      <p:cxnSp>
        <p:nvCxnSpPr>
          <p:cNvPr id="61" name="Connector 60"/>
          <p:cNvCxnSpPr/>
          <p:nvPr/>
        </p:nvCxnSpPr>
        <p:spPr>
          <a:xfrm>
            <a:off x="11201400" y="3246120"/>
            <a:ext cx="0" cy="91440"/>
          </a:xfrm>
          <a:prstGeom prst="line">
            <a:avLst/>
          </a:prstGeom>
          <a:ln w="12700">
            <a:solidFill>
              <a:srgbClr val="7F7F7F"/>
            </a:solidFill>
          </a:ln>
          <a:effectLst/>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11064240" y="3364992"/>
            <a:ext cx="274320" cy="201168"/>
          </a:xfrm>
          <a:prstGeom prst="rect">
            <a:avLst/>
          </a:prstGeom>
          <a:noFill/>
        </p:spPr>
        <p:txBody>
          <a:bodyPr wrap="square" anchor="t">
            <a:spAutoFit/>
          </a:bodyPr>
          <a:lstStyle/>
          <a:p>
            <a:pPr algn="ctr"/>
            <a:r>
              <a:rPr sz="900">
                <a:solidFill>
                  <a:srgbClr val="262626"/>
                </a:solidFill>
                <a:latin typeface="Arial"/>
              </a:rPr>
              <a:t>6</a:t>
            </a:r>
          </a:p>
        </p:txBody>
      </p:sp>
      <p:sp>
        <p:nvSpPr>
          <p:cNvPr id="63" name="Oval 62"/>
          <p:cNvSpPr/>
          <p:nvPr/>
        </p:nvSpPr>
        <p:spPr>
          <a:xfrm>
            <a:off x="11091672" y="2843784"/>
            <a:ext cx="219456" cy="219456"/>
          </a:xfrm>
          <a:prstGeom prst="ellipse">
            <a:avLst/>
          </a:prstGeom>
          <a:solidFill>
            <a:srgbClr val="00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750" b="1">
                <a:solidFill>
                  <a:srgbClr val="FFFFFF"/>
                </a:solidFill>
                <a:latin typeface="Arial"/>
              </a:rPr>
              <a:t>7</a:t>
            </a:r>
          </a:p>
        </p:txBody>
      </p:sp>
      <p:cxnSp>
        <p:nvCxnSpPr>
          <p:cNvPr id="64" name="Connector 63"/>
          <p:cNvCxnSpPr/>
          <p:nvPr/>
        </p:nvCxnSpPr>
        <p:spPr>
          <a:xfrm>
            <a:off x="8869680" y="3246120"/>
            <a:ext cx="0" cy="91440"/>
          </a:xfrm>
          <a:prstGeom prst="line">
            <a:avLst/>
          </a:prstGeom>
          <a:ln w="12700">
            <a:solidFill>
              <a:srgbClr val="7F7F7F"/>
            </a:solidFill>
          </a:ln>
          <a:effectLst/>
        </p:spPr>
        <p:style>
          <a:lnRef idx="2">
            <a:schemeClr val="accent1"/>
          </a:lnRef>
          <a:fillRef idx="0">
            <a:schemeClr val="accent1"/>
          </a:fillRef>
          <a:effectRef idx="1">
            <a:schemeClr val="accent1"/>
          </a:effectRef>
          <a:fontRef idx="minor">
            <a:schemeClr val="tx1"/>
          </a:fontRef>
        </p:style>
      </p:cxnSp>
      <p:sp>
        <p:nvSpPr>
          <p:cNvPr id="65" name="TextBox 64"/>
          <p:cNvSpPr txBox="1"/>
          <p:nvPr/>
        </p:nvSpPr>
        <p:spPr>
          <a:xfrm>
            <a:off x="8732519" y="3364992"/>
            <a:ext cx="274320" cy="201168"/>
          </a:xfrm>
          <a:prstGeom prst="rect">
            <a:avLst/>
          </a:prstGeom>
          <a:noFill/>
        </p:spPr>
        <p:txBody>
          <a:bodyPr wrap="square" anchor="t">
            <a:spAutoFit/>
          </a:bodyPr>
          <a:lstStyle/>
          <a:p>
            <a:pPr algn="ctr"/>
            <a:r>
              <a:rPr sz="900">
                <a:solidFill>
                  <a:srgbClr val="262626"/>
                </a:solidFill>
                <a:latin typeface="Arial"/>
              </a:rPr>
              <a:t>7</a:t>
            </a:r>
          </a:p>
        </p:txBody>
      </p:sp>
      <p:sp>
        <p:nvSpPr>
          <p:cNvPr id="66" name="Oval 65"/>
          <p:cNvSpPr/>
          <p:nvPr/>
        </p:nvSpPr>
        <p:spPr>
          <a:xfrm>
            <a:off x="8796528" y="2953512"/>
            <a:ext cx="146304" cy="146304"/>
          </a:xfrm>
          <a:prstGeom prst="ellipse">
            <a:avLst/>
          </a:prstGeom>
          <a:solidFill>
            <a:srgbClr val="00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Oval 66"/>
          <p:cNvSpPr/>
          <p:nvPr/>
        </p:nvSpPr>
        <p:spPr>
          <a:xfrm>
            <a:off x="8796528" y="2779776"/>
            <a:ext cx="146304" cy="146304"/>
          </a:xfrm>
          <a:prstGeom prst="ellipse">
            <a:avLst/>
          </a:prstGeom>
          <a:solidFill>
            <a:srgbClr val="00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8" name="Connector 67"/>
          <p:cNvCxnSpPr/>
          <p:nvPr/>
        </p:nvCxnSpPr>
        <p:spPr>
          <a:xfrm>
            <a:off x="11521440" y="3246120"/>
            <a:ext cx="0" cy="91440"/>
          </a:xfrm>
          <a:prstGeom prst="line">
            <a:avLst/>
          </a:prstGeom>
          <a:ln w="12700">
            <a:solidFill>
              <a:srgbClr val="7F7F7F"/>
            </a:solidFill>
          </a:ln>
          <a:effectLst/>
        </p:spPr>
        <p:style>
          <a:lnRef idx="2">
            <a:schemeClr val="accent1"/>
          </a:lnRef>
          <a:fillRef idx="0">
            <a:schemeClr val="accent1"/>
          </a:fillRef>
          <a:effectRef idx="1">
            <a:schemeClr val="accent1"/>
          </a:effectRef>
          <a:fontRef idx="minor">
            <a:schemeClr val="tx1"/>
          </a:fontRef>
        </p:style>
      </p:cxnSp>
      <p:sp>
        <p:nvSpPr>
          <p:cNvPr id="69" name="TextBox 68"/>
          <p:cNvSpPr txBox="1"/>
          <p:nvPr/>
        </p:nvSpPr>
        <p:spPr>
          <a:xfrm>
            <a:off x="11384280" y="3364992"/>
            <a:ext cx="274320" cy="201168"/>
          </a:xfrm>
          <a:prstGeom prst="rect">
            <a:avLst/>
          </a:prstGeom>
          <a:noFill/>
        </p:spPr>
        <p:txBody>
          <a:bodyPr wrap="square" anchor="t">
            <a:spAutoFit/>
          </a:bodyPr>
          <a:lstStyle/>
          <a:p>
            <a:pPr algn="ctr"/>
            <a:r>
              <a:rPr sz="900">
                <a:solidFill>
                  <a:srgbClr val="262626"/>
                </a:solidFill>
                <a:latin typeface="Arial"/>
              </a:rPr>
              <a:t>7</a:t>
            </a:r>
          </a:p>
        </p:txBody>
      </p:sp>
      <p:sp>
        <p:nvSpPr>
          <p:cNvPr id="70" name="Oval 69"/>
          <p:cNvSpPr/>
          <p:nvPr/>
        </p:nvSpPr>
        <p:spPr>
          <a:xfrm>
            <a:off x="11411712" y="2843784"/>
            <a:ext cx="219456" cy="219456"/>
          </a:xfrm>
          <a:prstGeom prst="ellipse">
            <a:avLst/>
          </a:prstGeom>
          <a:solidFill>
            <a:srgbClr val="00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750" b="1">
                <a:solidFill>
                  <a:srgbClr val="FFFFFF"/>
                </a:solidFill>
                <a:latin typeface="Arial"/>
              </a:rPr>
              <a:t>2</a:t>
            </a:r>
          </a:p>
        </p:txBody>
      </p:sp>
      <p:sp>
        <p:nvSpPr>
          <p:cNvPr id="71" name="TextBox 70"/>
          <p:cNvSpPr txBox="1"/>
          <p:nvPr/>
        </p:nvSpPr>
        <p:spPr>
          <a:xfrm>
            <a:off x="6675120" y="3611880"/>
            <a:ext cx="2377440" cy="502920"/>
          </a:xfrm>
          <a:prstGeom prst="rect">
            <a:avLst/>
          </a:prstGeom>
          <a:noFill/>
        </p:spPr>
        <p:txBody>
          <a:bodyPr wrap="square" anchor="t">
            <a:spAutoFit/>
          </a:bodyPr>
          <a:lstStyle/>
          <a:p>
            <a:pPr algn="ctr"/>
            <a:r>
              <a:rPr sz="900" i="1">
                <a:solidFill>
                  <a:srgbClr val="E8792E"/>
                </a:solidFill>
                <a:latin typeface="Arial"/>
              </a:rPr>
              <a:t>some values repeated,
three values never appeared</a:t>
            </a:r>
          </a:p>
        </p:txBody>
      </p:sp>
      <p:sp>
        <p:nvSpPr>
          <p:cNvPr id="72" name="TextBox 71"/>
          <p:cNvSpPr txBox="1"/>
          <p:nvPr/>
        </p:nvSpPr>
        <p:spPr>
          <a:xfrm>
            <a:off x="9006840" y="3611880"/>
            <a:ext cx="2606040" cy="502920"/>
          </a:xfrm>
          <a:prstGeom prst="rect">
            <a:avLst/>
          </a:prstGeom>
          <a:noFill/>
        </p:spPr>
        <p:txBody>
          <a:bodyPr wrap="square" anchor="t">
            <a:spAutoFit/>
          </a:bodyPr>
          <a:lstStyle/>
          <a:p>
            <a:pPr algn="ctr"/>
            <a:r>
              <a:rPr sz="900" i="1" dirty="0">
                <a:solidFill>
                  <a:srgbClr val="006E6E"/>
                </a:solidFill>
                <a:latin typeface="Arial"/>
              </a:rPr>
              <a:t>every value exactly once,
then reshuffle</a:t>
            </a:r>
          </a:p>
        </p:txBody>
      </p:sp>
      <p:sp>
        <p:nvSpPr>
          <p:cNvPr id="73" name="Rounded Rectangle 72"/>
          <p:cNvSpPr/>
          <p:nvPr/>
        </p:nvSpPr>
        <p:spPr>
          <a:xfrm>
            <a:off x="7452360" y="4251960"/>
            <a:ext cx="457200" cy="457200"/>
          </a:xfrm>
          <a:prstGeom prst="roundRect">
            <a:avLst/>
          </a:prstGeom>
          <a:solidFill>
            <a:srgbClr val="FFFFFF"/>
          </a:solidFill>
          <a:ln w="12700">
            <a:solidFill>
              <a:srgbClr val="262626"/>
            </a:solid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endParaRPr/>
          </a:p>
        </p:txBody>
      </p:sp>
      <p:sp>
        <p:nvSpPr>
          <p:cNvPr id="74" name="Oval 73"/>
          <p:cNvSpPr/>
          <p:nvPr/>
        </p:nvSpPr>
        <p:spPr>
          <a:xfrm>
            <a:off x="7516368" y="4315968"/>
            <a:ext cx="73152" cy="73152"/>
          </a:xfrm>
          <a:prstGeom prst="ellipse">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Oval 74"/>
          <p:cNvSpPr/>
          <p:nvPr/>
        </p:nvSpPr>
        <p:spPr>
          <a:xfrm>
            <a:off x="7772400" y="4315968"/>
            <a:ext cx="73152" cy="73152"/>
          </a:xfrm>
          <a:prstGeom prst="ellipse">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Oval 75"/>
          <p:cNvSpPr/>
          <p:nvPr/>
        </p:nvSpPr>
        <p:spPr>
          <a:xfrm>
            <a:off x="7516368" y="4572000"/>
            <a:ext cx="73152" cy="73152"/>
          </a:xfrm>
          <a:prstGeom prst="ellipse">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Oval 76"/>
          <p:cNvSpPr/>
          <p:nvPr/>
        </p:nvSpPr>
        <p:spPr>
          <a:xfrm>
            <a:off x="7772400" y="4572000"/>
            <a:ext cx="73152" cy="73152"/>
          </a:xfrm>
          <a:prstGeom prst="ellipse">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Oval 77"/>
          <p:cNvSpPr/>
          <p:nvPr/>
        </p:nvSpPr>
        <p:spPr>
          <a:xfrm>
            <a:off x="7644384" y="4443984"/>
            <a:ext cx="73152" cy="73152"/>
          </a:xfrm>
          <a:prstGeom prst="ellipse">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Rounded Rectangle 78"/>
          <p:cNvSpPr/>
          <p:nvPr/>
        </p:nvSpPr>
        <p:spPr>
          <a:xfrm>
            <a:off x="10287000" y="4142232"/>
            <a:ext cx="301752" cy="502920"/>
          </a:xfrm>
          <a:prstGeom prst="roundRect">
            <a:avLst/>
          </a:prstGeom>
          <a:solidFill>
            <a:srgbClr val="FFFFFF"/>
          </a:solidFill>
          <a:ln w="12700">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Rounded Rectangle 79"/>
          <p:cNvSpPr/>
          <p:nvPr/>
        </p:nvSpPr>
        <p:spPr>
          <a:xfrm>
            <a:off x="10195560" y="4197096"/>
            <a:ext cx="301752" cy="502920"/>
          </a:xfrm>
          <a:prstGeom prst="roundRect">
            <a:avLst/>
          </a:prstGeom>
          <a:solidFill>
            <a:srgbClr val="FFFFFF"/>
          </a:solidFill>
          <a:ln w="12700">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Rounded Rectangle 80"/>
          <p:cNvSpPr/>
          <p:nvPr/>
        </p:nvSpPr>
        <p:spPr>
          <a:xfrm>
            <a:off x="10104120" y="4251960"/>
            <a:ext cx="301752" cy="502920"/>
          </a:xfrm>
          <a:prstGeom prst="roundRect">
            <a:avLst/>
          </a:prstGeom>
          <a:solidFill>
            <a:srgbClr val="FFFFFF"/>
          </a:solidFill>
          <a:ln w="12700">
            <a:solidFill>
              <a:srgbClr val="00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84048"/>
            <a:ext cx="10607040" cy="685800"/>
          </a:xfrm>
          <a:prstGeom prst="rect">
            <a:avLst/>
          </a:prstGeom>
          <a:noFill/>
        </p:spPr>
        <p:txBody>
          <a:bodyPr wrap="square">
            <a:spAutoFit/>
          </a:bodyPr>
          <a:lstStyle/>
          <a:p>
            <a:r>
              <a:rPr sz="2800" b="1">
                <a:solidFill>
                  <a:srgbClr val="009999"/>
                </a:solidFill>
                <a:latin typeface="Arial"/>
              </a:rPr>
              <a:t>That's the Toolkit</a:t>
            </a:r>
          </a:p>
        </p:txBody>
      </p:sp>
      <p:sp>
        <p:nvSpPr>
          <p:cNvPr id="3" name="TextBox 2"/>
          <p:cNvSpPr txBox="1"/>
          <p:nvPr/>
        </p:nvSpPr>
        <p:spPr>
          <a:xfrm>
            <a:off x="365760" y="6446520"/>
            <a:ext cx="11521440" cy="292608"/>
          </a:xfrm>
          <a:prstGeom prst="rect">
            <a:avLst/>
          </a:prstGeom>
          <a:noFill/>
        </p:spPr>
        <p:txBody>
          <a:bodyPr wrap="none">
            <a:spAutoFit/>
          </a:bodyPr>
          <a:lstStyle/>
          <a:p>
            <a:r>
              <a:rPr sz="900">
                <a:solidFill>
                  <a:srgbClr val="7F7F7F"/>
                </a:solidFill>
                <a:latin typeface="Arial"/>
              </a:rPr>
              <a:t>Restricted | (c) Siemens 2026 | Prajwal Matukumalli | DISW EDA | 2026-09-09</a:t>
            </a:r>
          </a:p>
        </p:txBody>
      </p:sp>
      <p:sp>
        <p:nvSpPr>
          <p:cNvPr id="4" name="Rounded Rectangle 3"/>
          <p:cNvSpPr/>
          <p:nvPr/>
        </p:nvSpPr>
        <p:spPr>
          <a:xfrm>
            <a:off x="457200" y="1280160"/>
            <a:ext cx="1371600" cy="384048"/>
          </a:xfrm>
          <a:prstGeom prst="roundRect">
            <a:avLst/>
          </a:prstGeom>
          <a:solidFill>
            <a:srgbClr val="009999"/>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900" b="1" i="0" dirty="0">
                <a:solidFill>
                  <a:srgbClr val="FFFFFF"/>
                </a:solidFill>
                <a:latin typeface="Arial"/>
              </a:rPr>
              <a:t>Spec analysis</a:t>
            </a:r>
          </a:p>
        </p:txBody>
      </p:sp>
      <p:cxnSp>
        <p:nvCxnSpPr>
          <p:cNvPr id="5" name="Connector 4"/>
          <p:cNvCxnSpPr/>
          <p:nvPr/>
        </p:nvCxnSpPr>
        <p:spPr>
          <a:xfrm>
            <a:off x="1837943" y="1472184"/>
            <a:ext cx="118873" cy="0"/>
          </a:xfrm>
          <a:prstGeom prst="line">
            <a:avLst/>
          </a:prstGeom>
          <a:ln w="15875">
            <a:solidFill>
              <a:srgbClr val="7F7F7F"/>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1965960" y="1280160"/>
            <a:ext cx="1371600" cy="384048"/>
          </a:xfrm>
          <a:prstGeom prst="roundRect">
            <a:avLst/>
          </a:prstGeom>
          <a:solidFill>
            <a:srgbClr val="009999"/>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900" b="1" i="0">
                <a:solidFill>
                  <a:srgbClr val="FFFFFF"/>
                </a:solidFill>
                <a:latin typeface="Arial"/>
              </a:rPr>
              <a:t>Requirements</a:t>
            </a:r>
          </a:p>
        </p:txBody>
      </p:sp>
      <p:cxnSp>
        <p:nvCxnSpPr>
          <p:cNvPr id="7" name="Connector 6"/>
          <p:cNvCxnSpPr/>
          <p:nvPr/>
        </p:nvCxnSpPr>
        <p:spPr>
          <a:xfrm>
            <a:off x="3346703" y="1472184"/>
            <a:ext cx="118873" cy="0"/>
          </a:xfrm>
          <a:prstGeom prst="line">
            <a:avLst/>
          </a:prstGeom>
          <a:ln w="15875">
            <a:solidFill>
              <a:srgbClr val="7F7F7F"/>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3474720" y="1280160"/>
            <a:ext cx="1371600" cy="384048"/>
          </a:xfrm>
          <a:prstGeom prst="roundRect">
            <a:avLst/>
          </a:prstGeom>
          <a:solidFill>
            <a:srgbClr val="009999"/>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900" b="1" i="0">
                <a:solidFill>
                  <a:srgbClr val="FFFFFF"/>
                </a:solidFill>
                <a:latin typeface="Arial"/>
              </a:rPr>
              <a:t>Corner cases</a:t>
            </a:r>
          </a:p>
        </p:txBody>
      </p:sp>
      <p:cxnSp>
        <p:nvCxnSpPr>
          <p:cNvPr id="9" name="Connector 8"/>
          <p:cNvCxnSpPr/>
          <p:nvPr/>
        </p:nvCxnSpPr>
        <p:spPr>
          <a:xfrm>
            <a:off x="4855464" y="1472184"/>
            <a:ext cx="118872" cy="0"/>
          </a:xfrm>
          <a:prstGeom prst="line">
            <a:avLst/>
          </a:prstGeom>
          <a:ln w="15875">
            <a:solidFill>
              <a:srgbClr val="7F7F7F"/>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4983479" y="1280160"/>
            <a:ext cx="1371600" cy="384048"/>
          </a:xfrm>
          <a:prstGeom prst="roundRect">
            <a:avLst/>
          </a:prstGeom>
          <a:solidFill>
            <a:srgbClr val="009999"/>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900" b="1" i="0">
                <a:solidFill>
                  <a:srgbClr val="FFFFFF"/>
                </a:solidFill>
                <a:latin typeface="Arial"/>
              </a:rPr>
              <a:t>Verification plan</a:t>
            </a:r>
          </a:p>
        </p:txBody>
      </p:sp>
      <p:cxnSp>
        <p:nvCxnSpPr>
          <p:cNvPr id="11" name="Connector 10"/>
          <p:cNvCxnSpPr/>
          <p:nvPr/>
        </p:nvCxnSpPr>
        <p:spPr>
          <a:xfrm flipH="1">
            <a:off x="1143000" y="1682495"/>
            <a:ext cx="4526279" cy="173736"/>
          </a:xfrm>
          <a:prstGeom prst="line">
            <a:avLst/>
          </a:prstGeom>
          <a:ln w="15875">
            <a:solidFill>
              <a:srgbClr val="7F7F7F"/>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457200" y="1874519"/>
            <a:ext cx="1371600" cy="384048"/>
          </a:xfrm>
          <a:prstGeom prst="roundRect">
            <a:avLst/>
          </a:prstGeom>
          <a:solidFill>
            <a:srgbClr val="006E6E"/>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900" b="1" i="0">
                <a:solidFill>
                  <a:srgbClr val="FFFFFF"/>
                </a:solidFill>
                <a:latin typeface="Arial"/>
              </a:rPr>
              <a:t>Test plan</a:t>
            </a:r>
          </a:p>
        </p:txBody>
      </p:sp>
      <p:cxnSp>
        <p:nvCxnSpPr>
          <p:cNvPr id="13" name="Connector 12"/>
          <p:cNvCxnSpPr/>
          <p:nvPr/>
        </p:nvCxnSpPr>
        <p:spPr>
          <a:xfrm>
            <a:off x="1837943" y="2066543"/>
            <a:ext cx="118873" cy="0"/>
          </a:xfrm>
          <a:prstGeom prst="line">
            <a:avLst/>
          </a:prstGeom>
          <a:ln w="15875">
            <a:solidFill>
              <a:srgbClr val="7F7F7F"/>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1965960" y="1874519"/>
            <a:ext cx="1371600" cy="384048"/>
          </a:xfrm>
          <a:prstGeom prst="roundRect">
            <a:avLst/>
          </a:prstGeom>
          <a:solidFill>
            <a:srgbClr val="006E6E"/>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900" b="1" i="0">
                <a:solidFill>
                  <a:srgbClr val="FFFFFF"/>
                </a:solidFill>
                <a:latin typeface="Arial"/>
              </a:rPr>
              <a:t>Directed</a:t>
            </a:r>
          </a:p>
        </p:txBody>
      </p:sp>
      <p:cxnSp>
        <p:nvCxnSpPr>
          <p:cNvPr id="15" name="Connector 14"/>
          <p:cNvCxnSpPr/>
          <p:nvPr/>
        </p:nvCxnSpPr>
        <p:spPr>
          <a:xfrm>
            <a:off x="3346703" y="2066543"/>
            <a:ext cx="118873" cy="0"/>
          </a:xfrm>
          <a:prstGeom prst="line">
            <a:avLst/>
          </a:prstGeom>
          <a:ln w="15875">
            <a:solidFill>
              <a:srgbClr val="7F7F7F"/>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3474720" y="1874519"/>
            <a:ext cx="1371600" cy="384048"/>
          </a:xfrm>
          <a:prstGeom prst="roundRect">
            <a:avLst/>
          </a:prstGeom>
          <a:solidFill>
            <a:srgbClr val="006E6E"/>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900" b="1" i="0">
                <a:solidFill>
                  <a:srgbClr val="FFFFFF"/>
                </a:solidFill>
                <a:latin typeface="Arial"/>
              </a:rPr>
              <a:t>Constrained-random</a:t>
            </a:r>
          </a:p>
        </p:txBody>
      </p:sp>
      <p:cxnSp>
        <p:nvCxnSpPr>
          <p:cNvPr id="17" name="Connector 16"/>
          <p:cNvCxnSpPr/>
          <p:nvPr/>
        </p:nvCxnSpPr>
        <p:spPr>
          <a:xfrm>
            <a:off x="4855464" y="2066543"/>
            <a:ext cx="118872" cy="0"/>
          </a:xfrm>
          <a:prstGeom prst="line">
            <a:avLst/>
          </a:prstGeom>
          <a:ln w="15875">
            <a:solidFill>
              <a:srgbClr val="7F7F7F"/>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4983479" y="1874519"/>
            <a:ext cx="1371600" cy="384048"/>
          </a:xfrm>
          <a:prstGeom prst="roundRect">
            <a:avLst/>
          </a:prstGeom>
          <a:solidFill>
            <a:srgbClr val="006E6E"/>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900" b="1" i="0">
                <a:solidFill>
                  <a:srgbClr val="FFFFFF"/>
                </a:solidFill>
                <a:latin typeface="Arial"/>
              </a:rPr>
              <a:t>rand / randc</a:t>
            </a:r>
          </a:p>
        </p:txBody>
      </p:sp>
      <p:sp>
        <p:nvSpPr>
          <p:cNvPr id="19" name="Rounded Rectangle 18"/>
          <p:cNvSpPr/>
          <p:nvPr/>
        </p:nvSpPr>
        <p:spPr>
          <a:xfrm>
            <a:off x="457200" y="2514600"/>
            <a:ext cx="6126480" cy="1417320"/>
          </a:xfrm>
          <a:prstGeom prst="roundRect">
            <a:avLst/>
          </a:prstGeom>
          <a:solidFill>
            <a:srgbClr val="FFFFFF"/>
          </a:solidFill>
          <a:ln w="22225">
            <a:solidFill>
              <a:srgbClr val="E8792E"/>
            </a:solidFill>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ctr"/>
          <a:lstStyle/>
          <a:p>
            <a:pPr algn="l"/>
            <a:r>
              <a:rPr sz="1300" b="1">
                <a:solidFill>
                  <a:srgbClr val="E8792E"/>
                </a:solidFill>
                <a:latin typeface="Arial"/>
              </a:rPr>
              <a:t>TUTORIAL</a:t>
            </a:r>
          </a:p>
          <a:p>
            <a:pPr algn="l">
              <a:spcAft>
                <a:spcPts val="400"/>
              </a:spcAft>
            </a:pPr>
            <a:r>
              <a:rPr sz="1300" b="0" i="0">
                <a:solidFill>
                  <a:srgbClr val="262626"/>
                </a:solidFill>
                <a:latin typeface="Arial"/>
              </a:rPr>
              <a:t>5 problems. Separate PDF on the portal.</a:t>
            </a:r>
          </a:p>
          <a:p>
            <a:pPr algn="l">
              <a:spcAft>
                <a:spcPts val="400"/>
              </a:spcAft>
            </a:pPr>
            <a:r>
              <a:rPr sz="1300" b="1" i="0">
                <a:solidFill>
                  <a:srgbClr val="262626"/>
                </a:solidFill>
                <a:latin typeface="Arial"/>
              </a:rPr>
              <a:t>Due 16 September 2026, 23:59 IST.</a:t>
            </a:r>
          </a:p>
          <a:p>
            <a:pPr algn="l">
              <a:spcAft>
                <a:spcPts val="400"/>
              </a:spcAft>
            </a:pPr>
            <a:r>
              <a:rPr sz="1200" b="0" i="0">
                <a:solidFill>
                  <a:srgbClr val="262626"/>
                </a:solidFill>
                <a:latin typeface="Arial"/>
              </a:rPr>
              <a:t>Discuss with peers: yes.  Use AI to understand: yes.</a:t>
            </a:r>
          </a:p>
          <a:p>
            <a:pPr algn="l">
              <a:spcAft>
                <a:spcPts val="400"/>
              </a:spcAft>
            </a:pPr>
            <a:r>
              <a:rPr sz="1200" b="1" i="0">
                <a:solidFill>
                  <a:srgbClr val="E8792E"/>
                </a:solidFill>
                <a:latin typeface="Arial"/>
              </a:rPr>
              <a:t>Use AI to write your answers: no.</a:t>
            </a:r>
          </a:p>
        </p:txBody>
      </p:sp>
      <p:sp>
        <p:nvSpPr>
          <p:cNvPr id="20" name="Rounded Rectangle 19"/>
          <p:cNvSpPr/>
          <p:nvPr/>
        </p:nvSpPr>
        <p:spPr>
          <a:xfrm>
            <a:off x="457200" y="4069080"/>
            <a:ext cx="6126480" cy="1051560"/>
          </a:xfrm>
          <a:prstGeom prst="roundRect">
            <a:avLst/>
          </a:prstGeom>
          <a:solidFill>
            <a:srgbClr val="FFFFFF"/>
          </a:solidFill>
          <a:ln w="22225">
            <a:solidFill>
              <a:srgbClr val="009999"/>
            </a:solidFill>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ctr"/>
          <a:lstStyle/>
          <a:p>
            <a:pPr algn="l"/>
            <a:r>
              <a:rPr sz="1300" b="1">
                <a:solidFill>
                  <a:srgbClr val="006E6E"/>
                </a:solidFill>
                <a:latin typeface="Arial"/>
              </a:rPr>
              <a:t>NEXT WEEK</a:t>
            </a:r>
          </a:p>
          <a:p>
            <a:pPr algn="l">
              <a:spcAft>
                <a:spcPts val="400"/>
              </a:spcAft>
            </a:pPr>
            <a:r>
              <a:rPr sz="1300" b="0" i="0">
                <a:solidFill>
                  <a:srgbClr val="262626"/>
                </a:solidFill>
                <a:latin typeface="Arial"/>
              </a:rPr>
              <a:t>Building the FIFO testbench for real - driver, monitor, scoreboard.</a:t>
            </a:r>
          </a:p>
          <a:p>
            <a:pPr algn="l">
              <a:spcAft>
                <a:spcPts val="400"/>
              </a:spcAft>
            </a:pPr>
            <a:r>
              <a:rPr sz="1300" b="0" i="0">
                <a:solidFill>
                  <a:srgbClr val="262626"/>
                </a:solidFill>
                <a:latin typeface="Arial"/>
              </a:rPr>
              <a:t>First functional coverage. First step towards UVM.</a:t>
            </a:r>
          </a:p>
        </p:txBody>
      </p:sp>
      <p:sp>
        <p:nvSpPr>
          <p:cNvPr id="21" name="TextBox 20"/>
          <p:cNvSpPr txBox="1"/>
          <p:nvPr/>
        </p:nvSpPr>
        <p:spPr>
          <a:xfrm>
            <a:off x="457200" y="5285232"/>
            <a:ext cx="6126480" cy="777240"/>
          </a:xfrm>
          <a:prstGeom prst="rect">
            <a:avLst/>
          </a:prstGeom>
          <a:noFill/>
        </p:spPr>
        <p:txBody>
          <a:bodyPr wrap="square" anchor="t">
            <a:spAutoFit/>
          </a:bodyPr>
          <a:lstStyle/>
          <a:p>
            <a:endParaRPr/>
          </a:p>
          <a:p>
            <a:pPr algn="l">
              <a:spcBef>
                <a:spcPts val="0"/>
              </a:spcBef>
              <a:spcAft>
                <a:spcPts val="200"/>
              </a:spcAft>
            </a:pPr>
            <a:r>
              <a:rPr sz="1450" b="1" i="0">
                <a:solidFill>
                  <a:srgbClr val="262626"/>
                </a:solidFill>
                <a:latin typeface="Arial"/>
              </a:rPr>
              <a:t>Write a constrained-random FIFO testbench on edaplayground.com.</a:t>
            </a:r>
          </a:p>
          <a:p>
            <a:pPr algn="l">
              <a:spcBef>
                <a:spcPts val="0"/>
              </a:spcBef>
              <a:spcAft>
                <a:spcPts val="0"/>
              </a:spcAft>
            </a:pPr>
            <a:r>
              <a:rPr sz="1450" b="1" i="0">
                <a:solidFill>
                  <a:srgbClr val="009999"/>
                </a:solidFill>
                <a:latin typeface="Arial"/>
              </a:rPr>
              <a:t>It does not need to compile. Bring what you have.</a:t>
            </a:r>
          </a:p>
        </p:txBody>
      </p:sp>
      <p:pic>
        <p:nvPicPr>
          <p:cNvPr id="23" name="Picture 22" descr="lab.png"/>
          <p:cNvPicPr>
            <a:picLocks noChangeAspect="1"/>
          </p:cNvPicPr>
          <p:nvPr/>
        </p:nvPicPr>
        <p:blipFill>
          <a:blip r:embed="rId3"/>
          <a:stretch>
            <a:fillRect/>
          </a:stretch>
        </p:blipFill>
        <p:spPr>
          <a:xfrm>
            <a:off x="6766560" y="1581911"/>
            <a:ext cx="4937760" cy="2962656"/>
          </a:xfrm>
          <a:prstGeom prst="rect">
            <a:avLst/>
          </a:prstGeom>
        </p:spPr>
      </p:pic>
      <p:sp>
        <p:nvSpPr>
          <p:cNvPr id="24" name="TextBox 23"/>
          <p:cNvSpPr txBox="1"/>
          <p:nvPr/>
        </p:nvSpPr>
        <p:spPr>
          <a:xfrm>
            <a:off x="6766560" y="4636007"/>
            <a:ext cx="4937760" cy="320040"/>
          </a:xfrm>
          <a:prstGeom prst="rect">
            <a:avLst/>
          </a:prstGeom>
          <a:noFill/>
        </p:spPr>
        <p:txBody>
          <a:bodyPr wrap="square" anchor="t">
            <a:spAutoFit/>
          </a:bodyPr>
          <a:lstStyle/>
          <a:p>
            <a:pPr algn="ctr"/>
            <a:r>
              <a:rPr sz="1100" i="1">
                <a:solidFill>
                  <a:srgbClr val="7F7F7F"/>
                </a:solidFill>
                <a:latin typeface="Arial"/>
              </a:rPr>
              <a:t>This is where you're headed.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9d258917-277f-42cd-a3cd-14c4e9ee58bc}" enabled="1" method="Standard" siteId="{38ae3bcd-9579-4fd4-adda-b42e1495d55a}" contentBits="0" removed="0"/>
</clbl:labelList>
</file>

<file path=docProps/app.xml><?xml version="1.0" encoding="utf-8"?>
<Properties xmlns="http://schemas.openxmlformats.org/officeDocument/2006/extended-properties" xmlns:vt="http://schemas.openxmlformats.org/officeDocument/2006/docPropsVTypes">
  <TotalTime>40</TotalTime>
  <Words>2794</Words>
  <Application>Microsoft Office PowerPoint</Application>
  <PresentationFormat>Widescreen</PresentationFormat>
  <Paragraphs>387</Paragraphs>
  <Slides>15</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keywords/>
  <dc:description>generated using python-pptx</dc:description>
  <cp:lastModifiedBy>Matukumalli, Prajwal (DI SW EDA IC DVT RD IN QVIP USB MIPI)</cp:lastModifiedBy>
  <cp:revision>3</cp:revision>
  <dcterms:created xsi:type="dcterms:W3CDTF">2013-01-27T09:14:16Z</dcterms:created>
  <dcterms:modified xsi:type="dcterms:W3CDTF">2026-09-07T11:41:19Z</dcterms:modified>
  <cp:category/>
</cp:coreProperties>
</file>